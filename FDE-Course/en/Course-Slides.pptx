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349c9e449c4d6a" /><Relationship Type="http://schemas.openxmlformats.org/officeDocument/2006/relationships/extended-properties" Target="/docProps/app.xml" Id="R105e3016245647fc" /><Relationship Type="http://schemas.openxmlformats.org/officeDocument/2006/relationships/officeDocument" Target="/ppt/presentation.xml" Id="R22bbe2fed1ff4c24" /></Relationships>
</file>

<file path=ppt/presentation.xml><?xml version="1.0" encoding="utf-8"?>
<p:presentation xmlns:p="http://schemas.openxmlformats.org/presentationml/2006/main">
  <p:sldMasterIdLst>
    <p:sldMasterId xmlns:r="http://schemas.openxmlformats.org/officeDocument/2006/relationships" id="2147483648" r:id="R32f96274100443e8"/>
  </p:sldMasterIdLst>
  <p:notesMasterIdLst>
    <p:notesMasterId xmlns:r="http://schemas.openxmlformats.org/officeDocument/2006/relationships" r:id="R74de7a2073754ecc"/>
  </p:notesMasterIdLst>
  <p:sldIdLst>
    <p:sldId xmlns:r="http://schemas.openxmlformats.org/officeDocument/2006/relationships" id="256" r:id="R5d9b6b79b7f549da"/>
    <p:sldId xmlns:r="http://schemas.openxmlformats.org/officeDocument/2006/relationships" id="257" r:id="R14ae3c5b0f7048f3"/>
    <p:sldId xmlns:r="http://schemas.openxmlformats.org/officeDocument/2006/relationships" id="258" r:id="Rb1e12d19453043ff"/>
    <p:sldId xmlns:r="http://schemas.openxmlformats.org/officeDocument/2006/relationships" id="259" r:id="Rf4f010984df747b8"/>
    <p:sldId xmlns:r="http://schemas.openxmlformats.org/officeDocument/2006/relationships" id="260" r:id="Ra85212e63f9b4d8e"/>
    <p:sldId xmlns:r="http://schemas.openxmlformats.org/officeDocument/2006/relationships" id="261" r:id="Rb3197137cb324db6"/>
    <p:sldId xmlns:r="http://schemas.openxmlformats.org/officeDocument/2006/relationships" id="262" r:id="R419c65d4904d41f2"/>
    <p:sldId xmlns:r="http://schemas.openxmlformats.org/officeDocument/2006/relationships" id="263" r:id="R70dfb673fcff497b"/>
    <p:sldId xmlns:r="http://schemas.openxmlformats.org/officeDocument/2006/relationships" id="264" r:id="R6a1be427025a4d98"/>
    <p:sldId xmlns:r="http://schemas.openxmlformats.org/officeDocument/2006/relationships" id="265" r:id="R9510cc8f0cb44759"/>
    <p:sldId xmlns:r="http://schemas.openxmlformats.org/officeDocument/2006/relationships" id="266" r:id="Rc0865085becc40c2"/>
    <p:sldId xmlns:r="http://schemas.openxmlformats.org/officeDocument/2006/relationships" id="267" r:id="Re09237368ef74dcc"/>
    <p:sldId xmlns:r="http://schemas.openxmlformats.org/officeDocument/2006/relationships" id="268" r:id="R1679a707211e4c49"/>
    <p:sldId xmlns:r="http://schemas.openxmlformats.org/officeDocument/2006/relationships" id="269" r:id="R72d7f8d6a1d7472a"/>
    <p:sldId xmlns:r="http://schemas.openxmlformats.org/officeDocument/2006/relationships" id="270" r:id="R1edbfcd4d64f492e"/>
    <p:sldId xmlns:r="http://schemas.openxmlformats.org/officeDocument/2006/relationships" id="271" r:id="Red5ecd11391e4e36"/>
    <p:sldId xmlns:r="http://schemas.openxmlformats.org/officeDocument/2006/relationships" id="272" r:id="Rfb23761291764b28"/>
    <p:sldId xmlns:r="http://schemas.openxmlformats.org/officeDocument/2006/relationships" id="273" r:id="Rb828dd6c0e244c25"/>
    <p:sldId xmlns:r="http://schemas.openxmlformats.org/officeDocument/2006/relationships" id="274" r:id="Rce731622d9724aea"/>
    <p:sldId xmlns:r="http://schemas.openxmlformats.org/officeDocument/2006/relationships" id="275" r:id="Rff5d994b8d4b40a6"/>
    <p:sldId xmlns:r="http://schemas.openxmlformats.org/officeDocument/2006/relationships" id="276" r:id="R0cdebc04bc2d4806"/>
    <p:sldId xmlns:r="http://schemas.openxmlformats.org/officeDocument/2006/relationships" id="277" r:id="R56d1d44c127d421f"/>
    <p:sldId xmlns:r="http://schemas.openxmlformats.org/officeDocument/2006/relationships" id="278" r:id="R45abcf92b6df4783"/>
    <p:sldId xmlns:r="http://schemas.openxmlformats.org/officeDocument/2006/relationships" id="279" r:id="Rbb28df465d5344bd"/>
    <p:sldId xmlns:r="http://schemas.openxmlformats.org/officeDocument/2006/relationships" id="280" r:id="R0b1c240048df483c"/>
    <p:sldId xmlns:r="http://schemas.openxmlformats.org/officeDocument/2006/relationships" id="281" r:id="Rf825672f9260455f"/>
    <p:sldId xmlns:r="http://schemas.openxmlformats.org/officeDocument/2006/relationships" id="282" r:id="R9385fcd4c8d84bba"/>
    <p:sldId xmlns:r="http://schemas.openxmlformats.org/officeDocument/2006/relationships" id="283" r:id="R057343bf07454099"/>
    <p:sldId xmlns:r="http://schemas.openxmlformats.org/officeDocument/2006/relationships" id="284" r:id="Rd6757628006940f3"/>
    <p:sldId xmlns:r="http://schemas.openxmlformats.org/officeDocument/2006/relationships" id="285" r:id="Re870d64711034f35"/>
    <p:sldId xmlns:r="http://schemas.openxmlformats.org/officeDocument/2006/relationships" id="286" r:id="R118144a253234be4"/>
    <p:sldId xmlns:r="http://schemas.openxmlformats.org/officeDocument/2006/relationships" id="287" r:id="R0dcd7ba71b4c4efa"/>
    <p:sldId xmlns:r="http://schemas.openxmlformats.org/officeDocument/2006/relationships" id="288" r:id="R9c876661b9de4c23"/>
    <p:sldId xmlns:r="http://schemas.openxmlformats.org/officeDocument/2006/relationships" id="289" r:id="R014de3f5c0db4f84"/>
    <p:sldId xmlns:r="http://schemas.openxmlformats.org/officeDocument/2006/relationships" id="290" r:id="Rfa9add63634e409c"/>
    <p:sldId xmlns:r="http://schemas.openxmlformats.org/officeDocument/2006/relationships" id="291" r:id="R436ecfdd69db4025"/>
    <p:sldId xmlns:r="http://schemas.openxmlformats.org/officeDocument/2006/relationships" id="292" r:id="Ra66ed369f09c4738"/>
    <p:sldId xmlns:r="http://schemas.openxmlformats.org/officeDocument/2006/relationships" id="293" r:id="R0be5d0a6388a4ebf"/>
    <p:sldId xmlns:r="http://schemas.openxmlformats.org/officeDocument/2006/relationships" id="294" r:id="R6208225564274368"/>
    <p:sldId xmlns:r="http://schemas.openxmlformats.org/officeDocument/2006/relationships" id="295" r:id="R2791d4f940354d02"/>
    <p:sldId xmlns:r="http://schemas.openxmlformats.org/officeDocument/2006/relationships" id="296" r:id="R5853bc3686b64ee8"/>
    <p:sldId xmlns:r="http://schemas.openxmlformats.org/officeDocument/2006/relationships" id="297" r:id="Rea5e88de9242415a"/>
    <p:sldId xmlns:r="http://schemas.openxmlformats.org/officeDocument/2006/relationships" id="298" r:id="R30d74f58889b4787"/>
    <p:sldId xmlns:r="http://schemas.openxmlformats.org/officeDocument/2006/relationships" id="299" r:id="Rb37c926077ef48c1"/>
    <p:sldId xmlns:r="http://schemas.openxmlformats.org/officeDocument/2006/relationships" id="300" r:id="R1d0bf7b1b7c242f2"/>
    <p:sldId xmlns:r="http://schemas.openxmlformats.org/officeDocument/2006/relationships" id="301" r:id="R44f62fababcc495e"/>
    <p:sldId xmlns:r="http://schemas.openxmlformats.org/officeDocument/2006/relationships" id="302" r:id="R89a3ae3ea92d4edc"/>
    <p:sldId xmlns:r="http://schemas.openxmlformats.org/officeDocument/2006/relationships" id="303" r:id="R61ce0ffbdb574e40"/>
    <p:sldId xmlns:r="http://schemas.openxmlformats.org/officeDocument/2006/relationships" id="304" r:id="Rf607cbc346d74774"/>
    <p:sldId xmlns:r="http://schemas.openxmlformats.org/officeDocument/2006/relationships" id="305" r:id="R5a7a63143600464e"/>
    <p:sldId xmlns:r="http://schemas.openxmlformats.org/officeDocument/2006/relationships" id="306" r:id="Rb33ef06c68ee47c3"/>
    <p:sldId xmlns:r="http://schemas.openxmlformats.org/officeDocument/2006/relationships" id="307" r:id="Rff9e1313431640da"/>
    <p:sldId xmlns:r="http://schemas.openxmlformats.org/officeDocument/2006/relationships" id="308" r:id="Rb12d74ba275a4eb8"/>
    <p:sldId xmlns:r="http://schemas.openxmlformats.org/officeDocument/2006/relationships" id="309" r:id="R24fd73fb000a4fd0"/>
    <p:sldId xmlns:r="http://schemas.openxmlformats.org/officeDocument/2006/relationships" id="310" r:id="Rd44e02763fe841d0"/>
    <p:sldId xmlns:r="http://schemas.openxmlformats.org/officeDocument/2006/relationships" id="311" r:id="Rb0fd62af77a54cf9"/>
    <p:sldId xmlns:r="http://schemas.openxmlformats.org/officeDocument/2006/relationships" id="312" r:id="R4b9551c6ffe44b9f"/>
    <p:sldId xmlns:r="http://schemas.openxmlformats.org/officeDocument/2006/relationships" id="313" r:id="R98bba06553454ab1"/>
    <p:sldId xmlns:r="http://schemas.openxmlformats.org/officeDocument/2006/relationships" id="314" r:id="R73646d7ca95f4b10"/>
    <p:sldId xmlns:r="http://schemas.openxmlformats.org/officeDocument/2006/relationships" id="315" r:id="R85bde627eafa46a0"/>
    <p:sldId xmlns:r="http://schemas.openxmlformats.org/officeDocument/2006/relationships" id="316" r:id="Rbe9619f7dfaf4e3e"/>
    <p:sldId xmlns:r="http://schemas.openxmlformats.org/officeDocument/2006/relationships" id="317" r:id="R8f08ed5909464f43"/>
    <p:sldId xmlns:r="http://schemas.openxmlformats.org/officeDocument/2006/relationships" id="318" r:id="R04589392a1da4153"/>
    <p:sldId xmlns:r="http://schemas.openxmlformats.org/officeDocument/2006/relationships" id="319" r:id="R639925944daf411f"/>
    <p:sldId xmlns:r="http://schemas.openxmlformats.org/officeDocument/2006/relationships" id="320" r:id="R5e81c5c0f3634dfc"/>
    <p:sldId xmlns:r="http://schemas.openxmlformats.org/officeDocument/2006/relationships" id="321" r:id="Rb87849b45c7747a4"/>
    <p:sldId xmlns:r="http://schemas.openxmlformats.org/officeDocument/2006/relationships" id="322" r:id="Red486fc8b6354204"/>
    <p:sldId xmlns:r="http://schemas.openxmlformats.org/officeDocument/2006/relationships" id="323" r:id="R71dea8b50a0248c0"/>
    <p:sldId xmlns:r="http://schemas.openxmlformats.org/officeDocument/2006/relationships" id="324" r:id="Rb61a715f72ef43bd"/>
    <p:sldId xmlns:r="http://schemas.openxmlformats.org/officeDocument/2006/relationships" id="325" r:id="R7d7193f817c6457d"/>
    <p:sldId xmlns:r="http://schemas.openxmlformats.org/officeDocument/2006/relationships" id="326" r:id="R22993d9ff3a64f7c"/>
    <p:sldId xmlns:r="http://schemas.openxmlformats.org/officeDocument/2006/relationships" id="327" r:id="R87e88c106b8a4601"/>
    <p:sldId xmlns:r="http://schemas.openxmlformats.org/officeDocument/2006/relationships" id="328" r:id="R821796b3d8e2451c"/>
    <p:sldId xmlns:r="http://schemas.openxmlformats.org/officeDocument/2006/relationships" id="329" r:id="R7ed50b0c96c64971"/>
    <p:sldId xmlns:r="http://schemas.openxmlformats.org/officeDocument/2006/relationships" id="330" r:id="R953ed7d4c9d544f1"/>
    <p:sldId xmlns:r="http://schemas.openxmlformats.org/officeDocument/2006/relationships" id="331" r:id="R9846606de029446c"/>
    <p:sldId xmlns:r="http://schemas.openxmlformats.org/officeDocument/2006/relationships" id="332" r:id="R8312c252fa8145f6"/>
    <p:sldId xmlns:r="http://schemas.openxmlformats.org/officeDocument/2006/relationships" id="333" r:id="R5ce3de1925de4744"/>
    <p:sldId xmlns:r="http://schemas.openxmlformats.org/officeDocument/2006/relationships" id="334" r:id="R52660339b0c54e1d"/>
    <p:sldId xmlns:r="http://schemas.openxmlformats.org/officeDocument/2006/relationships" id="335" r:id="Rbcb93fdadbf04b39"/>
    <p:sldId xmlns:r="http://schemas.openxmlformats.org/officeDocument/2006/relationships" id="336" r:id="R7c8691a0761d4cb1"/>
    <p:sldId xmlns:r="http://schemas.openxmlformats.org/officeDocument/2006/relationships" id="337" r:id="R80d5084b154c4154"/>
    <p:sldId xmlns:r="http://schemas.openxmlformats.org/officeDocument/2006/relationships" id="338" r:id="R3bb197a8b92e48f4"/>
    <p:sldId xmlns:r="http://schemas.openxmlformats.org/officeDocument/2006/relationships" id="339" r:id="R811773c3472a422f"/>
    <p:sldId xmlns:r="http://schemas.openxmlformats.org/officeDocument/2006/relationships" id="340" r:id="R415bc1eb63414ed1"/>
    <p:sldId xmlns:r="http://schemas.openxmlformats.org/officeDocument/2006/relationships" id="341" r:id="R73f9a0a4b23b4848"/>
    <p:sldId xmlns:r="http://schemas.openxmlformats.org/officeDocument/2006/relationships" id="342" r:id="Rc958a9ccd5624c7d"/>
    <p:sldId xmlns:r="http://schemas.openxmlformats.org/officeDocument/2006/relationships" id="343" r:id="R6fee82d13a38450b"/>
    <p:sldId xmlns:r="http://schemas.openxmlformats.org/officeDocument/2006/relationships" id="344" r:id="R8d1a30f16ce640e6"/>
    <p:sldId xmlns:r="http://schemas.openxmlformats.org/officeDocument/2006/relationships" id="345" r:id="R9c2747503a3248b9"/>
    <p:sldId xmlns:r="http://schemas.openxmlformats.org/officeDocument/2006/relationships" id="346" r:id="R5c1b6fed64a1496a"/>
    <p:sldId xmlns:r="http://schemas.openxmlformats.org/officeDocument/2006/relationships" id="347" r:id="Rd26c6070f4c14a2a"/>
    <p:sldId xmlns:r="http://schemas.openxmlformats.org/officeDocument/2006/relationships" id="348" r:id="R69203d8209ba408e"/>
    <p:sldId xmlns:r="http://schemas.openxmlformats.org/officeDocument/2006/relationships" id="349" r:id="R162156cd492d4e1b"/>
    <p:sldId xmlns:r="http://schemas.openxmlformats.org/officeDocument/2006/relationships" id="350" r:id="Ref862162f2714655"/>
    <p:sldId xmlns:r="http://schemas.openxmlformats.org/officeDocument/2006/relationships" id="351" r:id="Rd45d744891c6481c"/>
    <p:sldId xmlns:r="http://schemas.openxmlformats.org/officeDocument/2006/relationships" id="352" r:id="Ra04192589d9e475a"/>
    <p:sldId xmlns:r="http://schemas.openxmlformats.org/officeDocument/2006/relationships" id="353" r:id="R0086cf96757e4b28"/>
    <p:sldId xmlns:r="http://schemas.openxmlformats.org/officeDocument/2006/relationships" id="354" r:id="Rfb2d52d1be104d17"/>
    <p:sldId xmlns:r="http://schemas.openxmlformats.org/officeDocument/2006/relationships" id="355" r:id="R698d9ede9c1a4db5"/>
    <p:sldId xmlns:r="http://schemas.openxmlformats.org/officeDocument/2006/relationships" id="356" r:id="R5aba83a083a54db8"/>
    <p:sldId xmlns:r="http://schemas.openxmlformats.org/officeDocument/2006/relationships" id="357" r:id="R653a19dd76354e9b"/>
    <p:sldId xmlns:r="http://schemas.openxmlformats.org/officeDocument/2006/relationships" id="358" r:id="Rdc5f4012694b4277"/>
    <p:sldId xmlns:r="http://schemas.openxmlformats.org/officeDocument/2006/relationships" id="359" r:id="R4c67d6bdebb041d9"/>
    <p:sldId xmlns:r="http://schemas.openxmlformats.org/officeDocument/2006/relationships" id="360" r:id="Rf1733a2c99bf463b"/>
    <p:sldId xmlns:r="http://schemas.openxmlformats.org/officeDocument/2006/relationships" id="361" r:id="R50c5b9832e374814"/>
    <p:sldId xmlns:r="http://schemas.openxmlformats.org/officeDocument/2006/relationships" id="362" r:id="R5509f5cccc314eea"/>
    <p:sldId xmlns:r="http://schemas.openxmlformats.org/officeDocument/2006/relationships" id="363" r:id="R217ba7f1ced84f53"/>
    <p:sldId xmlns:r="http://schemas.openxmlformats.org/officeDocument/2006/relationships" id="364" r:id="Rdcb49ab15f6a438d"/>
    <p:sldId xmlns:r="http://schemas.openxmlformats.org/officeDocument/2006/relationships" id="365" r:id="Rd26b01b0a2054d36"/>
    <p:sldId xmlns:r="http://schemas.openxmlformats.org/officeDocument/2006/relationships" id="366" r:id="R8c898de8f1fc48df"/>
    <p:sldId xmlns:r="http://schemas.openxmlformats.org/officeDocument/2006/relationships" id="367" r:id="R0c03214a18df44af"/>
    <p:sldId xmlns:r="http://schemas.openxmlformats.org/officeDocument/2006/relationships" id="368" r:id="Rfa0525f8ce27451d"/>
    <p:sldId xmlns:r="http://schemas.openxmlformats.org/officeDocument/2006/relationships" id="369" r:id="R4d737d6394594717"/>
    <p:sldId xmlns:r="http://schemas.openxmlformats.org/officeDocument/2006/relationships" id="370" r:id="R85aa6f8c06974d7b"/>
    <p:sldId xmlns:r="http://schemas.openxmlformats.org/officeDocument/2006/relationships" id="371" r:id="Rc63c96a9e18346ec"/>
    <p:sldId xmlns:r="http://schemas.openxmlformats.org/officeDocument/2006/relationships" id="372" r:id="Rfa9c5d28509d45dc"/>
    <p:sldId xmlns:r="http://schemas.openxmlformats.org/officeDocument/2006/relationships" id="373" r:id="R02ae437bfac048e7"/>
    <p:sldId xmlns:r="http://schemas.openxmlformats.org/officeDocument/2006/relationships" id="374" r:id="R9ae91b88a14a40fc"/>
    <p:sldId xmlns:r="http://schemas.openxmlformats.org/officeDocument/2006/relationships" id="375" r:id="R97b2ea4547a644db"/>
    <p:sldId xmlns:r="http://schemas.openxmlformats.org/officeDocument/2006/relationships" id="376" r:id="R6ba01ab56ed44743"/>
    <p:sldId xmlns:r="http://schemas.openxmlformats.org/officeDocument/2006/relationships" id="377" r:id="Rf3d304e931694e03"/>
    <p:sldId xmlns:r="http://schemas.openxmlformats.org/officeDocument/2006/relationships" id="378" r:id="Rb8fce298fb8b4b7d"/>
    <p:sldId xmlns:r="http://schemas.openxmlformats.org/officeDocument/2006/relationships" id="379" r:id="Rfe1295fc7ec14bcd"/>
    <p:sldId xmlns:r="http://schemas.openxmlformats.org/officeDocument/2006/relationships" id="380" r:id="R2186b9e054514cdb"/>
    <p:sldId xmlns:r="http://schemas.openxmlformats.org/officeDocument/2006/relationships" id="381" r:id="Rb44efc1e5f6a4a31"/>
    <p:sldId xmlns:r="http://schemas.openxmlformats.org/officeDocument/2006/relationships" id="382" r:id="Rb0a1c25bb28043ed"/>
    <p:sldId xmlns:r="http://schemas.openxmlformats.org/officeDocument/2006/relationships" id="383" r:id="R1c95e8f3c5b14775"/>
    <p:sldId xmlns:r="http://schemas.openxmlformats.org/officeDocument/2006/relationships" id="384" r:id="R2a5bbcb4280a4033"/>
    <p:sldId xmlns:r="http://schemas.openxmlformats.org/officeDocument/2006/relationships" id="385" r:id="Rd1fed8d754e84ff4"/>
    <p:sldId xmlns:r="http://schemas.openxmlformats.org/officeDocument/2006/relationships" id="386" r:id="R93df90af865d44e1"/>
    <p:sldId xmlns:r="http://schemas.openxmlformats.org/officeDocument/2006/relationships" id="387" r:id="Rfad3e2371a00431d"/>
    <p:sldId xmlns:r="http://schemas.openxmlformats.org/officeDocument/2006/relationships" id="388" r:id="Re7c2731c898447c3"/>
    <p:sldId xmlns:r="http://schemas.openxmlformats.org/officeDocument/2006/relationships" id="389" r:id="Rd8b26e7352f24593"/>
    <p:sldId xmlns:r="http://schemas.openxmlformats.org/officeDocument/2006/relationships" id="390" r:id="R7b1268a1d7994a5f"/>
    <p:sldId xmlns:r="http://schemas.openxmlformats.org/officeDocument/2006/relationships" id="391" r:id="R2df8660c578e43c5"/>
    <p:sldId xmlns:r="http://schemas.openxmlformats.org/officeDocument/2006/relationships" id="392" r:id="Re3278ce96959430e"/>
    <p:sldId xmlns:r="http://schemas.openxmlformats.org/officeDocument/2006/relationships" id="393" r:id="R8598a73a00af4fe4"/>
    <p:sldId xmlns:r="http://schemas.openxmlformats.org/officeDocument/2006/relationships" id="394" r:id="Rab4c7eb6c72e48a2"/>
    <p:sldId xmlns:r="http://schemas.openxmlformats.org/officeDocument/2006/relationships" id="395" r:id="R5aa8561d38f2433c"/>
    <p:sldId xmlns:r="http://schemas.openxmlformats.org/officeDocument/2006/relationships" id="396" r:id="R9d8f435a9a3c46ff"/>
    <p:sldId xmlns:r="http://schemas.openxmlformats.org/officeDocument/2006/relationships" id="397" r:id="Rd94325cd557846a5"/>
    <p:sldId xmlns:r="http://schemas.openxmlformats.org/officeDocument/2006/relationships" id="398" r:id="R311000fa1fd9477a"/>
    <p:sldId xmlns:r="http://schemas.openxmlformats.org/officeDocument/2006/relationships" id="399" r:id="Rd55cbb61f02248db"/>
    <p:sldId xmlns:r="http://schemas.openxmlformats.org/officeDocument/2006/relationships" id="400" r:id="Rd881e051e3e44ff8"/>
    <p:sldId xmlns:r="http://schemas.openxmlformats.org/officeDocument/2006/relationships" id="401" r:id="Rfc266e22eaba425a"/>
    <p:sldId xmlns:r="http://schemas.openxmlformats.org/officeDocument/2006/relationships" id="402" r:id="Ra7dfe495fd4c43bd"/>
    <p:sldId xmlns:r="http://schemas.openxmlformats.org/officeDocument/2006/relationships" id="403" r:id="Rdbcaea5f80044d4f"/>
    <p:sldId xmlns:r="http://schemas.openxmlformats.org/officeDocument/2006/relationships" id="404" r:id="R87f530d281754fc2"/>
    <p:sldId xmlns:r="http://schemas.openxmlformats.org/officeDocument/2006/relationships" id="405" r:id="R2312782365b44540"/>
    <p:sldId xmlns:r="http://schemas.openxmlformats.org/officeDocument/2006/relationships" id="406" r:id="R93d1447d53044daf"/>
    <p:sldId xmlns:r="http://schemas.openxmlformats.org/officeDocument/2006/relationships" id="407" r:id="Rdfd7fcdded344959"/>
    <p:sldId xmlns:r="http://schemas.openxmlformats.org/officeDocument/2006/relationships" id="408" r:id="R873046196a5f4f27"/>
    <p:sldId xmlns:r="http://schemas.openxmlformats.org/officeDocument/2006/relationships" id="409" r:id="R20660ec3d9844b3a"/>
    <p:sldId xmlns:r="http://schemas.openxmlformats.org/officeDocument/2006/relationships" id="410" r:id="R27a1e3d9d77149eb"/>
    <p:sldId xmlns:r="http://schemas.openxmlformats.org/officeDocument/2006/relationships" id="411" r:id="R2404c8abdea049c1"/>
    <p:sldId xmlns:r="http://schemas.openxmlformats.org/officeDocument/2006/relationships" id="412" r:id="R9faddfcdda61495c"/>
    <p:sldId xmlns:r="http://schemas.openxmlformats.org/officeDocument/2006/relationships" id="413" r:id="R83050a48fa8d406d"/>
    <p:sldId xmlns:r="http://schemas.openxmlformats.org/officeDocument/2006/relationships" id="414" r:id="R44b5719c82954554"/>
    <p:sldId xmlns:r="http://schemas.openxmlformats.org/officeDocument/2006/relationships" id="415" r:id="R6f5abe15b8a343c3"/>
    <p:sldId xmlns:r="http://schemas.openxmlformats.org/officeDocument/2006/relationships" id="416" r:id="Ra0149f90feea4719"/>
    <p:sldId xmlns:r="http://schemas.openxmlformats.org/officeDocument/2006/relationships" id="417" r:id="R0fc409c801a649d8"/>
    <p:sldId xmlns:r="http://schemas.openxmlformats.org/officeDocument/2006/relationships" id="418" r:id="R1c1cd8e06b8348a8"/>
    <p:sldId xmlns:r="http://schemas.openxmlformats.org/officeDocument/2006/relationships" id="419" r:id="Rf95f4a20919b440b"/>
    <p:sldId xmlns:r="http://schemas.openxmlformats.org/officeDocument/2006/relationships" id="420" r:id="Rdeb1524ea6344e59"/>
    <p:sldId xmlns:r="http://schemas.openxmlformats.org/officeDocument/2006/relationships" id="421" r:id="R9fdea15bdeb949d2"/>
    <p:sldId xmlns:r="http://schemas.openxmlformats.org/officeDocument/2006/relationships" id="422" r:id="R3c470b36cf77423d"/>
    <p:sldId xmlns:r="http://schemas.openxmlformats.org/officeDocument/2006/relationships" id="423" r:id="Rd27e32aafa574577"/>
    <p:sldId xmlns:r="http://schemas.openxmlformats.org/officeDocument/2006/relationships" id="424" r:id="R05f4c2cfab37482c"/>
    <p:sldId xmlns:r="http://schemas.openxmlformats.org/officeDocument/2006/relationships" id="425" r:id="R9b380f73fae44b17"/>
    <p:sldId xmlns:r="http://schemas.openxmlformats.org/officeDocument/2006/relationships" id="426" r:id="R04d87c21018a45d4"/>
    <p:sldId xmlns:r="http://schemas.openxmlformats.org/officeDocument/2006/relationships" id="427" r:id="Rfc657f50c6c3426f"/>
    <p:sldId xmlns:r="http://schemas.openxmlformats.org/officeDocument/2006/relationships" id="428" r:id="R875406149e3f4636"/>
    <p:sldId xmlns:r="http://schemas.openxmlformats.org/officeDocument/2006/relationships" id="429" r:id="Rd5cd1541f2814b7c"/>
    <p:sldId xmlns:r="http://schemas.openxmlformats.org/officeDocument/2006/relationships" id="430" r:id="R9bc9b4c25a90400e"/>
    <p:sldId xmlns:r="http://schemas.openxmlformats.org/officeDocument/2006/relationships" id="431" r:id="Rcdb6c9dce66d4f65"/>
    <p:sldId xmlns:r="http://schemas.openxmlformats.org/officeDocument/2006/relationships" id="432" r:id="Rb1e7cae5e01e4228"/>
    <p:sldId xmlns:r="http://schemas.openxmlformats.org/officeDocument/2006/relationships" id="433" r:id="R5e3be3aa7ec342bb"/>
    <p:sldId xmlns:r="http://schemas.openxmlformats.org/officeDocument/2006/relationships" id="434" r:id="R32478f3715194520"/>
    <p:sldId xmlns:r="http://schemas.openxmlformats.org/officeDocument/2006/relationships" id="435" r:id="R627dd7ce79f34cd1"/>
    <p:sldId xmlns:r="http://schemas.openxmlformats.org/officeDocument/2006/relationships" id="436" r:id="R21645ade8d654e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3483c66e974118" /><Relationship Type="http://schemas.openxmlformats.org/officeDocument/2006/relationships/slideMaster" Target="/ppt/slideMasters/slideMaster1.xml" Id="R32f96274100443e8" /><Relationship Type="http://schemas.openxmlformats.org/officeDocument/2006/relationships/notesMaster" Target="/ppt/notesMasters/notesMaster1.xml" Id="R74de7a2073754ecc" /><Relationship Type="http://schemas.openxmlformats.org/officeDocument/2006/relationships/presProps" Target="/ppt/presProps.xml" Id="Rff007b23fbf54a06" /><Relationship Type="http://schemas.openxmlformats.org/officeDocument/2006/relationships/tableStyles" Target="/ppt/tableStyles.xml" Id="R10e0c797434c4e19" /><Relationship Type="http://schemas.openxmlformats.org/officeDocument/2006/relationships/slide" Target="/ppt/slides/slide1.xml" Id="R5d9b6b79b7f549da" /><Relationship Type="http://schemas.openxmlformats.org/officeDocument/2006/relationships/slide" Target="/ppt/slides/slide2.xml" Id="R14ae3c5b0f7048f3" /><Relationship Type="http://schemas.openxmlformats.org/officeDocument/2006/relationships/slide" Target="/ppt/slides/slide3.xml" Id="Rb1e12d19453043ff" /><Relationship Type="http://schemas.openxmlformats.org/officeDocument/2006/relationships/slide" Target="/ppt/slides/slide4.xml" Id="Rf4f010984df747b8" /><Relationship Type="http://schemas.openxmlformats.org/officeDocument/2006/relationships/slide" Target="/ppt/slides/slide5.xml" Id="Ra85212e63f9b4d8e" /><Relationship Type="http://schemas.openxmlformats.org/officeDocument/2006/relationships/slide" Target="/ppt/slides/slide6.xml" Id="Rb3197137cb324db6" /><Relationship Type="http://schemas.openxmlformats.org/officeDocument/2006/relationships/slide" Target="/ppt/slides/slide7.xml" Id="R419c65d4904d41f2" /><Relationship Type="http://schemas.openxmlformats.org/officeDocument/2006/relationships/slide" Target="/ppt/slides/slide8.xml" Id="R70dfb673fcff497b" /><Relationship Type="http://schemas.openxmlformats.org/officeDocument/2006/relationships/slide" Target="/ppt/slides/slide9.xml" Id="R6a1be427025a4d98" /><Relationship Type="http://schemas.openxmlformats.org/officeDocument/2006/relationships/slide" Target="/ppt/slides/slide10.xml" Id="R9510cc8f0cb44759" /><Relationship Type="http://schemas.openxmlformats.org/officeDocument/2006/relationships/slide" Target="/ppt/slides/slide11.xml" Id="Rc0865085becc40c2" /><Relationship Type="http://schemas.openxmlformats.org/officeDocument/2006/relationships/slide" Target="/ppt/slides/slide12.xml" Id="Re09237368ef74dcc" /><Relationship Type="http://schemas.openxmlformats.org/officeDocument/2006/relationships/slide" Target="/ppt/slides/slide13.xml" Id="R1679a707211e4c49" /><Relationship Type="http://schemas.openxmlformats.org/officeDocument/2006/relationships/slide" Target="/ppt/slides/slide14.xml" Id="R72d7f8d6a1d7472a" /><Relationship Type="http://schemas.openxmlformats.org/officeDocument/2006/relationships/slide" Target="/ppt/slides/slide15.xml" Id="R1edbfcd4d64f492e" /><Relationship Type="http://schemas.openxmlformats.org/officeDocument/2006/relationships/slide" Target="/ppt/slides/slide16.xml" Id="Red5ecd11391e4e36" /><Relationship Type="http://schemas.openxmlformats.org/officeDocument/2006/relationships/slide" Target="/ppt/slides/slide17.xml" Id="Rfb23761291764b28" /><Relationship Type="http://schemas.openxmlformats.org/officeDocument/2006/relationships/slide" Target="/ppt/slides/slide18.xml" Id="Rb828dd6c0e244c25" /><Relationship Type="http://schemas.openxmlformats.org/officeDocument/2006/relationships/slide" Target="/ppt/slides/slide19.xml" Id="Rce731622d9724aea" /><Relationship Type="http://schemas.openxmlformats.org/officeDocument/2006/relationships/slide" Target="/ppt/slides/slide20.xml" Id="Rff5d994b8d4b40a6" /><Relationship Type="http://schemas.openxmlformats.org/officeDocument/2006/relationships/slide" Target="/ppt/slides/slide21.xml" Id="R0cdebc04bc2d4806" /><Relationship Type="http://schemas.openxmlformats.org/officeDocument/2006/relationships/slide" Target="/ppt/slides/slide22.xml" Id="R56d1d44c127d421f" /><Relationship Type="http://schemas.openxmlformats.org/officeDocument/2006/relationships/slide" Target="/ppt/slides/slide23.xml" Id="R45abcf92b6df4783" /><Relationship Type="http://schemas.openxmlformats.org/officeDocument/2006/relationships/slide" Target="/ppt/slides/slide24.xml" Id="Rbb28df465d5344bd" /><Relationship Type="http://schemas.openxmlformats.org/officeDocument/2006/relationships/slide" Target="/ppt/slides/slide25.xml" Id="R0b1c240048df483c" /><Relationship Type="http://schemas.openxmlformats.org/officeDocument/2006/relationships/slide" Target="/ppt/slides/slide26.xml" Id="Rf825672f9260455f" /><Relationship Type="http://schemas.openxmlformats.org/officeDocument/2006/relationships/slide" Target="/ppt/slides/slide27.xml" Id="R9385fcd4c8d84bba" /><Relationship Type="http://schemas.openxmlformats.org/officeDocument/2006/relationships/slide" Target="/ppt/slides/slide28.xml" Id="R057343bf07454099" /><Relationship Type="http://schemas.openxmlformats.org/officeDocument/2006/relationships/slide" Target="/ppt/slides/slide29.xml" Id="Rd6757628006940f3" /><Relationship Type="http://schemas.openxmlformats.org/officeDocument/2006/relationships/slide" Target="/ppt/slides/slide30.xml" Id="Re870d64711034f35" /><Relationship Type="http://schemas.openxmlformats.org/officeDocument/2006/relationships/slide" Target="/ppt/slides/slide31.xml" Id="R118144a253234be4" /><Relationship Type="http://schemas.openxmlformats.org/officeDocument/2006/relationships/slide" Target="/ppt/slides/slide32.xml" Id="R0dcd7ba71b4c4efa" /><Relationship Type="http://schemas.openxmlformats.org/officeDocument/2006/relationships/slide" Target="/ppt/slides/slide33.xml" Id="R9c876661b9de4c23" /><Relationship Type="http://schemas.openxmlformats.org/officeDocument/2006/relationships/slide" Target="/ppt/slides/slide34.xml" Id="R014de3f5c0db4f84" /><Relationship Type="http://schemas.openxmlformats.org/officeDocument/2006/relationships/slide" Target="/ppt/slides/slide35.xml" Id="Rfa9add63634e409c" /><Relationship Type="http://schemas.openxmlformats.org/officeDocument/2006/relationships/slide" Target="/ppt/slides/slide36.xml" Id="R436ecfdd69db4025" /><Relationship Type="http://schemas.openxmlformats.org/officeDocument/2006/relationships/slide" Target="/ppt/slides/slide37.xml" Id="Ra66ed369f09c4738" /><Relationship Type="http://schemas.openxmlformats.org/officeDocument/2006/relationships/slide" Target="/ppt/slides/slide38.xml" Id="R0be5d0a6388a4ebf" /><Relationship Type="http://schemas.openxmlformats.org/officeDocument/2006/relationships/slide" Target="/ppt/slides/slide39.xml" Id="R6208225564274368" /><Relationship Type="http://schemas.openxmlformats.org/officeDocument/2006/relationships/slide" Target="/ppt/slides/slide40.xml" Id="R2791d4f940354d02" /><Relationship Type="http://schemas.openxmlformats.org/officeDocument/2006/relationships/slide" Target="/ppt/slides/slide41.xml" Id="R5853bc3686b64ee8" /><Relationship Type="http://schemas.openxmlformats.org/officeDocument/2006/relationships/slide" Target="/ppt/slides/slide42.xml" Id="Rea5e88de9242415a" /><Relationship Type="http://schemas.openxmlformats.org/officeDocument/2006/relationships/slide" Target="/ppt/slides/slide43.xml" Id="R30d74f58889b4787" /><Relationship Type="http://schemas.openxmlformats.org/officeDocument/2006/relationships/slide" Target="/ppt/slides/slide44.xml" Id="Rb37c926077ef48c1" /><Relationship Type="http://schemas.openxmlformats.org/officeDocument/2006/relationships/slide" Target="/ppt/slides/slide45.xml" Id="R1d0bf7b1b7c242f2" /><Relationship Type="http://schemas.openxmlformats.org/officeDocument/2006/relationships/slide" Target="/ppt/slides/slide46.xml" Id="R44f62fababcc495e" /><Relationship Type="http://schemas.openxmlformats.org/officeDocument/2006/relationships/slide" Target="/ppt/slides/slide47.xml" Id="R89a3ae3ea92d4edc" /><Relationship Type="http://schemas.openxmlformats.org/officeDocument/2006/relationships/slide" Target="/ppt/slides/slide48.xml" Id="R61ce0ffbdb574e40" /><Relationship Type="http://schemas.openxmlformats.org/officeDocument/2006/relationships/slide" Target="/ppt/slides/slide49.xml" Id="Rf607cbc346d74774" /><Relationship Type="http://schemas.openxmlformats.org/officeDocument/2006/relationships/slide" Target="/ppt/slides/slide50.xml" Id="R5a7a63143600464e" /><Relationship Type="http://schemas.openxmlformats.org/officeDocument/2006/relationships/slide" Target="/ppt/slides/slide51.xml" Id="Rb33ef06c68ee47c3" /><Relationship Type="http://schemas.openxmlformats.org/officeDocument/2006/relationships/slide" Target="/ppt/slides/slide52.xml" Id="Rff9e1313431640da" /><Relationship Type="http://schemas.openxmlformats.org/officeDocument/2006/relationships/slide" Target="/ppt/slides/slide53.xml" Id="Rb12d74ba275a4eb8" /><Relationship Type="http://schemas.openxmlformats.org/officeDocument/2006/relationships/slide" Target="/ppt/slides/slide54.xml" Id="R24fd73fb000a4fd0" /><Relationship Type="http://schemas.openxmlformats.org/officeDocument/2006/relationships/slide" Target="/ppt/slides/slide55.xml" Id="Rd44e02763fe841d0" /><Relationship Type="http://schemas.openxmlformats.org/officeDocument/2006/relationships/slide" Target="/ppt/slides/slide56.xml" Id="Rb0fd62af77a54cf9" /><Relationship Type="http://schemas.openxmlformats.org/officeDocument/2006/relationships/slide" Target="/ppt/slides/slide57.xml" Id="R4b9551c6ffe44b9f" /><Relationship Type="http://schemas.openxmlformats.org/officeDocument/2006/relationships/slide" Target="/ppt/slides/slide58.xml" Id="R98bba06553454ab1" /><Relationship Type="http://schemas.openxmlformats.org/officeDocument/2006/relationships/slide" Target="/ppt/slides/slide59.xml" Id="R73646d7ca95f4b10" /><Relationship Type="http://schemas.openxmlformats.org/officeDocument/2006/relationships/slide" Target="/ppt/slides/slide60.xml" Id="R85bde627eafa46a0" /><Relationship Type="http://schemas.openxmlformats.org/officeDocument/2006/relationships/slide" Target="/ppt/slides/slide61.xml" Id="Rbe9619f7dfaf4e3e" /><Relationship Type="http://schemas.openxmlformats.org/officeDocument/2006/relationships/slide" Target="/ppt/slides/slide62.xml" Id="R8f08ed5909464f43" /><Relationship Type="http://schemas.openxmlformats.org/officeDocument/2006/relationships/slide" Target="/ppt/slides/slide63.xml" Id="R04589392a1da4153" /><Relationship Type="http://schemas.openxmlformats.org/officeDocument/2006/relationships/slide" Target="/ppt/slides/slide64.xml" Id="R639925944daf411f" /><Relationship Type="http://schemas.openxmlformats.org/officeDocument/2006/relationships/slide" Target="/ppt/slides/slide65.xml" Id="R5e81c5c0f3634dfc" /><Relationship Type="http://schemas.openxmlformats.org/officeDocument/2006/relationships/slide" Target="/ppt/slides/slide66.xml" Id="Rb87849b45c7747a4" /><Relationship Type="http://schemas.openxmlformats.org/officeDocument/2006/relationships/slide" Target="/ppt/slides/slide67.xml" Id="Red486fc8b6354204" /><Relationship Type="http://schemas.openxmlformats.org/officeDocument/2006/relationships/slide" Target="/ppt/slides/slide68.xml" Id="R71dea8b50a0248c0" /><Relationship Type="http://schemas.openxmlformats.org/officeDocument/2006/relationships/slide" Target="/ppt/slides/slide69.xml" Id="Rb61a715f72ef43bd" /><Relationship Type="http://schemas.openxmlformats.org/officeDocument/2006/relationships/slide" Target="/ppt/slides/slide70.xml" Id="R7d7193f817c6457d" /><Relationship Type="http://schemas.openxmlformats.org/officeDocument/2006/relationships/slide" Target="/ppt/slides/slide71.xml" Id="R22993d9ff3a64f7c" /><Relationship Type="http://schemas.openxmlformats.org/officeDocument/2006/relationships/slide" Target="/ppt/slides/slide72.xml" Id="R87e88c106b8a4601" /><Relationship Type="http://schemas.openxmlformats.org/officeDocument/2006/relationships/slide" Target="/ppt/slides/slide73.xml" Id="R821796b3d8e2451c" /><Relationship Type="http://schemas.openxmlformats.org/officeDocument/2006/relationships/slide" Target="/ppt/slides/slide74.xml" Id="R7ed50b0c96c64971" /><Relationship Type="http://schemas.openxmlformats.org/officeDocument/2006/relationships/slide" Target="/ppt/slides/slide75.xml" Id="R953ed7d4c9d544f1" /><Relationship Type="http://schemas.openxmlformats.org/officeDocument/2006/relationships/slide" Target="/ppt/slides/slide76.xml" Id="R9846606de029446c" /><Relationship Type="http://schemas.openxmlformats.org/officeDocument/2006/relationships/slide" Target="/ppt/slides/slide77.xml" Id="R8312c252fa8145f6" /><Relationship Type="http://schemas.openxmlformats.org/officeDocument/2006/relationships/slide" Target="/ppt/slides/slide78.xml" Id="R5ce3de1925de4744" /><Relationship Type="http://schemas.openxmlformats.org/officeDocument/2006/relationships/slide" Target="/ppt/slides/slide79.xml" Id="R52660339b0c54e1d" /><Relationship Type="http://schemas.openxmlformats.org/officeDocument/2006/relationships/slide" Target="/ppt/slides/slide80.xml" Id="Rbcb93fdadbf04b39" /><Relationship Type="http://schemas.openxmlformats.org/officeDocument/2006/relationships/slide" Target="/ppt/slides/slide81.xml" Id="R7c8691a0761d4cb1" /><Relationship Type="http://schemas.openxmlformats.org/officeDocument/2006/relationships/slide" Target="/ppt/slides/slide82.xml" Id="R80d5084b154c4154" /><Relationship Type="http://schemas.openxmlformats.org/officeDocument/2006/relationships/slide" Target="/ppt/slides/slide83.xml" Id="R3bb197a8b92e48f4" /><Relationship Type="http://schemas.openxmlformats.org/officeDocument/2006/relationships/slide" Target="/ppt/slides/slide84.xml" Id="R811773c3472a422f" /><Relationship Type="http://schemas.openxmlformats.org/officeDocument/2006/relationships/slide" Target="/ppt/slides/slide85.xml" Id="R415bc1eb63414ed1" /><Relationship Type="http://schemas.openxmlformats.org/officeDocument/2006/relationships/slide" Target="/ppt/slides/slide86.xml" Id="R73f9a0a4b23b4848" /><Relationship Type="http://schemas.openxmlformats.org/officeDocument/2006/relationships/slide" Target="/ppt/slides/slide87.xml" Id="Rc958a9ccd5624c7d" /><Relationship Type="http://schemas.openxmlformats.org/officeDocument/2006/relationships/slide" Target="/ppt/slides/slide88.xml" Id="R6fee82d13a38450b" /><Relationship Type="http://schemas.openxmlformats.org/officeDocument/2006/relationships/slide" Target="/ppt/slides/slide89.xml" Id="R8d1a30f16ce640e6" /><Relationship Type="http://schemas.openxmlformats.org/officeDocument/2006/relationships/slide" Target="/ppt/slides/slide90.xml" Id="R9c2747503a3248b9" /><Relationship Type="http://schemas.openxmlformats.org/officeDocument/2006/relationships/slide" Target="/ppt/slides/slide91.xml" Id="R5c1b6fed64a1496a" /><Relationship Type="http://schemas.openxmlformats.org/officeDocument/2006/relationships/slide" Target="/ppt/slides/slide92.xml" Id="Rd26c6070f4c14a2a" /><Relationship Type="http://schemas.openxmlformats.org/officeDocument/2006/relationships/slide" Target="/ppt/slides/slide93.xml" Id="R69203d8209ba408e" /><Relationship Type="http://schemas.openxmlformats.org/officeDocument/2006/relationships/slide" Target="/ppt/slides/slide94.xml" Id="R162156cd492d4e1b" /><Relationship Type="http://schemas.openxmlformats.org/officeDocument/2006/relationships/slide" Target="/ppt/slides/slide95.xml" Id="Ref862162f2714655" /><Relationship Type="http://schemas.openxmlformats.org/officeDocument/2006/relationships/slide" Target="/ppt/slides/slide96.xml" Id="Rd45d744891c6481c" /><Relationship Type="http://schemas.openxmlformats.org/officeDocument/2006/relationships/slide" Target="/ppt/slides/slide97.xml" Id="Ra04192589d9e475a" /><Relationship Type="http://schemas.openxmlformats.org/officeDocument/2006/relationships/slide" Target="/ppt/slides/slide98.xml" Id="R0086cf96757e4b28" /><Relationship Type="http://schemas.openxmlformats.org/officeDocument/2006/relationships/slide" Target="/ppt/slides/slide99.xml" Id="Rfb2d52d1be104d17" /><Relationship Type="http://schemas.openxmlformats.org/officeDocument/2006/relationships/slide" Target="/ppt/slides/slide100.xml" Id="R698d9ede9c1a4db5" /><Relationship Type="http://schemas.openxmlformats.org/officeDocument/2006/relationships/slide" Target="/ppt/slides/slide101.xml" Id="R5aba83a083a54db8" /><Relationship Type="http://schemas.openxmlformats.org/officeDocument/2006/relationships/slide" Target="/ppt/slides/slide102.xml" Id="R653a19dd76354e9b" /><Relationship Type="http://schemas.openxmlformats.org/officeDocument/2006/relationships/slide" Target="/ppt/slides/slide103.xml" Id="Rdc5f4012694b4277" /><Relationship Type="http://schemas.openxmlformats.org/officeDocument/2006/relationships/slide" Target="/ppt/slides/slide104.xml" Id="R4c67d6bdebb041d9" /><Relationship Type="http://schemas.openxmlformats.org/officeDocument/2006/relationships/slide" Target="/ppt/slides/slide105.xml" Id="Rf1733a2c99bf463b" /><Relationship Type="http://schemas.openxmlformats.org/officeDocument/2006/relationships/slide" Target="/ppt/slides/slide106.xml" Id="R50c5b9832e374814" /><Relationship Type="http://schemas.openxmlformats.org/officeDocument/2006/relationships/slide" Target="/ppt/slides/slide107.xml" Id="R5509f5cccc314eea" /><Relationship Type="http://schemas.openxmlformats.org/officeDocument/2006/relationships/slide" Target="/ppt/slides/slide108.xml" Id="R217ba7f1ced84f53" /><Relationship Type="http://schemas.openxmlformats.org/officeDocument/2006/relationships/slide" Target="/ppt/slides/slide109.xml" Id="Rdcb49ab15f6a438d" /><Relationship Type="http://schemas.openxmlformats.org/officeDocument/2006/relationships/slide" Target="/ppt/slides/slide110.xml" Id="Rd26b01b0a2054d36" /><Relationship Type="http://schemas.openxmlformats.org/officeDocument/2006/relationships/slide" Target="/ppt/slides/slide111.xml" Id="R8c898de8f1fc48df" /><Relationship Type="http://schemas.openxmlformats.org/officeDocument/2006/relationships/slide" Target="/ppt/slides/slide112.xml" Id="R0c03214a18df44af" /><Relationship Type="http://schemas.openxmlformats.org/officeDocument/2006/relationships/slide" Target="/ppt/slides/slide113.xml" Id="Rfa0525f8ce27451d" /><Relationship Type="http://schemas.openxmlformats.org/officeDocument/2006/relationships/slide" Target="/ppt/slides/slide114.xml" Id="R4d737d6394594717" /><Relationship Type="http://schemas.openxmlformats.org/officeDocument/2006/relationships/slide" Target="/ppt/slides/slide115.xml" Id="R85aa6f8c06974d7b" /><Relationship Type="http://schemas.openxmlformats.org/officeDocument/2006/relationships/slide" Target="/ppt/slides/slide116.xml" Id="Rc63c96a9e18346ec" /><Relationship Type="http://schemas.openxmlformats.org/officeDocument/2006/relationships/slide" Target="/ppt/slides/slide117.xml" Id="Rfa9c5d28509d45dc" /><Relationship Type="http://schemas.openxmlformats.org/officeDocument/2006/relationships/slide" Target="/ppt/slides/slide118.xml" Id="R02ae437bfac048e7" /><Relationship Type="http://schemas.openxmlformats.org/officeDocument/2006/relationships/slide" Target="/ppt/slides/slide119.xml" Id="R9ae91b88a14a40fc" /><Relationship Type="http://schemas.openxmlformats.org/officeDocument/2006/relationships/slide" Target="/ppt/slides/slide120.xml" Id="R97b2ea4547a644db" /><Relationship Type="http://schemas.openxmlformats.org/officeDocument/2006/relationships/slide" Target="/ppt/slides/slide121.xml" Id="R6ba01ab56ed44743" /><Relationship Type="http://schemas.openxmlformats.org/officeDocument/2006/relationships/slide" Target="/ppt/slides/slide122.xml" Id="Rf3d304e931694e03" /><Relationship Type="http://schemas.openxmlformats.org/officeDocument/2006/relationships/slide" Target="/ppt/slides/slide123.xml" Id="Rb8fce298fb8b4b7d" /><Relationship Type="http://schemas.openxmlformats.org/officeDocument/2006/relationships/slide" Target="/ppt/slides/slide124.xml" Id="Rfe1295fc7ec14bcd" /><Relationship Type="http://schemas.openxmlformats.org/officeDocument/2006/relationships/slide" Target="/ppt/slides/slide125.xml" Id="R2186b9e054514cdb" /><Relationship Type="http://schemas.openxmlformats.org/officeDocument/2006/relationships/slide" Target="/ppt/slides/slide126.xml" Id="Rb44efc1e5f6a4a31" /><Relationship Type="http://schemas.openxmlformats.org/officeDocument/2006/relationships/slide" Target="/ppt/slides/slide127.xml" Id="Rb0a1c25bb28043ed" /><Relationship Type="http://schemas.openxmlformats.org/officeDocument/2006/relationships/slide" Target="/ppt/slides/slide128.xml" Id="R1c95e8f3c5b14775" /><Relationship Type="http://schemas.openxmlformats.org/officeDocument/2006/relationships/slide" Target="/ppt/slides/slide129.xml" Id="R2a5bbcb4280a4033" /><Relationship Type="http://schemas.openxmlformats.org/officeDocument/2006/relationships/slide" Target="/ppt/slides/slide130.xml" Id="Rd1fed8d754e84ff4" /><Relationship Type="http://schemas.openxmlformats.org/officeDocument/2006/relationships/slide" Target="/ppt/slides/slide131.xml" Id="R93df90af865d44e1" /><Relationship Type="http://schemas.openxmlformats.org/officeDocument/2006/relationships/slide" Target="/ppt/slides/slide132.xml" Id="Rfad3e2371a00431d" /><Relationship Type="http://schemas.openxmlformats.org/officeDocument/2006/relationships/slide" Target="/ppt/slides/slide133.xml" Id="Re7c2731c898447c3" /><Relationship Type="http://schemas.openxmlformats.org/officeDocument/2006/relationships/slide" Target="/ppt/slides/slide134.xml" Id="Rd8b26e7352f24593" /><Relationship Type="http://schemas.openxmlformats.org/officeDocument/2006/relationships/slide" Target="/ppt/slides/slide135.xml" Id="R7b1268a1d7994a5f" /><Relationship Type="http://schemas.openxmlformats.org/officeDocument/2006/relationships/slide" Target="/ppt/slides/slide136.xml" Id="R2df8660c578e43c5" /><Relationship Type="http://schemas.openxmlformats.org/officeDocument/2006/relationships/slide" Target="/ppt/slides/slide137.xml" Id="Re3278ce96959430e" /><Relationship Type="http://schemas.openxmlformats.org/officeDocument/2006/relationships/slide" Target="/ppt/slides/slide138.xml" Id="R8598a73a00af4fe4" /><Relationship Type="http://schemas.openxmlformats.org/officeDocument/2006/relationships/slide" Target="/ppt/slides/slide139.xml" Id="Rab4c7eb6c72e48a2" /><Relationship Type="http://schemas.openxmlformats.org/officeDocument/2006/relationships/slide" Target="/ppt/slides/slide140.xml" Id="R5aa8561d38f2433c" /><Relationship Type="http://schemas.openxmlformats.org/officeDocument/2006/relationships/slide" Target="/ppt/slides/slide141.xml" Id="R9d8f435a9a3c46ff" /><Relationship Type="http://schemas.openxmlformats.org/officeDocument/2006/relationships/slide" Target="/ppt/slides/slide142.xml" Id="Rd94325cd557846a5" /><Relationship Type="http://schemas.openxmlformats.org/officeDocument/2006/relationships/slide" Target="/ppt/slides/slide143.xml" Id="R311000fa1fd9477a" /><Relationship Type="http://schemas.openxmlformats.org/officeDocument/2006/relationships/slide" Target="/ppt/slides/slide144.xml" Id="Rd55cbb61f02248db" /><Relationship Type="http://schemas.openxmlformats.org/officeDocument/2006/relationships/slide" Target="/ppt/slides/slide145.xml" Id="Rd881e051e3e44ff8" /><Relationship Type="http://schemas.openxmlformats.org/officeDocument/2006/relationships/slide" Target="/ppt/slides/slide146.xml" Id="Rfc266e22eaba425a" /><Relationship Type="http://schemas.openxmlformats.org/officeDocument/2006/relationships/slide" Target="/ppt/slides/slide147.xml" Id="Ra7dfe495fd4c43bd" /><Relationship Type="http://schemas.openxmlformats.org/officeDocument/2006/relationships/slide" Target="/ppt/slides/slide148.xml" Id="Rdbcaea5f80044d4f" /><Relationship Type="http://schemas.openxmlformats.org/officeDocument/2006/relationships/slide" Target="/ppt/slides/slide149.xml" Id="R87f530d281754fc2" /><Relationship Type="http://schemas.openxmlformats.org/officeDocument/2006/relationships/slide" Target="/ppt/slides/slide150.xml" Id="R2312782365b44540" /><Relationship Type="http://schemas.openxmlformats.org/officeDocument/2006/relationships/slide" Target="/ppt/slides/slide151.xml" Id="R93d1447d53044daf" /><Relationship Type="http://schemas.openxmlformats.org/officeDocument/2006/relationships/slide" Target="/ppt/slides/slide152.xml" Id="Rdfd7fcdded344959" /><Relationship Type="http://schemas.openxmlformats.org/officeDocument/2006/relationships/slide" Target="/ppt/slides/slide153.xml" Id="R873046196a5f4f27" /><Relationship Type="http://schemas.openxmlformats.org/officeDocument/2006/relationships/slide" Target="/ppt/slides/slide154.xml" Id="R20660ec3d9844b3a" /><Relationship Type="http://schemas.openxmlformats.org/officeDocument/2006/relationships/slide" Target="/ppt/slides/slide155.xml" Id="R27a1e3d9d77149eb" /><Relationship Type="http://schemas.openxmlformats.org/officeDocument/2006/relationships/slide" Target="/ppt/slides/slide156.xml" Id="R2404c8abdea049c1" /><Relationship Type="http://schemas.openxmlformats.org/officeDocument/2006/relationships/slide" Target="/ppt/slides/slide157.xml" Id="R9faddfcdda61495c" /><Relationship Type="http://schemas.openxmlformats.org/officeDocument/2006/relationships/slide" Target="/ppt/slides/slide158.xml" Id="R83050a48fa8d406d" /><Relationship Type="http://schemas.openxmlformats.org/officeDocument/2006/relationships/slide" Target="/ppt/slides/slide159.xml" Id="R44b5719c82954554" /><Relationship Type="http://schemas.openxmlformats.org/officeDocument/2006/relationships/slide" Target="/ppt/slides/slide160.xml" Id="R6f5abe15b8a343c3" /><Relationship Type="http://schemas.openxmlformats.org/officeDocument/2006/relationships/slide" Target="/ppt/slides/slide161.xml" Id="Ra0149f90feea4719" /><Relationship Type="http://schemas.openxmlformats.org/officeDocument/2006/relationships/slide" Target="/ppt/slides/slide162.xml" Id="R0fc409c801a649d8" /><Relationship Type="http://schemas.openxmlformats.org/officeDocument/2006/relationships/slide" Target="/ppt/slides/slide163.xml" Id="R1c1cd8e06b8348a8" /><Relationship Type="http://schemas.openxmlformats.org/officeDocument/2006/relationships/slide" Target="/ppt/slides/slide164.xml" Id="Rf95f4a20919b440b" /><Relationship Type="http://schemas.openxmlformats.org/officeDocument/2006/relationships/slide" Target="/ppt/slides/slide165.xml" Id="Rdeb1524ea6344e59" /><Relationship Type="http://schemas.openxmlformats.org/officeDocument/2006/relationships/slide" Target="/ppt/slides/slide166.xml" Id="R9fdea15bdeb949d2" /><Relationship Type="http://schemas.openxmlformats.org/officeDocument/2006/relationships/slide" Target="/ppt/slides/slide167.xml" Id="R3c470b36cf77423d" /><Relationship Type="http://schemas.openxmlformats.org/officeDocument/2006/relationships/slide" Target="/ppt/slides/slide168.xml" Id="Rd27e32aafa574577" /><Relationship Type="http://schemas.openxmlformats.org/officeDocument/2006/relationships/slide" Target="/ppt/slides/slide169.xml" Id="R05f4c2cfab37482c" /><Relationship Type="http://schemas.openxmlformats.org/officeDocument/2006/relationships/slide" Target="/ppt/slides/slide170.xml" Id="R9b380f73fae44b17" /><Relationship Type="http://schemas.openxmlformats.org/officeDocument/2006/relationships/slide" Target="/ppt/slides/slide171.xml" Id="R04d87c21018a45d4" /><Relationship Type="http://schemas.openxmlformats.org/officeDocument/2006/relationships/slide" Target="/ppt/slides/slide172.xml" Id="Rfc657f50c6c3426f" /><Relationship Type="http://schemas.openxmlformats.org/officeDocument/2006/relationships/slide" Target="/ppt/slides/slide173.xml" Id="R875406149e3f4636" /><Relationship Type="http://schemas.openxmlformats.org/officeDocument/2006/relationships/slide" Target="/ppt/slides/slide174.xml" Id="Rd5cd1541f2814b7c" /><Relationship Type="http://schemas.openxmlformats.org/officeDocument/2006/relationships/slide" Target="/ppt/slides/slide175.xml" Id="R9bc9b4c25a90400e" /><Relationship Type="http://schemas.openxmlformats.org/officeDocument/2006/relationships/slide" Target="/ppt/slides/slide176.xml" Id="Rcdb6c9dce66d4f65" /><Relationship Type="http://schemas.openxmlformats.org/officeDocument/2006/relationships/slide" Target="/ppt/slides/slide177.xml" Id="Rb1e7cae5e01e4228" /><Relationship Type="http://schemas.openxmlformats.org/officeDocument/2006/relationships/slide" Target="/ppt/slides/slide178.xml" Id="R5e3be3aa7ec342bb" /><Relationship Type="http://schemas.openxmlformats.org/officeDocument/2006/relationships/slide" Target="/ppt/slides/slide179.xml" Id="R32478f3715194520" /><Relationship Type="http://schemas.openxmlformats.org/officeDocument/2006/relationships/slide" Target="/ppt/slides/slide180.xml" Id="R627dd7ce79f34cd1" /><Relationship Type="http://schemas.openxmlformats.org/officeDocument/2006/relationships/slide" Target="/ppt/slides/slide181.xml" Id="R21645ade8d654e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4eec0d6be84c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8714fcf9b44d30" /><Relationship Type="http://schemas.openxmlformats.org/officeDocument/2006/relationships/notesMaster" Target="/ppt/notesMasters/notesMaster1.xml" Id="Rf1656f552b3042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49bbfd12a34f48" /><Relationship Type="http://schemas.openxmlformats.org/officeDocument/2006/relationships/notesMaster" Target="/ppt/notesMasters/notesMaster1.xml" Id="R7a80237e4a1241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0a478b90cb481d" /><Relationship Type="http://schemas.openxmlformats.org/officeDocument/2006/relationships/notesMaster" Target="/ppt/notesMasters/notesMaster1.xml" Id="Ra3291d445b214e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64f56973ac4c50" /><Relationship Type="http://schemas.openxmlformats.org/officeDocument/2006/relationships/notesMaster" Target="/ppt/notesMasters/notesMaster1.xml" Id="R9717dab1fcc24a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35e4030c774451" /><Relationship Type="http://schemas.openxmlformats.org/officeDocument/2006/relationships/notesMaster" Target="/ppt/notesMasters/notesMaster1.xml" Id="R4f721f730ff44a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979134866f4eb3" /><Relationship Type="http://schemas.openxmlformats.org/officeDocument/2006/relationships/notesMaster" Target="/ppt/notesMasters/notesMaster1.xml" Id="Rba6023da9bcc45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64979847b54300" /><Relationship Type="http://schemas.openxmlformats.org/officeDocument/2006/relationships/notesMaster" Target="/ppt/notesMasters/notesMaster1.xml" Id="Ra03eb8cf6d5343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fabc0c99e449a7" /><Relationship Type="http://schemas.openxmlformats.org/officeDocument/2006/relationships/notesMaster" Target="/ppt/notesMasters/notesMaster1.xml" Id="R5e9fd838d8414c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687d7ec1a24333" /><Relationship Type="http://schemas.openxmlformats.org/officeDocument/2006/relationships/notesMaster" Target="/ppt/notesMasters/notesMaster1.xml" Id="R0e00dc149a9b4e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d43fc88d4a42ad" /><Relationship Type="http://schemas.openxmlformats.org/officeDocument/2006/relationships/notesMaster" Target="/ppt/notesMasters/notesMaster1.xml" Id="Rfba50ede1fc84a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4c476346fcf4ed7" /><Relationship Type="http://schemas.openxmlformats.org/officeDocument/2006/relationships/notesMaster" Target="/ppt/notesMasters/notesMaster1.xml" Id="R1588ba700a264a9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db7835fb1c4118" /><Relationship Type="http://schemas.openxmlformats.org/officeDocument/2006/relationships/notesMaster" Target="/ppt/notesMasters/notesMaster1.xml" Id="R2a948dfd10254de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aaf4230224485c" /><Relationship Type="http://schemas.openxmlformats.org/officeDocument/2006/relationships/notesMaster" Target="/ppt/notesMasters/notesMaster1.xml" Id="R52ea5405cbe44df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899a6180c8940d6" /><Relationship Type="http://schemas.openxmlformats.org/officeDocument/2006/relationships/notesMaster" Target="/ppt/notesMasters/notesMaster1.xml" Id="R50cc1474d875474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85bb5b640974068" /><Relationship Type="http://schemas.openxmlformats.org/officeDocument/2006/relationships/notesMaster" Target="/ppt/notesMasters/notesMaster1.xml" Id="R6db26f686c454d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7a5bf07fe1c4fcf" /><Relationship Type="http://schemas.openxmlformats.org/officeDocument/2006/relationships/notesMaster" Target="/ppt/notesMasters/notesMaster1.xml" Id="Ra5cc73068f8c4d6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6c257eed14243ad" /><Relationship Type="http://schemas.openxmlformats.org/officeDocument/2006/relationships/notesMaster" Target="/ppt/notesMasters/notesMaster1.xml" Id="R66d7160f8b2a45b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7686f55c1cf468e" /><Relationship Type="http://schemas.openxmlformats.org/officeDocument/2006/relationships/notesMaster" Target="/ppt/notesMasters/notesMaster1.xml" Id="R034ff8f6ec1a442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072c29347034a72" /><Relationship Type="http://schemas.openxmlformats.org/officeDocument/2006/relationships/notesMaster" Target="/ppt/notesMasters/notesMaster1.xml" Id="Racea11a83a3544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7a9ccff797e4d98" /><Relationship Type="http://schemas.openxmlformats.org/officeDocument/2006/relationships/notesMaster" Target="/ppt/notesMasters/notesMaster1.xml" Id="Rc46f4799a7a84d4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d549a4776e1418b" /><Relationship Type="http://schemas.openxmlformats.org/officeDocument/2006/relationships/notesMaster" Target="/ppt/notesMasters/notesMaster1.xml" Id="R381aa46c432f4d8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f55eb0387434d52" /><Relationship Type="http://schemas.openxmlformats.org/officeDocument/2006/relationships/notesMaster" Target="/ppt/notesMasters/notesMaster1.xml" Id="R6c07c985685a459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42b650bf3e04514" /><Relationship Type="http://schemas.openxmlformats.org/officeDocument/2006/relationships/notesMaster" Target="/ppt/notesMasters/notesMaster1.xml" Id="Rf5688e278dd44ff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61890681c7a401d" /><Relationship Type="http://schemas.openxmlformats.org/officeDocument/2006/relationships/notesMaster" Target="/ppt/notesMasters/notesMaster1.xml" Id="Rf8d31e6a7219414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b8e84e6dec047e1" /><Relationship Type="http://schemas.openxmlformats.org/officeDocument/2006/relationships/notesMaster" Target="/ppt/notesMasters/notesMaster1.xml" Id="R89789394c4824a5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d9a8eb3b53540cd" /><Relationship Type="http://schemas.openxmlformats.org/officeDocument/2006/relationships/notesMaster" Target="/ppt/notesMasters/notesMaster1.xml" Id="R09faf0285fa24fd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a58bd912ad74354" /><Relationship Type="http://schemas.openxmlformats.org/officeDocument/2006/relationships/notesMaster" Target="/ppt/notesMasters/notesMaster1.xml" Id="Rc2f61e28b92f423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122e1a26ba145c0" /><Relationship Type="http://schemas.openxmlformats.org/officeDocument/2006/relationships/notesMaster" Target="/ppt/notesMasters/notesMaster1.xml" Id="R33426d979c5e478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73882caa23e4860" /><Relationship Type="http://schemas.openxmlformats.org/officeDocument/2006/relationships/notesMaster" Target="/ppt/notesMasters/notesMaster1.xml" Id="R605cb305b88748d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fcb1711a51048ba" /><Relationship Type="http://schemas.openxmlformats.org/officeDocument/2006/relationships/notesMaster" Target="/ppt/notesMasters/notesMaster1.xml" Id="R4570a17456ef446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b69b7468f1941a4" /><Relationship Type="http://schemas.openxmlformats.org/officeDocument/2006/relationships/notesMaster" Target="/ppt/notesMasters/notesMaster1.xml" Id="Ra1c31e258caf452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2e30feaf8214d51" /><Relationship Type="http://schemas.openxmlformats.org/officeDocument/2006/relationships/notesMaster" Target="/ppt/notesMasters/notesMaster1.xml" Id="Rc52bfcd82a89475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a3f64a533a14d4a" /><Relationship Type="http://schemas.openxmlformats.org/officeDocument/2006/relationships/notesMaster" Target="/ppt/notesMasters/notesMaster1.xml" Id="R574bc78f879d4ab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f31373aff874f30" /><Relationship Type="http://schemas.openxmlformats.org/officeDocument/2006/relationships/notesMaster" Target="/ppt/notesMasters/notesMaster1.xml" Id="R3a750c22aea841a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0a4fbb704f04105" /><Relationship Type="http://schemas.openxmlformats.org/officeDocument/2006/relationships/notesMaster" Target="/ppt/notesMasters/notesMaster1.xml" Id="Rfbee7d66d7424c8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ceaf70633e84c18" /><Relationship Type="http://schemas.openxmlformats.org/officeDocument/2006/relationships/notesMaster" Target="/ppt/notesMasters/notesMaster1.xml" Id="R735f10bf6b254ca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5d44ec284a64b19" /><Relationship Type="http://schemas.openxmlformats.org/officeDocument/2006/relationships/notesMaster" Target="/ppt/notesMasters/notesMaster1.xml" Id="Rba1baa95e2f0477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455f83ec71a4386" /><Relationship Type="http://schemas.openxmlformats.org/officeDocument/2006/relationships/notesMaster" Target="/ppt/notesMasters/notesMaster1.xml" Id="R6b76d2b4a5254d4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4cdf48f92214a73" /><Relationship Type="http://schemas.openxmlformats.org/officeDocument/2006/relationships/notesMaster" Target="/ppt/notesMasters/notesMaster1.xml" Id="Re3f75455e3d7491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24e14f942c2428f" /><Relationship Type="http://schemas.openxmlformats.org/officeDocument/2006/relationships/notesMaster" Target="/ppt/notesMasters/notesMaster1.xml" Id="R5b83c2c52687441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ff77c60737a4c4d" /><Relationship Type="http://schemas.openxmlformats.org/officeDocument/2006/relationships/notesMaster" Target="/ppt/notesMasters/notesMaster1.xml" Id="R79ab26bd2030441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9b77cb1584e403d" /><Relationship Type="http://schemas.openxmlformats.org/officeDocument/2006/relationships/notesMaster" Target="/ppt/notesMasters/notesMaster1.xml" Id="Rc2787d0ba4334b0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d260fa3bdb74c07" /><Relationship Type="http://schemas.openxmlformats.org/officeDocument/2006/relationships/notesMaster" Target="/ppt/notesMasters/notesMaster1.xml" Id="R6c4c35c1b344402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3a3ef9a63a8449a" /><Relationship Type="http://schemas.openxmlformats.org/officeDocument/2006/relationships/notesMaster" Target="/ppt/notesMasters/notesMaster1.xml" Id="Rf3a742d77cad41c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f705d25c23341d5" /><Relationship Type="http://schemas.openxmlformats.org/officeDocument/2006/relationships/notesMaster" Target="/ppt/notesMasters/notesMaster1.xml" Id="R3e0979a49e57456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67c1c14065140cb" /><Relationship Type="http://schemas.openxmlformats.org/officeDocument/2006/relationships/notesMaster" Target="/ppt/notesMasters/notesMaster1.xml" Id="R31bae2429ffc4b5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eaca42c3b6e432b" /><Relationship Type="http://schemas.openxmlformats.org/officeDocument/2006/relationships/notesMaster" Target="/ppt/notesMasters/notesMaster1.xml" Id="R09313adf87fe447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826f471ec124e9e" /><Relationship Type="http://schemas.openxmlformats.org/officeDocument/2006/relationships/notesMaster" Target="/ppt/notesMasters/notesMaster1.xml" Id="R8d97ea02c8a7496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01040e6320347cf" /><Relationship Type="http://schemas.openxmlformats.org/officeDocument/2006/relationships/notesMaster" Target="/ppt/notesMasters/notesMaster1.xml" Id="Rc784a2fd15824d9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ce3883d3b5d4c8d" /><Relationship Type="http://schemas.openxmlformats.org/officeDocument/2006/relationships/notesMaster" Target="/ppt/notesMasters/notesMaster1.xml" Id="R41ca44294c0b46f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2c96cf88ef741a9" /><Relationship Type="http://schemas.openxmlformats.org/officeDocument/2006/relationships/notesMaster" Target="/ppt/notesMasters/notesMaster1.xml" Id="R5e6449be0ea04b0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24cf5cb9b414ed1" /><Relationship Type="http://schemas.openxmlformats.org/officeDocument/2006/relationships/notesMaster" Target="/ppt/notesMasters/notesMaster1.xml" Id="Rc5d369d37edf4a8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40f2b0fec8340ce" /><Relationship Type="http://schemas.openxmlformats.org/officeDocument/2006/relationships/notesMaster" Target="/ppt/notesMasters/notesMaster1.xml" Id="R85f2de6a0b0d483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bbbc3c3b02d4d9a" /><Relationship Type="http://schemas.openxmlformats.org/officeDocument/2006/relationships/notesMaster" Target="/ppt/notesMasters/notesMaster1.xml" Id="R831edba68cc34e3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fd8d9c90a97e4545" /><Relationship Type="http://schemas.openxmlformats.org/officeDocument/2006/relationships/notesMaster" Target="/ppt/notesMasters/notesMaster1.xml" Id="R03aa3cadb2e54e2c"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32ed79779a94681" /><Relationship Type="http://schemas.openxmlformats.org/officeDocument/2006/relationships/notesMaster" Target="/ppt/notesMasters/notesMaster1.xml" Id="Rbd476a00c439411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eeadad21f6f4207" /><Relationship Type="http://schemas.openxmlformats.org/officeDocument/2006/relationships/notesMaster" Target="/ppt/notesMasters/notesMaster1.xml" Id="R1c35a7d12cbc49de"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b69559a8fe74a4f" /><Relationship Type="http://schemas.openxmlformats.org/officeDocument/2006/relationships/notesMaster" Target="/ppt/notesMasters/notesMaster1.xml" Id="R9d6daa45cbca4f3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7e2be2fde41f4579" /><Relationship Type="http://schemas.openxmlformats.org/officeDocument/2006/relationships/notesMaster" Target="/ppt/notesMasters/notesMaster1.xml" Id="R7e696ef2f2fa4704"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d5546037e1884951" /><Relationship Type="http://schemas.openxmlformats.org/officeDocument/2006/relationships/notesMaster" Target="/ppt/notesMasters/notesMaster1.xml" Id="Rc9e2e1b1c9984a8b"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2f7a8dd56cc4a73" /><Relationship Type="http://schemas.openxmlformats.org/officeDocument/2006/relationships/notesMaster" Target="/ppt/notesMasters/notesMaster1.xml" Id="Rc832a5d0fcc44ee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63f7244ad2a44281" /><Relationship Type="http://schemas.openxmlformats.org/officeDocument/2006/relationships/notesMaster" Target="/ppt/notesMasters/notesMaster1.xml" Id="Ra50d257ae2bd4ed2"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99858e04b0a4655" /><Relationship Type="http://schemas.openxmlformats.org/officeDocument/2006/relationships/notesMaster" Target="/ppt/notesMasters/notesMaster1.xml" Id="Re1f166f1232848ff"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31a30207d33a4468" /><Relationship Type="http://schemas.openxmlformats.org/officeDocument/2006/relationships/notesMaster" Target="/ppt/notesMasters/notesMaster1.xml" Id="R86f8910e5f094207"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e853d03e5f14d93" /><Relationship Type="http://schemas.openxmlformats.org/officeDocument/2006/relationships/notesMaster" Target="/ppt/notesMasters/notesMaster1.xml" Id="R0e45ba2326884683"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710e14148eb54aed" /><Relationship Type="http://schemas.openxmlformats.org/officeDocument/2006/relationships/notesMaster" Target="/ppt/notesMasters/notesMaster1.xml" Id="R4fe28e5afbe74fb7"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690fd5c96f8e4185" /><Relationship Type="http://schemas.openxmlformats.org/officeDocument/2006/relationships/notesMaster" Target="/ppt/notesMasters/notesMaster1.xml" Id="R270483cea9924d42"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67283ad824c94ce2" /><Relationship Type="http://schemas.openxmlformats.org/officeDocument/2006/relationships/notesMaster" Target="/ppt/notesMasters/notesMaster1.xml" Id="Rc03f2242349643d4"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ef33c375dc44566" /><Relationship Type="http://schemas.openxmlformats.org/officeDocument/2006/relationships/notesMaster" Target="/ppt/notesMasters/notesMaster1.xml" Id="R1325ad936a7a41d8"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473e304a06714125" /><Relationship Type="http://schemas.openxmlformats.org/officeDocument/2006/relationships/notesMaster" Target="/ppt/notesMasters/notesMaster1.xml" Id="Rc52321a9805942dc"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bb4f72c9f20f4b2c" /><Relationship Type="http://schemas.openxmlformats.org/officeDocument/2006/relationships/notesMaster" Target="/ppt/notesMasters/notesMaster1.xml" Id="R6952c599538e47e7"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c8416219292d4848" /><Relationship Type="http://schemas.openxmlformats.org/officeDocument/2006/relationships/notesMaster" Target="/ppt/notesMasters/notesMaster1.xml" Id="R6aeca4bd730149e1"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593d5d6590874322" /><Relationship Type="http://schemas.openxmlformats.org/officeDocument/2006/relationships/notesMaster" Target="/ppt/notesMasters/notesMaster1.xml" Id="R880de2edf20149ee"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b5a2c8bedea84d29" /><Relationship Type="http://schemas.openxmlformats.org/officeDocument/2006/relationships/notesMaster" Target="/ppt/notesMasters/notesMaster1.xml" Id="Rf2e2ba84e5e94250"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6b1eed8c00b44c68" /><Relationship Type="http://schemas.openxmlformats.org/officeDocument/2006/relationships/notesMaster" Target="/ppt/notesMasters/notesMaster1.xml" Id="R679f61b386344812"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39c1ce4e7537493b" /><Relationship Type="http://schemas.openxmlformats.org/officeDocument/2006/relationships/notesMaster" Target="/ppt/notesMasters/notesMaster1.xml" Id="R8300253cbf56499c"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e8d66dbf36b04fc5" /><Relationship Type="http://schemas.openxmlformats.org/officeDocument/2006/relationships/notesMaster" Target="/ppt/notesMasters/notesMaster1.xml" Id="R414bd6faa97244b0"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dbcefd6f2bae4df9" /><Relationship Type="http://schemas.openxmlformats.org/officeDocument/2006/relationships/notesMaster" Target="/ppt/notesMasters/notesMaster1.xml" Id="R8b9ff45d8887453f"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5c386142242d4bfb" /><Relationship Type="http://schemas.openxmlformats.org/officeDocument/2006/relationships/notesMaster" Target="/ppt/notesMasters/notesMaster1.xml" Id="R2429686fb44e4f12"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a580c28cb47e49ce" /><Relationship Type="http://schemas.openxmlformats.org/officeDocument/2006/relationships/notesMaster" Target="/ppt/notesMasters/notesMaster1.xml" Id="R5f633fb141734072"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7d1b01a1bdcc4df9" /><Relationship Type="http://schemas.openxmlformats.org/officeDocument/2006/relationships/notesMaster" Target="/ppt/notesMasters/notesMaster1.xml" Id="R87a05cd5cf694b66"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3fcff13460864e87" /><Relationship Type="http://schemas.openxmlformats.org/officeDocument/2006/relationships/notesMaster" Target="/ppt/notesMasters/notesMaster1.xml" Id="R35cafee8adb247a7"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c36035dedf6f41f2" /><Relationship Type="http://schemas.openxmlformats.org/officeDocument/2006/relationships/notesMaster" Target="/ppt/notesMasters/notesMaster1.xml" Id="R3e35646325ef4c15"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599b8193398a465b" /><Relationship Type="http://schemas.openxmlformats.org/officeDocument/2006/relationships/notesMaster" Target="/ppt/notesMasters/notesMaster1.xml" Id="Rb3cd386e20264413"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e2afef68a0de47e6" /><Relationship Type="http://schemas.openxmlformats.org/officeDocument/2006/relationships/notesMaster" Target="/ppt/notesMasters/notesMaster1.xml" Id="R0c39cbb7099e4366"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4dad2eabdd4e452d" /><Relationship Type="http://schemas.openxmlformats.org/officeDocument/2006/relationships/notesMaster" Target="/ppt/notesMasters/notesMaster1.xml" Id="Redc9a21d411449b0"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0ca6b17f5fbb4f7a" /><Relationship Type="http://schemas.openxmlformats.org/officeDocument/2006/relationships/notesMaster" Target="/ppt/notesMasters/notesMaster1.xml" Id="R9b785e96e63a4ff6"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c5b22917a58d4761" /><Relationship Type="http://schemas.openxmlformats.org/officeDocument/2006/relationships/notesMaster" Target="/ppt/notesMasters/notesMaster1.xml" Id="R034b954bff4748ce"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25cf21e1d1b34e80" /><Relationship Type="http://schemas.openxmlformats.org/officeDocument/2006/relationships/notesMaster" Target="/ppt/notesMasters/notesMaster1.xml" Id="R0c094885423141e7"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4a671814df2e4a4d" /><Relationship Type="http://schemas.openxmlformats.org/officeDocument/2006/relationships/notesMaster" Target="/ppt/notesMasters/notesMaster1.xml" Id="R949a42867a154c75"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e2bde0245f8c49c5" /><Relationship Type="http://schemas.openxmlformats.org/officeDocument/2006/relationships/notesMaster" Target="/ppt/notesMasters/notesMaster1.xml" Id="R6cb47bb01b4e4ec7"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90c8f3edd27348cc" /><Relationship Type="http://schemas.openxmlformats.org/officeDocument/2006/relationships/notesMaster" Target="/ppt/notesMasters/notesMaster1.xml" Id="R740da6661e9f4572"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199c9365b603407a" /><Relationship Type="http://schemas.openxmlformats.org/officeDocument/2006/relationships/notesMaster" Target="/ppt/notesMasters/notesMaster1.xml" Id="Rc9cc61c1bb804df9"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de352818b5904485" /><Relationship Type="http://schemas.openxmlformats.org/officeDocument/2006/relationships/notesMaster" Target="/ppt/notesMasters/notesMaster1.xml" Id="R26e8f8d3877944e0"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3a536742114745d3" /><Relationship Type="http://schemas.openxmlformats.org/officeDocument/2006/relationships/notesMaster" Target="/ppt/notesMasters/notesMaster1.xml" Id="Raf75d7dc7fa949cc"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619aa33a2e034667" /><Relationship Type="http://schemas.openxmlformats.org/officeDocument/2006/relationships/notesMaster" Target="/ppt/notesMasters/notesMaster1.xml" Id="R1b3a16e4527a4435"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8725be9ea1ad4a15" /><Relationship Type="http://schemas.openxmlformats.org/officeDocument/2006/relationships/notesMaster" Target="/ppt/notesMasters/notesMaster1.xml" Id="R83b47a72008447a7"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5b670072b7c64048" /><Relationship Type="http://schemas.openxmlformats.org/officeDocument/2006/relationships/notesMaster" Target="/ppt/notesMasters/notesMaster1.xml" Id="R69bcc1f7a07f4973"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aac84f07611c4826" /><Relationship Type="http://schemas.openxmlformats.org/officeDocument/2006/relationships/notesMaster" Target="/ppt/notesMasters/notesMaster1.xml" Id="R0dfe4e10455d449b"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b4fa2330f6f84f5a" /><Relationship Type="http://schemas.openxmlformats.org/officeDocument/2006/relationships/notesMaster" Target="/ppt/notesMasters/notesMaster1.xml" Id="Rc7c50f5832474ab2"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c895f19ef7c546af" /><Relationship Type="http://schemas.openxmlformats.org/officeDocument/2006/relationships/notesMaster" Target="/ppt/notesMasters/notesMaster1.xml" Id="Rfd2ba9702fb44eab"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e11c6de58a23436b" /><Relationship Type="http://schemas.openxmlformats.org/officeDocument/2006/relationships/notesMaster" Target="/ppt/notesMasters/notesMaster1.xml" Id="R2686c01946e74f17"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45beb140e7584c78" /><Relationship Type="http://schemas.openxmlformats.org/officeDocument/2006/relationships/notesMaster" Target="/ppt/notesMasters/notesMaster1.xml" Id="R1c44a84a13f54191"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8cf1db05ef6f407e" /><Relationship Type="http://schemas.openxmlformats.org/officeDocument/2006/relationships/notesMaster" Target="/ppt/notesMasters/notesMaster1.xml" Id="R9b7e43f6ec204492"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d56fd59991c449a4" /><Relationship Type="http://schemas.openxmlformats.org/officeDocument/2006/relationships/notesMaster" Target="/ppt/notesMasters/notesMaster1.xml" Id="R656002c1109f42e6"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dfccf68ae20147da" /><Relationship Type="http://schemas.openxmlformats.org/officeDocument/2006/relationships/notesMaster" Target="/ppt/notesMasters/notesMaster1.xml" Id="R4c6d6fbb7630488f"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ac50a2bbe50b4b7b" /><Relationship Type="http://schemas.openxmlformats.org/officeDocument/2006/relationships/notesMaster" Target="/ppt/notesMasters/notesMaster1.xml" Id="R9d9795dc14f84046"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a0772b168ba845f3" /><Relationship Type="http://schemas.openxmlformats.org/officeDocument/2006/relationships/notesMaster" Target="/ppt/notesMasters/notesMaster1.xml" Id="Rae13740d79a14a98"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cd0c341b9ffb4e20" /><Relationship Type="http://schemas.openxmlformats.org/officeDocument/2006/relationships/notesMaster" Target="/ppt/notesMasters/notesMaster1.xml" Id="R80592e1495424104"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e6d32bca3f394405" /><Relationship Type="http://schemas.openxmlformats.org/officeDocument/2006/relationships/notesMaster" Target="/ppt/notesMasters/notesMaster1.xml" Id="R28e024a2d21f4f4e"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1e82d98e57a14e50" /><Relationship Type="http://schemas.openxmlformats.org/officeDocument/2006/relationships/notesMaster" Target="/ppt/notesMasters/notesMaster1.xml" Id="R38552f732a4d4dbb"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2a36a32459394134" /><Relationship Type="http://schemas.openxmlformats.org/officeDocument/2006/relationships/notesMaster" Target="/ppt/notesMasters/notesMaster1.xml" Id="Rc87669b798244824"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f5b2704b7d234f58" /><Relationship Type="http://schemas.openxmlformats.org/officeDocument/2006/relationships/notesMaster" Target="/ppt/notesMasters/notesMaster1.xml" Id="R5b33cef00ad04811"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de3f3f9e930c4bb2" /><Relationship Type="http://schemas.openxmlformats.org/officeDocument/2006/relationships/notesMaster" Target="/ppt/notesMasters/notesMaster1.xml" Id="R7090fb73d7f8407c"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fd59d875d1564416" /><Relationship Type="http://schemas.openxmlformats.org/officeDocument/2006/relationships/notesMaster" Target="/ppt/notesMasters/notesMaster1.xml" Id="Rca56b1b9fd2448cd"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c55b0a96dc1344c1" /><Relationship Type="http://schemas.openxmlformats.org/officeDocument/2006/relationships/notesMaster" Target="/ppt/notesMasters/notesMaster1.xml" Id="R933e965e42824cf7"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0440c557cb7e400e" /><Relationship Type="http://schemas.openxmlformats.org/officeDocument/2006/relationships/notesMaster" Target="/ppt/notesMasters/notesMaster1.xml" Id="R4182800167f34a1a"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6ac510681be14d59" /><Relationship Type="http://schemas.openxmlformats.org/officeDocument/2006/relationships/notesMaster" Target="/ppt/notesMasters/notesMaster1.xml" Id="R50600adc7865481f"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c75f7abbd4ed4cc9" /><Relationship Type="http://schemas.openxmlformats.org/officeDocument/2006/relationships/notesMaster" Target="/ppt/notesMasters/notesMaster1.xml" Id="Rb7ece3a0b27a4065"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2d018207cee34c48" /><Relationship Type="http://schemas.openxmlformats.org/officeDocument/2006/relationships/notesMaster" Target="/ppt/notesMasters/notesMaster1.xml" Id="R2ea5d1cd10ee4834"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0a6717a534d946e5" /><Relationship Type="http://schemas.openxmlformats.org/officeDocument/2006/relationships/notesMaster" Target="/ppt/notesMasters/notesMaster1.xml" Id="Rbe4e3ddf0d5246b5"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a67be1bc4f474a3f" /><Relationship Type="http://schemas.openxmlformats.org/officeDocument/2006/relationships/notesMaster" Target="/ppt/notesMasters/notesMaster1.xml" Id="R65611e3f67be4dcd"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3165eb41a7924612" /><Relationship Type="http://schemas.openxmlformats.org/officeDocument/2006/relationships/notesMaster" Target="/ppt/notesMasters/notesMaster1.xml" Id="R9d0b3462b4034ba7"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6039d292c37a4b67" /><Relationship Type="http://schemas.openxmlformats.org/officeDocument/2006/relationships/notesMaster" Target="/ppt/notesMasters/notesMaster1.xml" Id="R94c656c2857347e4"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584e136ffb6b4a17" /><Relationship Type="http://schemas.openxmlformats.org/officeDocument/2006/relationships/notesMaster" Target="/ppt/notesMasters/notesMaster1.xml" Id="R9f18477243414fdc"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2768df9d20574203" /><Relationship Type="http://schemas.openxmlformats.org/officeDocument/2006/relationships/notesMaster" Target="/ppt/notesMasters/notesMaster1.xml" Id="R6abc3410c6c24e63"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782c206210df4678" /><Relationship Type="http://schemas.openxmlformats.org/officeDocument/2006/relationships/notesMaster" Target="/ppt/notesMasters/notesMaster1.xml" Id="Rf86a8b9a13b44331"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abfdb6b1e2cf4ece" /><Relationship Type="http://schemas.openxmlformats.org/officeDocument/2006/relationships/notesMaster" Target="/ppt/notesMasters/notesMaster1.xml" Id="R4db7de904185468a"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10891b2264ce40c5" /><Relationship Type="http://schemas.openxmlformats.org/officeDocument/2006/relationships/notesMaster" Target="/ppt/notesMasters/notesMaster1.xml" Id="R2066524fa52f40c0"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1d1aee8e29a64c2e" /><Relationship Type="http://schemas.openxmlformats.org/officeDocument/2006/relationships/notesMaster" Target="/ppt/notesMasters/notesMaster1.xml" Id="R08344041b94e41c8"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b60b9d23f9ba4c0d" /><Relationship Type="http://schemas.openxmlformats.org/officeDocument/2006/relationships/notesMaster" Target="/ppt/notesMasters/notesMaster1.xml" Id="R2e9ebad49c2246f5"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6472486f45294411" /><Relationship Type="http://schemas.openxmlformats.org/officeDocument/2006/relationships/notesMaster" Target="/ppt/notesMasters/notesMaster1.xml" Id="Rc5ab0a1d42e94361"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698b4d2afebb4c0f" /><Relationship Type="http://schemas.openxmlformats.org/officeDocument/2006/relationships/notesMaster" Target="/ppt/notesMasters/notesMaster1.xml" Id="R6eb7105010c042e4"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7c1ab96a5ae545b2" /><Relationship Type="http://schemas.openxmlformats.org/officeDocument/2006/relationships/notesMaster" Target="/ppt/notesMasters/notesMaster1.xml" Id="Rcd44595357b547a7"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f0ac2f3928af4f1d" /><Relationship Type="http://schemas.openxmlformats.org/officeDocument/2006/relationships/notesMaster" Target="/ppt/notesMasters/notesMaster1.xml" Id="Ra0640306623c4ac1"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6f271a36d71549f8" /><Relationship Type="http://schemas.openxmlformats.org/officeDocument/2006/relationships/notesMaster" Target="/ppt/notesMasters/notesMaster1.xml" Id="Rf20cb4b8ca9d489b"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583325b3f9694e6e" /><Relationship Type="http://schemas.openxmlformats.org/officeDocument/2006/relationships/notesMaster" Target="/ppt/notesMasters/notesMaster1.xml" Id="Rebeab11bfd874999"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2cab565e73ba4aa6" /><Relationship Type="http://schemas.openxmlformats.org/officeDocument/2006/relationships/notesMaster" Target="/ppt/notesMasters/notesMaster1.xml" Id="Rb49875c6c0e14577"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acd1d8577d5f435d" /><Relationship Type="http://schemas.openxmlformats.org/officeDocument/2006/relationships/notesMaster" Target="/ppt/notesMasters/notesMaster1.xml" Id="R35325b7591af43fc"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2728721aa0194afe" /><Relationship Type="http://schemas.openxmlformats.org/officeDocument/2006/relationships/notesMaster" Target="/ppt/notesMasters/notesMaster1.xml" Id="Rb013ae37dddc4e29"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c53dd1c8197f4fc7" /><Relationship Type="http://schemas.openxmlformats.org/officeDocument/2006/relationships/notesMaster" Target="/ppt/notesMasters/notesMaster1.xml" Id="R24f2f73cb0ff4aa1"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d6220c038ead478c" /><Relationship Type="http://schemas.openxmlformats.org/officeDocument/2006/relationships/notesMaster" Target="/ppt/notesMasters/notesMaster1.xml" Id="R912a66216dde43a7"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2ff55c388a4043e5" /><Relationship Type="http://schemas.openxmlformats.org/officeDocument/2006/relationships/notesMaster" Target="/ppt/notesMasters/notesMaster1.xml" Id="Reda4e2f44f56439c"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07dd930975964879" /><Relationship Type="http://schemas.openxmlformats.org/officeDocument/2006/relationships/notesMaster" Target="/ppt/notesMasters/notesMaster1.xml" Id="R4216937e0d0b40ad"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aca0c28d29f749cb" /><Relationship Type="http://schemas.openxmlformats.org/officeDocument/2006/relationships/notesMaster" Target="/ppt/notesMasters/notesMaster1.xml" Id="R2a90ec101a174d76"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f768a1e426844898" /><Relationship Type="http://schemas.openxmlformats.org/officeDocument/2006/relationships/notesMaster" Target="/ppt/notesMasters/notesMaster1.xml" Id="R9586c2ea83724522"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b30c97cb3cc845a2" /><Relationship Type="http://schemas.openxmlformats.org/officeDocument/2006/relationships/notesMaster" Target="/ppt/notesMasters/notesMaster1.xml" Id="Rcba4626937c14cd9"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d0d2639ac0ca4b90" /><Relationship Type="http://schemas.openxmlformats.org/officeDocument/2006/relationships/notesMaster" Target="/ppt/notesMasters/notesMaster1.xml" Id="Rcb2acebf9c5a417f"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91b5e0e98d984856" /><Relationship Type="http://schemas.openxmlformats.org/officeDocument/2006/relationships/notesMaster" Target="/ppt/notesMasters/notesMaster1.xml" Id="R052f78ba83d444ff"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7dd79f491b8b4e4b" /><Relationship Type="http://schemas.openxmlformats.org/officeDocument/2006/relationships/notesMaster" Target="/ppt/notesMasters/notesMaster1.xml" Id="Rdb7016fedf8c4b4c"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45c72f16a7dd4a37" /><Relationship Type="http://schemas.openxmlformats.org/officeDocument/2006/relationships/notesMaster" Target="/ppt/notesMasters/notesMaster1.xml" Id="R775bf630280c4f54"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4c198f0efe7c4ca7" /><Relationship Type="http://schemas.openxmlformats.org/officeDocument/2006/relationships/notesMaster" Target="/ppt/notesMasters/notesMaster1.xml" Id="R175564480e1d49e2"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c1c7a8550f094f8a" /><Relationship Type="http://schemas.openxmlformats.org/officeDocument/2006/relationships/notesMaster" Target="/ppt/notesMasters/notesMaster1.xml" Id="R7a8ef08370214da4"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27130a6aa9de4995" /><Relationship Type="http://schemas.openxmlformats.org/officeDocument/2006/relationships/notesMaster" Target="/ppt/notesMasters/notesMaster1.xml" Id="Rd3d61e91901b44fb"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d4866d9198364172" /><Relationship Type="http://schemas.openxmlformats.org/officeDocument/2006/relationships/notesMaster" Target="/ppt/notesMasters/notesMaster1.xml" Id="Rdb921485410e479f"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77f51cd4d1df4dfc" /><Relationship Type="http://schemas.openxmlformats.org/officeDocument/2006/relationships/notesMaster" Target="/ppt/notesMasters/notesMaster1.xml" Id="Reaad7472e6484292"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2995d1fb05804f02" /><Relationship Type="http://schemas.openxmlformats.org/officeDocument/2006/relationships/notesMaster" Target="/ppt/notesMasters/notesMaster1.xml" Id="R7eb5552736a64bfc"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5566f9957c924ddf" /><Relationship Type="http://schemas.openxmlformats.org/officeDocument/2006/relationships/notesMaster" Target="/ppt/notesMasters/notesMaster1.xml" Id="Ra1eb34babfc1429c"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86e82da9576641c9" /><Relationship Type="http://schemas.openxmlformats.org/officeDocument/2006/relationships/notesMaster" Target="/ppt/notesMasters/notesMaster1.xml" Id="R74d3e7ebfe1447bf"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44aaef0d46b54dfa" /><Relationship Type="http://schemas.openxmlformats.org/officeDocument/2006/relationships/notesMaster" Target="/ppt/notesMasters/notesMaster1.xml" Id="R49d0c68bab2e470c"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b73c3006674143d7" /><Relationship Type="http://schemas.openxmlformats.org/officeDocument/2006/relationships/notesMaster" Target="/ppt/notesMasters/notesMaster1.xml" Id="Rbdec59b01d734e5b"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ada5e1969810409f" /><Relationship Type="http://schemas.openxmlformats.org/officeDocument/2006/relationships/notesMaster" Target="/ppt/notesMasters/notesMaster1.xml" Id="R12ed11267cca423b"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cff56cd6017a4b36" /><Relationship Type="http://schemas.openxmlformats.org/officeDocument/2006/relationships/notesMaster" Target="/ppt/notesMasters/notesMaster1.xml" Id="R234f9d39274d4e7d"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bfb9231e37f54571" /><Relationship Type="http://schemas.openxmlformats.org/officeDocument/2006/relationships/notesMaster" Target="/ppt/notesMasters/notesMaster1.xml" Id="R96632774f6544777"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5d6084682a0042e4" /><Relationship Type="http://schemas.openxmlformats.org/officeDocument/2006/relationships/notesMaster" Target="/ppt/notesMasters/notesMaster1.xml" Id="Rdc06b523fdc74bea"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37eeb8b9e7b745e5" /><Relationship Type="http://schemas.openxmlformats.org/officeDocument/2006/relationships/notesMaster" Target="/ppt/notesMasters/notesMaster1.xml" Id="R16caff0ebc3b4709"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d19c61e7937c4cb6" /><Relationship Type="http://schemas.openxmlformats.org/officeDocument/2006/relationships/notesMaster" Target="/ppt/notesMasters/notesMaster1.xml" Id="R7ae3c049bf0346e3"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193ba7cdc3b14ec7" /><Relationship Type="http://schemas.openxmlformats.org/officeDocument/2006/relationships/notesMaster" Target="/ppt/notesMasters/notesMaster1.xml" Id="Rfbd7018be74b47bd"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3dea2b4a47ae4709" /><Relationship Type="http://schemas.openxmlformats.org/officeDocument/2006/relationships/notesMaster" Target="/ppt/notesMasters/notesMaster1.xml" Id="R8136c046324d4479"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162f6751db344712" /><Relationship Type="http://schemas.openxmlformats.org/officeDocument/2006/relationships/notesMaster" Target="/ppt/notesMasters/notesMaster1.xml" Id="Rf16e44328a3f42d5"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95d6b065ea3c47ba" /><Relationship Type="http://schemas.openxmlformats.org/officeDocument/2006/relationships/notesMaster" Target="/ppt/notesMasters/notesMaster1.xml" Id="R4de439addb174bd7"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872d138171684b64" /><Relationship Type="http://schemas.openxmlformats.org/officeDocument/2006/relationships/notesMaster" Target="/ppt/notesMasters/notesMaster1.xml" Id="Re27e8e7503364416" /></Relationships>
</file>

<file path=ppt/notesSlides/_rels/notesSlide173.xml.rels>&#65279;<?xml version="1.0" encoding="utf-8"?><Relationships xmlns="http://schemas.openxmlformats.org/package/2006/relationships"><Relationship Type="http://schemas.openxmlformats.org/officeDocument/2006/relationships/slide" Target="/ppt/slides/slide173.xml" Id="R6326516932454496" /><Relationship Type="http://schemas.openxmlformats.org/officeDocument/2006/relationships/notesMaster" Target="/ppt/notesMasters/notesMaster1.xml" Id="Rab9f658711a34275" /></Relationships>
</file>

<file path=ppt/notesSlides/_rels/notesSlide174.xml.rels>&#65279;<?xml version="1.0" encoding="utf-8"?><Relationships xmlns="http://schemas.openxmlformats.org/package/2006/relationships"><Relationship Type="http://schemas.openxmlformats.org/officeDocument/2006/relationships/slide" Target="/ppt/slides/slide174.xml" Id="R8e9650f9c6894a03" /><Relationship Type="http://schemas.openxmlformats.org/officeDocument/2006/relationships/notesMaster" Target="/ppt/notesMasters/notesMaster1.xml" Id="Rd2c76fa741f44495" /></Relationships>
</file>

<file path=ppt/notesSlides/_rels/notesSlide175.xml.rels>&#65279;<?xml version="1.0" encoding="utf-8"?><Relationships xmlns="http://schemas.openxmlformats.org/package/2006/relationships"><Relationship Type="http://schemas.openxmlformats.org/officeDocument/2006/relationships/slide" Target="/ppt/slides/slide175.xml" Id="R7c5e184ecfca4619" /><Relationship Type="http://schemas.openxmlformats.org/officeDocument/2006/relationships/notesMaster" Target="/ppt/notesMasters/notesMaster1.xml" Id="Ref553ba371254454" /></Relationships>
</file>

<file path=ppt/notesSlides/_rels/notesSlide176.xml.rels>&#65279;<?xml version="1.0" encoding="utf-8"?><Relationships xmlns="http://schemas.openxmlformats.org/package/2006/relationships"><Relationship Type="http://schemas.openxmlformats.org/officeDocument/2006/relationships/slide" Target="/ppt/slides/slide176.xml" Id="R68b7d6837dfb4a20" /><Relationship Type="http://schemas.openxmlformats.org/officeDocument/2006/relationships/notesMaster" Target="/ppt/notesMasters/notesMaster1.xml" Id="Rb32f1ddd1b344f79" /></Relationships>
</file>

<file path=ppt/notesSlides/_rels/notesSlide177.xml.rels>&#65279;<?xml version="1.0" encoding="utf-8"?><Relationships xmlns="http://schemas.openxmlformats.org/package/2006/relationships"><Relationship Type="http://schemas.openxmlformats.org/officeDocument/2006/relationships/slide" Target="/ppt/slides/slide177.xml" Id="R4982aeaf03b04dda" /><Relationship Type="http://schemas.openxmlformats.org/officeDocument/2006/relationships/notesMaster" Target="/ppt/notesMasters/notesMaster1.xml" Id="R591c905b29514853" /></Relationships>
</file>

<file path=ppt/notesSlides/_rels/notesSlide178.xml.rels>&#65279;<?xml version="1.0" encoding="utf-8"?><Relationships xmlns="http://schemas.openxmlformats.org/package/2006/relationships"><Relationship Type="http://schemas.openxmlformats.org/officeDocument/2006/relationships/slide" Target="/ppt/slides/slide178.xml" Id="R805b5050eed64d57" /><Relationship Type="http://schemas.openxmlformats.org/officeDocument/2006/relationships/notesMaster" Target="/ppt/notesMasters/notesMaster1.xml" Id="R346d043199134a97" /></Relationships>
</file>

<file path=ppt/notesSlides/_rels/notesSlide179.xml.rels>&#65279;<?xml version="1.0" encoding="utf-8"?><Relationships xmlns="http://schemas.openxmlformats.org/package/2006/relationships"><Relationship Type="http://schemas.openxmlformats.org/officeDocument/2006/relationships/slide" Target="/ppt/slides/slide179.xml" Id="R1f2f3ea790104b2d" /><Relationship Type="http://schemas.openxmlformats.org/officeDocument/2006/relationships/notesMaster" Target="/ppt/notesMasters/notesMaster1.xml" Id="R2752aedb2e584e60" /></Relationships>
</file>

<file path=ppt/notesSlides/_rels/notesSlide180.xml.rels>&#65279;<?xml version="1.0" encoding="utf-8"?><Relationships xmlns="http://schemas.openxmlformats.org/package/2006/relationships"><Relationship Type="http://schemas.openxmlformats.org/officeDocument/2006/relationships/slide" Target="/ppt/slides/slide180.xml" Id="R0938b47c095a4703" /><Relationship Type="http://schemas.openxmlformats.org/officeDocument/2006/relationships/notesMaster" Target="/ppt/notesMasters/notesMaster1.xml" Id="R3c12849bd7ed4e95" /></Relationships>
</file>

<file path=ppt/notesSlides/_rels/notesSlide181.xml.rels>&#65279;<?xml version="1.0" encoding="utf-8"?><Relationships xmlns="http://schemas.openxmlformats.org/package/2006/relationships"><Relationship Type="http://schemas.openxmlformats.org/officeDocument/2006/relationships/slide" Target="/ppt/slides/slide181.xml" Id="R280e23c0bb404aef" /><Relationship Type="http://schemas.openxmlformats.org/officeDocument/2006/relationships/notesMaster" Target="/ppt/notesMasters/notesMaster1.xml" Id="R299d46c67e0d4f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generated artwork. Original framework supplied by user. Educational simulation; no certification or operational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forward deployed engineer works close to the people who bear the consequences of a system. The responsibility extends from understanding an ambiguous request to helping the operation adopt a useful change. Technical work remains essential. The difference is the boundary of ownership: a deployed feature is an intermediate milestone. An outcome requires observable workflow change, a responsible operator, and evidence collected after adoption. Keep these boundaries visible when stakeholders celebrate a successful demonstration.</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Northstar Support asks for an AI assistant. Twenty agents handle access, billing, and incident tickets. A polished demo receives applause, but agents still copy tickets into a spreadsheet. The deployer has delivered software while the operating workflow remains unchanged.</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one statement describing the delivery milestone and another describing the operating outcome. Name who could verify each.</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the authorized reviewer can load a ticket and inspect a routing suggestion. Outcome: agents use that suggestion in their actual queue, with lower review time and no increase in misrouting. The engineering lead verifies delivery. Maya, the support lead, owns adoption evidence. A screenshot supports the first statement; a defined observation period and review records support the second.</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Which evidence best supports an adopted outcome? A. A successful demo B. Observed workflow use and predefined outcome measures C. A completed code review. The best answer is B. A demo and a code review show intermediate delivery evidence. Adoption requires behavior and operating measures.</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framework gives six postures: own the outcome, stay close to reality, act to learn, know what you know, trade off on purpose, and leave capability behind. Apply them to an actual choice. Ask whose result matters, what you observed, which experiment reduces uncertainty, which claims remain assumptions, what risk you are accepting, and what will remain useful when you leave. A principle becomes practical when it changes scope, evidence, authority, or sequencing.</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sponsor requests automatic replies this Friday. You have permission to analyze synthetic tickets but no authority to send customer messages. Maya agrees to test suggestions with human review. The security reviewer has not assessed production data access.</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 a Friday deliverable. Explain its learning value, authority boundary, and reusable output.</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 one synthetic ticket flowing through a routing rule, a review screen, and an observable decision. Record a prediction about review usefulness. Do not send messages. Keep the data validation and audit helper reusable. This accepts limited scope and avoids committing the organization to an unreviewed action channel. It also creates a measurable question for the next experiment.</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Which choice respects the permission boundary? A. Send replies because the sponsor requested speed B. Use production data without telling security C. Test a reviewable suggestion with permitted data. The best answer is C. Speed does not expand authority. The permitted experiment still produces useful evidence.</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eight capabilities cover discovery, signal extraction, systems thinking, technical breadth, delivery judgment, translation and trust, shipped learning, and ownership and compounding. Treat these as observable behaviors. A portfolio should show the problem you clarified, a complete working path, a consequential trade-off, a prediction made before action, and a reusable contribution. Self-ratings identify practice priorities. They do not independently verify readiness or replace evidence from work.</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can implement APIs quickly but have never observed users after rollout. Another learner writes strong discovery notes but cannot get data to a usable screen. Both have a specific practice gap, rather than one overall score that explains everything.</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your weakest capability. Define a behavior that another person could observe and a course artifact that demonstrates it.</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adoption ownership, the behavior is scheduling and conducting an outcome reading with the operating owner. The artifact is a dated adoption record with actual usage, exception handling, and a decision. For technical breadth, demonstrate the input-to-output flow and diagnose a failed request. The capability equation in the source is a teaching heuristic, not a validated numerical performance formula.</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makes a capability claim stronger? A. A high self-rating B. A behavior someone else can verify C. Memorizing the framework. The best answer is B. Independent observation is stronger than confidence alone.</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course uses fictional evidence and a local prototype. You will practice a complete delivery loop while maintaining the distinction between simulated and field evidence. Each lesson produces something that feeds the next decision. Keep a dated journal, store your first prediction before examining later evidence, and separate your submission from the worked solution. Completion can demonstrate learning in this environment. Production competence also requires experience with real constraints, users, ownership, and consequences.</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Northstar has a fictional baseline of 20 minutes per ticket review. A later sample reports 12 minutes. These values exist for practicing measurement and judgment. They are neither market benchmarks nor promises about AI productivity.</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 a dated learning journal with headings for evidence, assumptions, predictions, observed results, and decisions.</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first entry says: known within the case, twenty agents handle three ticket categories. Assumed, routing suggestions will save review time. Unknown, whether agents will use them consistently. Next action, observe a simulated review and test one end-to-end suggestion. No real customer outcome has been established. Preserve this entry when later evidence changes your view.</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should you describe the sample numbers? A. Verified industry benchmarks B. Guaranteed productivity gains C. Fictional data for an exercise. The best answer is C. The case is an educational simulation. Do not convert its values into commercial proof.</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Recon starts with hypotheses and questions. Convert the request into the decision it creates. Identify who can decide, who experiences consequences, who knows the workflow, and who benefits. These roles often belong to different people. Find previous attempts before proposing a solution. Distinguish physical constraints from political conditions and habits. A habit may change. A permission requirement still governs your action even when it is organizational rather than physical.</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sponsor says, build AI. Maya says, reduce repeated triage. Luis owns the ticket API. Priya approves data access. Agents explain why the previous automation failed: it sent plausible but incorrect replies and increased their checking work.</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a draft decision statement and five discovery questions. Keep the proposed solution provisional.</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should Northstar test routing assistance to reduce review effort while preserving human approval? Ask where review time accumulates, how categories are chosen, what caused prior errors, who can authorize data, and how success will be observed. This draft can change during immersion. It is narrower and more testable than a commitment to an AI assistant.</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Which is a useful Recon output? A. A provisional decision and questions B. A fixed architecture C. A promised savings figure. The best answer is A. Recon supplies a starting hypothesis for field investigation.</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Immerse follows actual work. Trace one item from origin to decision and identify handoffs, re-entry, waiting, and exception handling. Ask an operator to show the task and attempt a permitted version yourself. Observe what happens before and after the proposed solution. An integration can succeed technically while adding another queue or another confirmation step. Capture the entire workflow boundary so local improvement does not hide additional work elsewhere.</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reads a ticket, looks up the account, checks a category sheet, assigns a queue, and records the reason. Copying takes two minutes, but waiting for permission can take a day. The two delays require different interventions.</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Draw the workflow as ordered steps. Mark a delay, a handoff, a duplicate entry, and an exception.</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working map includes intake, account lookup, category selection, queue assignment, and decision recording. A permission delay belongs to access governance. Repeated category lookup belongs to routing assistance. Keep both visible, but test one uncertainty first. A tool that saves lookup time should not claim it removed the permission delay.</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trace the steps after the new tool? A. To add more features B. To identify displaced work and downstream effects C. To avoid talking to operators. The best answer is B. Systems thinking checks the complete workflow consequence.</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Tag important claims by evidence status. Known means supported within the available evidence and scope. Assumed means temporarily used to proceed. Unknown means material information remains missing. Attach a source and date to known claims. Identify a test and owner for important assumptions. Conflicting accounts stay visible until you understand differences in context or authority. The observed-versus-reported distinction helps investigation, but one observation does not establish universal behavior.</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 says everyone uses the category sheet. A shift observation shows three agents using private notes instead. API documents describe a current endpoint, but Luis says its production permissions are still pending.</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Tag four claims and identify the next test for the largest uncertainty.</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Known in this observed shift: three agents used private notes. Reported: Maya believes the sheet is universal. Unknown: usage across other shifts. Known from Luis: production access is pending, subject to confirmation by Priya. Next test: observe another shift and compare category sources. Avoid rewriting the statement as nobody uses the sheet.</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does one observed shift establish? A. The behavior observed in that shift B. All agents always act that way C. The manager is dishonest. The best answer is A. Keep the claim proportional to its evidence.</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Site Map joins decision, people, process, technology, data, constraints, incentives, and history. Recon creates version zero. Immerse checks it and produces version one. Include verification status rather than filling gaps with plausible detail. Incentives deserve explicit attention: automation may remove visible work while increasing accountability or perceived job risk. The map is a decision aid, so emphasize dependencies that affect the proposed experiment and who can resolve them.</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Agents fear that faster triage will become an individual performance target. Maya wants reliable routing. Priya needs a data boundary. Luis needs a documented fallback. These interests shape adoption even if the same software works for everyone.</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all eight Site Map fields. Leave unresolved facts explicitly unknown and attach a next action.</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map names Maya as workflow owner, Priya as access approver, and Luis as API maintainer. It records synthetic data as the course boundary, human approval as a fixed experimental condition, private notes as an observed behavior, and production permissions as unresolved. The next action is an operator review of the frame before any production integration.</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belongs in an unresolved field? A. A plausible invented answer B. Nothing, so the map looks complete C. Unknown, owner, and verification action. The best answer is C. Visible uncertainty makes the map actionable.</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Frame Card outcome names a user, a workflow, its current condition, a desired condition, a metric, and constraints. Co-author it with the operator. Use a measure the operator recognizes and define its denominator. Separate desired outcome from the technology proposed to achieve it. A frame that says deploy AI specifies a solution. A frame that says reduce review time while preserving routing quality leaves room to choose the simplest useful intervention.</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fictional baseline is a median of 20 minutes across twelve simulated reviews. The team proposes a median no greater than 14 minutes for an equivalent assisted sample, with at most one misroute per twelve decisions. These are exercise thresholds agreed before reading results.</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the outcome line and define review time, sample size, and routing error.</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support agents, improve ticket review from a median of 20 to at most 14 minutes, measured on twelve comparable simulated tasks, while keeping human approval and no more than one wrong queue. Review time starts when the reviewer opens the ticket and ends at a saved decision. Wrong queue means disagreement with the case reference label after adjudication.</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Which frame preserves solution choice? A. Deploy an AI agent B. Reduce defined review time under quality constraints C. Use the newest model. The best answer is B. An outcome frame allows competing interventions.</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bet connects a hypothesis to the smallest action and evidence that would change your mind. State it before acting. A falsifiable bet names the uncertainty rather than promising a win. Define stop conditions as well as desired performance. Practical stop conditions may include unsafe actions, unusable data, insufficient authorization, or user rejection. Record who can make the gate decision and what happens when evidence is mixed.</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hypothesis is that repeated category lookup causes avoidable review effort. A routing suggestion tests that mechanism. An automatic-reply generator changes a different part of the workflow and introduces additional risk.</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a bet, a smallest action, and two pieces of evidence that would change your decision.</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category lookup dominates effort, a reviewable suggestion should reduce defined review time. Test one ticket category with twelve simulated tasks. Change direction if the suggestion creates more checking work or breaches the agreed error limit. Stop immediately if it sends a message without approval. A failed hypothesis can still be a successful learning experiment.</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should you define disconfirming evidence? A. Before the experiment B. After seeing the results C. Only if the sponsor asks. The best answer is A. Precommitment reduces moving the goalposts.</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outcome measure needs companion guardrails. Review speed alone can reward careless routing. Define quality, exceptions, coverage, and workload as appropriate. Keep the analysis unit consistent and compare similar tasks. A small synthetic sample supports a course decision, not a population estimate. Calculate improvement transparently and state whether it represents capacity, cost, or another benefit. Time released becomes cash savings only through an additional organizational mechanism.</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change from 20 to 12 minutes is eight minutes less per review and a 40 percent reduction in the sample median. It does not establish a 40 percent reduction in staffing cost. Two wrong queues in twelve tasks would violate the case quality threshold.</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Calculate relative improvement and write one supported claim and one claim the evidence cannot support.</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calculation is twenty minus twelve, divided by twenty, which equals forty percent. Supported: median review time fell in this synthetic comparison. Unsupported: payroll fell by forty percent. Add sample size and error rate to the report. If time falls but errors exceed the guardrail, iterate rather than land.</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does released review time establish directly? A. A guaranteed reduction in payroll B. Time capacity in the measured scope C. Universal model accuracy. The best answer is B. Financial realization is a separate claim requiring evidence.</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confirms the frame in their own words. Review the workflow boundary, measurement definition, fixed constraints, proposed experiment, and decision authority. Disagreement is useful evidence. Record exclusions so nobody mistakes a local test for a production commitment. Keep the initial frame version when you revise it. If conditions change before acting, document the change and obtain the relevant agreement within the simulated engagement.</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 approves assisted routing for access tickets. Priya approves only synthetic data. The sponsor still expects automatic replies. Your decision record must expose this difference before anyone calls the experiment a customer deployment.</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a scope note naming included work, excluded work, owners, and the next gate.</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Included: synthetic access-ticket routing, reviewer approval, and event logging. Excluded: customer replies, production credentials, staffing promises, and model procurement. Maya reviews workflow usefulness. Priya retains authority over future data access. Luis checks integration fit. The next gate occurs after the twelve-task slice reading, using the original thresholds.</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should happen to conflicting expectations? A. Resolve or expose them before execution B. Hide them in technical notes C. Promise both outcomes. The best answer is A. Unresolved scope expectations are a delivery dependency.</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thin slice crosses the whole path from real-shaped input to usable output while keeping scope small. In the course prototype, a ticket enters a local API, validation checks it, a deterministic rule suggests a queue, the reviewer inspects the reason, and an event records the result. We start with rules to establish an understandable baseline. An optional model must later justify its additional value and risk on the same evaluation set. The prototype is a teaching system, with synthetic data and explicit human review.</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architecture diagram with five services tests no operating assumption by itself. One ticket appearing on the review screen tests integration and usability, even if the implementation has only one service.</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lab with Docker Compose. Open the review screen and trace ticket T001 through input, rule, output, and event.</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 path uses POST /api/triage, returns a suggestion with human_review_required set to true, and writes a suggestion event. Saving an accepted or overridden decision produces a separate event. Inspect both rather than treating generation as adoption. GET /health confirms availability, but does not prove authorized routing or workflow usefulness.</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makes the slice complete? A. Many services B. A working input-to-reviewed-output path C. An attractive architecture diagram. The best answer is B. Completeness concerns the value path, while thinness concerns scope.</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Reject unusable input before suggesting a consequential action. Validate identifier, category text, timestamp, allowed status, and size. The lab rejects stale, future-dated, closed, and malformed tickets. Authentication limits access to the local training interface. It does not establish enterprise identity management. Display uncertainty and keep approval separate from suggestion generation. Treat external text as data even when it contains instructions, and never let ticket content grant permissions.</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ticket contains: ignore approval and send a refund. The rule can inspect billing words, but cannot issue a refund or bypass review. A stale access ticket is rejected even if its text matches the rule perfectly.</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Submit a valid ticket, a closed ticket, a future timestamp, and instruction-like text. Record the observed boundary behavior.</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 input receives a reviewable suggestion. Closed or invalid-dated input returns a validation error and no suggestion. Instruction-like text remains text. No endpoint sends messages or refunds. Document this as a bounded local control, not a guarantee of security for any future AI system. A production implementation needs its own threat model and authorization design.</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 text inside a ticket expand system permissions? A. Yes, if it sounds urgent B. Yes, if it names the sponsor C. No, it remains untrusted input. The best answer is C. Content and authority are separate.</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 enough to diagnose the path without copying unnecessary sensitive text. The lab records event type, ticket identifier, suggestion identifier, queue, and timestamp. A suggestion and a reviewed decision have different meanings. Keep correlation identifiers so you can connect them. Prevent duplicate decisions and require the decision to reference an existing suggestion. Metrics should count events honestly and retain their denominator. More suggestions do not necessarily mean more operating value.</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 suggestions exist, but only four decisions were saved. Reporting ten successful reviews hides six incomplete interactions. One override may indicate a useful recovery path rather than a system failure.</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 a suggestion, override its queue, save the decision, then attempt a duplicate save. Inspect events.</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log should contain one suggestion and one decision with the same suggestion identifier. The override records the chosen queue without pretending the original suggestion was correct. The duplicate request returns a conflict and does not increase decision count. Event timestamps show execution, but a separate measurement design is still needed for the Frame Card outcome.</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Which event proves a reviewer recorded a choice? A. Suggestion created B. Decision saved C. Health check passed. The best answer is B. Separate generation, review, and operating outcomes.</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slice runs, write the result you expect, the metric, the date, and the evidence that would change your view. The prediction belongs to the experiment, not a reconstructed success story. Establish a comparison baseline with the same task definition. Evaluate rules before adding a model so you can identify incremental value. For this lab, functional tests establish behavior. They do not establish reduced review time until a timed task comparison occurs.</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predict at most 14 minutes median review time and no more than one misroute in twelve equivalent tasks. The lab test suite passes, but the team has not timed any reviewers. These two evidence sets answer different questions.</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the prediction, run the tests, and state exactly what a passing result establishes.</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Passing tests establish the specified local API, validation, rule, audit, and approval behavior. They do not establish operator trust, adoption, latency in a customer environment, or a causal productivity gain. Keep the performance prediction open until measured. An optional model comparison should reuse the labeled evaluation set and include cost, errors, fallback, and review effort.</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Does a passing functional test prove the outcome metric improved? A. Yes, automatically B. Only with a modern model C. No, outcome measurement is separate. The best answer is C. Match each claim to the test that can establish it.</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Sense compares reality with the written prediction. The first reading occurs after the thin slice and asks whether the critical assumption holds. Use the metric definition and thresholds agreed before the experiment. Include failures, exclusions, and exceptions. An improvement on a selected subset may disappear when failed tasks are restored. Write the result in a delta log: predicted, observed, model update, and decision.</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twelve-task assisted sample has a median of 12 minutes and one wrong queue. It meets the fictional speed and quality thresholds. Two additional unusable tickets were rejected before review and must be reported as exclusions.</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a delta entry that includes the sample denominator and excluded records.</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Predicted: median no greater than 14 with at most one misroute. Observed: median 12, one misroute across twelve eligible tasks, plus two rejected inputs. Update: routing assistance is promising within eligible tasks. Decision: prepare a controlled landing only after checklist gaps close. Do not generalize this synthetic result to all support work.</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should the report do with rejected inputs? A. Hide them B. Include them as successful reviews C. Report their count and exclusion reason. The best answer is C. Coverage and exclusions affect interpretation.</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gate decision converts evidence into action. Land when the critical assumption holds and remaining operational conditions are satisfied. Iterate when the mechanism remains plausible but a bounded defect needs correction. Pivot when evidence points toward a different problem or intervention. Stop when the approach lacks value or exceeds an unacceptable boundary. Explain the choice using evidence, risk, reversibility, and the next observable test.</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variants appear: speed improves but errors double; category assistance has no effect because account lookup dominates; and a prototype sends unauthorized replies. Each failure demands a different decision.</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Assign a gate decision to each variant and state the next action.</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Iterate on excessive routing errors if a specific correction can be tested safely. Pivot toward account lookup when evidence changes the problem mechanism. Stop unauthorized replies and restore the approval boundary before further testing. A stop can be temporary for recovery, but continuing unchanged would ignore the evidence.</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the correct response to an unauthorized action? A. Stop the action path and recover the boundary B. Ignore it if speed improved C. Change the metric. The best answer is A. A favorable average does not cancel an authority breach.</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before-and-after difference does not isolate causality. Changes in ticket mix, staffing, reviewer experience, incentives, or measurement can explain part of the result. Preserve task definitions and compare comparable samples. For stronger field evaluation, consider a staged or controlled design suitable for the workflow. In the course, arithmetic is verifiable but synthetic evidence cannot establish effectiveness in a real organization.</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assisted group receives only access tickets while the baseline includes complex incidents. The headline improvement looks larger, even though the samples answer different questions.</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Identify three alternative explanations and revise the comparison plan.</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Ticket complexity, reviewer experience, and time definition could explain the difference. Compare the same categories, similar reviewers, and identical start and end events. Report remaining uncertainty. A carefully qualified result is more useful than a precise improvement number with mismatched denominators.</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weakens a before-and-after comparison? A. A written metric definition B. Different task complexity across samples C. Reporting exclusions. The best answer is B. Comparable task conditions matter for interpretation.</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Sense occurs again after Land and an adoption period. The second reading asks whether the Frame Card outcome appears in the operator’s workflow. Distinguish available software, attempted use, reviewed decisions, and sustained use. Count eligible work rather than all work if the tool serves only one category. Examine overrides and abandonment alongside speed. The original prediction remains the comparison point unless a documented change occurred before the new test.</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weeks later, forty of one hundred eligible tickets use assistance. Completed assisted reviews remain faster, but adoption is below the pre-agreed 70 percent exercise threshold. The tool is available without achieving the full adoption target.</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the second delta entry and recommend the next gate decision.</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Observed adoption is forty percent, using eligible tickets as the denominator. Investigate friction and incentives with agents before scaling. Iterate on workflow fit while preserving quality checks. Do not erase the seventy percent threshold or report only the successful assisted subset. The second reading prevents a technically successful slice from becoming an unsupported outcome claim.</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does the second Sense reading evaluate? A. Only whether the code compiles B. Only prototype accuracy C. Outcome and adoption after landing. The best answer is C. The second reading checks the operating consequence over time.</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landing checklist covers reliability, observability, security, integration, usability, and adoption. Attach evidence to each item and name unresolved conditions. A passing health endpoint is one availability signal, not the whole reliability argument. A bearer token in a local lab is one boundary, not enterprise security approval. Keep the outcome measurement scheduled in Sense so the checklist does not quietly substitute technical readiness for realized value.</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validates inputs and logs decisions. It still lacks enterprise authentication, production persistence design, restore testing, retention policy, and customer-environment validation. These gaps matter even though local tests pass.</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the checklist with evidence, status, owner, and next action for each item.</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validation supports the course scope. Production security remains unapproved, restoration remains untested, and adoption remains a hypothesis. Maya owns usability and adoption. Luis owns integration and support design. Priya owns production access review. The landing decision is limited to the simulated environment until those conditions are resolved.</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Does the lab token establish enterprise security readiness? A. No, its scope is local training B. Yes, because authentication exists C. Yes, if the demo is fast. The best answer is A. Controls need evidence appropriate to their deployment environment.</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Landing requires someone on site who operates the system. Name the owner and clarify routine responsibilities, escalation, exceptions, and the authority to disable the workflow. Ownership is more than listing a person in a document. The person needs context, access, capability, and time. Keep your accountability through adoption while transferring practical capability rather than preserving dependence on you.</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 owns the queue, but Luis alone can restore the service. If Luis is unavailable, agents need a manual fallback and an escalation contact. A nominal owner without a recovery path cannot operate independently.</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an ownership table and a one-page runbook with a manual fallback.</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runbook describes availability checks, failed-request symptoms, the routing-rule version, manual category lookup, escalation to Luis, and the conditions for disabling assistance. Maya can make the disable decision within the agreed workflow authority. Priya controls data-access changes. A support rotation covers absence rather than making the original engineer the only responder.</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makes ownership operational? A. A name on a slide B. Authority, capability, access, and recovery instructions C. The engineer always being online. The best answer is B. Ownership must survive ordinary absence and failure.</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Adoption depends on the complete task, incentives, confidence, and support. Training alone will not fix an extra queue, unclear responsibility, or fear of punitive measurement. Observe the task again after rollout and ask where the new system adds effort. Provide a visible override and a safe fallback. Plan a defined adoption period with checkpoints and a denominator that reflects eligible work.</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Agents abandon the tool because they must copy the result back into the main queue. The suggestion is accurate, but the complete task takes longer. Maya also discovers agents think overrides will count against them.</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 two workflow changes and a small test for each.</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placing suggestions within the existing review step rather than a separate queue. Clarify that overrides are learning evidence during the pilot and observe whether behavior changes. Measure the complete task time and eligible-ticket adoption. Do not infer trust from positive survey comments alone when actual use remains low.</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Which signal most directly shows workflow adoption? A. Attendance at a training session B. A favorable sponsor quote C. Sustained use in eligible tasks. The best answer is C. Attendance is an input. Actual workflow use is behavior.</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Pace rollout by consequence and reversibility. Start with a permitted boundary, observe exceptions, and retain a known manual path. Define triggers for disable, rollback, and escalation before the incident. A backup is useful only if restoration works. For production, evaluate restoration, retention, monitoring, identity, and operating support in the actual environment. The course prototype intentionally demonstrates the questions without claiming all those controls are complete.</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API becomes unavailable during a shift. Agents can still use the category sheet. Maya disables assistance, Luis diagnoses the service, and the event enters the learning log. The team can continue operating while the feature recovers.</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a recovery trigger, immediate action, responsible owner, and evidence required to resume.</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Trigger: repeated failed requests or an unauthorized action. Immediate action: disable assistance and use manual review. Owner: Maya for workflow continuity and Luis for technical recovery. Resume only after the relevant fault is corrected, boundary tests pass, and the owner confirms readiness. A production recovery drill would need the real environment and approved operating procedures.</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should be defined before rollout? A. Disable triggers and a manual fallback B. A guaranteed zero-failure promise C. An assumption that the owner is always available. The best answer is A. Recovery design is part of readiness.</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Distill separates the transferable principle from the local implementation. Ask which conditions made the intervention useful and which conditions limited it. A reusable pattern names those conditions, the mechanism, and the evidence boundary. Copying the entire previous architecture creates an imperial playbook. A principle becomes more useful when another site can test it without inheriting assumptions that belonged only to the original environment.</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Northstar benefited from reviewable category suggestions. A warehouse needs exception handling, not support queues. The reusable idea is embedding a reviewable suggestion in the existing decision step, while the category rule remains local.</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one conditional pattern and name two conditions that require retesting elsewhere.</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repetitive classification consumes effort and operators retain decision authority, a suggestion embedded in the existing review step may reduce lookup work. Retest category stability and operator incentives at the new site. The course evidence supports this as a hypothesis for transfer, not a universal rule about AI deployment.</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should transfer first? A. Every service from the old architecture B. The principle and its conditions C. The old customer’s permissions. The best answer is B. Transfer the mechanism while rechecking context.</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primitive is a small reusable technical contribution with a clear contract. Separate stable behavior from customer-specific configuration. Input validation, correlation identifiers, and idempotent decision recording can generalize more easily than Northstar’s exact routing categories. Document inputs, outputs, failure behavior, tests, and assumptions. Reuse needs a maintainer and a version policy. A copied file without ownership may multiply defects rather than reduce future work.</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lab routing function contains category keywords. Its event-recording contract is more general: one suggestion identifier can receive only one saved decision. You can reuse that contract without adopting the same categories.</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Extract a primitive proposal with interface, tests, owner, and local configuration.</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Primitive: decision recording. Input: an existing suggestion identifier and an allowed chosen queue. Output: an auditable decision identifier. Failures: unknown suggestion, duplicate decision, or invalid queue. Tests cover each condition. Queue names remain configuration. Name a maintainer and record a version change when contract behavior changes.</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Which item is most reusable across domains? A. Northstar’s sponsor name B. A fixed access-ticket keyword list C. A tested decision-recording contract. The best answer is C. Stable contracts travel better than local assumptions.</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product signal connects a field observation to a product decision. Record the affected workflow, frequency within the observed scope, current workaround, consequence, and evidence. Separate a local request from a repeated pattern across sites. Propose a product hypothesis and the next validation action. Avoid presenting the loudest stakeholder’s preference as market demand. Preserve disagreement and missing information so the product team can judge transferability.</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Agents abandon suggestions because copying back to the queue adds work. The product signal is a need for in-workflow review integration. One site provides evidence of friction, but not yet a general market priority.</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a product-signal memo with observed evidence, hypothesis, and validation request.</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Observed: forty percent of eligible tasks use assistance in the fictional follow-up; agents report duplicate entry. Hypothesis: an integrated review surface will increase adoption. Validation: observe the current task and test the integrated version on a bounded sample. Unknown: whether the same friction recurs at other customers. No market-size claim follows from this case.</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distinguishes a product signal from a feature demand? A. Evidence about workflow and consequences B. Executive seniority C. A longer feature list. The best answer is A. Traceable observations help product teams decide.</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distill pack contains a pattern, primitive, playbook, product signal, site capability, and model update. Site capability requires operators who can execute and adapt the workflow without the original engineer. Test handover through a teach-back or recovery exercise. Documentation helps but does not prove capability. Keep a feedback system so new exceptions lead to updates after the engagement ends.</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 explains how to disable assistance, restore manual triage, inspect errors, and request a rule change. Luis can recover the service from the runbook. Their demonstration is stronger evidence than receiving a handover deck.</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the six-part distill pack and design a handover test.</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operator to respond to one unavailable-service scenario without contacting you. Ask the maintainer to explain a rejected-input trace. Record what they can do, what remains unclear, and who will maintain the playbook. Model update: accurate suggestions need integration and trusted override handling to become useful. The next loop starts from that revised frame.</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Which evidence best supports successful handover? A. A long documentation folder B. The original engineer remains the only responder C. Operators complete a recovery exercise independently. The best answer is C. Demonstrated capability matters more than document volume.</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Constraint injection tests whether the delivery plan can adapt. Revisit the frame, uncertainty, authority, and smallest useful action when conditions change. A new restriction does not justify bypassing controls. Choose a permitted fallback and state which claims it can still test. Record the change, its effect on evidence, and the next gate. A synthetic fallback can test workflow design but cannot prove a production integration now unavailable.</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Priya prohibits external model calls. Luis reports the customer API will be unavailable this week. The sponsor still wants progress. The rule-based synthetic prototype can continue testing review behavior.</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 the plan while preserving a useful experiment and an honest evidence boundary.</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local dataset and rules. Test usability, category logic, validation, and logging. Mark production integration and model benefit untested. Keep a future integration gate with Luis and Priya. This fallback creates progress without pretending it exercised the blocked customer systems.</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can a synthetic fallback prove? A. Selected behavior within the simulation B. Customer API readiness C. Production access approval. The best answer is A. The fallback’s scope governs its claims.</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Translation preserves truth while changing the level of detail. Operators need task consequences and recovery. Engineers need contracts, failure modes, and dependencies. Executives need the decision, evidence, risk, and next commitment. Every version should keep the same authority boundary and uncertainty. Compress the messy context into one page. If one audience hears a stronger promise than another, the translation has changed the decision rather than clarified it.</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generates reviewable routing suggestions using synthetic data. It has not been approved for production. That limit must appear in the executive summary as clearly as in the engineering note.</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a three-sentence explanation for an operator, engineer, and executive.</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Operator: review the queue suggestion, override when needed, and save your choice; use manual triage if unavailable. Engineer: the local API validates input, keeps review separate, and records correlated events; production controls remain pending. Executive: the synthetic test supports a bounded pilot hypothesis; authorize the next access review rather than claiming customer savings.</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must remain constant across audiences? A. Every technical detail B. The facts, limits, and decision C. The same word count. The best answer is B. Compression changes emphasis, not evidence.</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Diagnose behavior before attaching a label. The framework names eleven failures, including parachuting, going native, silent assumptions, moving goalposts, fragile prototypes, bespoke loops, and hero dependency. Use the symptom to select a counter and an observable test. External review helps preserve critical distance after immersion. Do not classify disagreement as going native simply because a colleague challenges your proposed solution.</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removes the quality threshold after errors appear. A prototype runs without an owner. Every rule change depends on the original engineer. Each symptom maps to a different failure mode.</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each failure, its counter, and evidence that the counter worked.</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Moving goalposts: restore the timestamped threshold and publish the complete result. Fragile prototype: hold landing until an owner and support conditions exist. Hero dependency: teach the maintainer and test an independent rule update. The correction needs behavior evidence, not merely a newly written policy.</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Which symptom indicates moving goalposts? A. Writing a prediction before acting B. Rejecting malformed input C. Changing success criteria after seeing results. The best answer is C. Post-result threshold changes distort the experiment.</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ladder progresses through apprentice, builder, deployment owner, multiplier, and system designer. Its exit tests concern observable work in context. Course completion does not automatically satisfy those tests. Use the daily, weekly, monthly, and quarterly cadence as a development aid. Select a manageable practice commitment, collect evidence, and seek feedback. Real workplace practice should respect data access, customer confidentiality, operating authority, and applicable procedures.</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learner finishes the prototype and calls themselves a deployment owner. They have not worked with real users or performed an outcome reading after production adoption. Their portfolio demonstrates simulated practice, with field evidence still pending.</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a 30-day practice plan with one user observation, one prediction, and one review of evidence.</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one: observe a permitted workflow and map the actual decision. Week two: co-author a small frame with its owner. Week three: run an authorized bounded experiment with a written prediction. Week four: compare results and identify one reusable lesson. If workplace access is unavailable, use a second simulation and label it accordingly.</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Does course completion establish the deployment-owner stage? A. No, the stage requires field evidence B. Yes, after watching videos C. Yes, if the self-rating is high. The best answer is A. Keep educational achievement separate from verified career capability.</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capstone transfers the loop to Harbor Maintenance. A sponsor asks for an AI assistant to route maintenance requests. The workflow includes urgent conditions, missing asset identifiers, duplicate requests, and a supervisor who owns priority decisions. Keep safety procedures authoritative and do not automate operational control. Your first task is discovery and framing. The capstone uses synthetic records and evaluates how well you preserve evidence and authority while building a usable path.</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sponsor wants automated closure. The supervisor needs faster review and refuses automatic priority changes. Historical records include duplicates and missing asset IDs. These differences must appear in your Site Map.</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capstone brief and staged evidence pack. Submit a Site Map and Frame Card before opening later results.</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defensible frame targets supervisor review time while preserving authorized priority and closure decisions. Missing identifiers require a clarification path. Duplicate detection supports the reviewer but does not silently delete a request. Any urgent safety text routes to human assessment under existing procedures. Record these as design boundaries before implementation.</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 retains maintenance priority authority? A. The ticket text B. The authorized supervisor C. The fastest routing rule. The best answer is B. The tool assists review without assuming operating authority.</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Adapt the lab contract to maintenance requests while preserving validation, human review, and auditable decisions. State the key uncertainty and prediction first. Implement only the smallest complete path that addresses it. Then apply the constraint card: an integration is unavailable and external model calls are prohibited. Demonstrate the permitted fallback and explain which evidence remains unavailable. Your implementation may use rules or an approved optional model, but the comparison must justify any added complexity.</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integration fails just before the review. A local fixture preserves the input contract. It demonstrates review behavior but cannot establish live integration reliability. Your decision record should say both.</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Submit working code, test evidence, a timestamped prediction, and a revised decision after the constraint.</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fallback uses synthetic fixtures, validates asset identifiers, flags urgent text for the supervisor, and saves reviewed decisions. Prediction and evidence remain separate. The record names live integration as untested and preserves the original safety boundary. A good submission explains why these controls address the case rather than merely listing features.</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must the fallback report preserve? A. The claim that integration passed B. Only the favorable screenshots C. The distinction between tested and untested behavior. The best answer is C. Fallbacks change the evidence boundary.</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Submit a coherent portfolio rather than disconnected templates. The Site Map should support the Frame Card, the prediction should match its outcome, the build should test the critical uncertainty, and the delta log should compare against the prediction. Include the landing checklist, ownership plan, second reading, distill pack, and one-page decision memo. Score seven dimensions using observable criteria. A high aggregate score cannot compensate for an unauthorized action or fabricated evidence.</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submission has beautiful slides but no written prediction. Another has a modest prototype and clear evidence connecting every decision. Presentation quality supports readability, while the rubric evaluates delivery reasoning and behavior.</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Score your portfolio using the rubric, then check every safety and evidence gate separately.</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zero for absent evidence, one for description, two for partial demonstration, three for a coherent supported result, and four for strong demonstration with limitations and transfer. The proposed pass threshold is seventy percent plus all mandatory gates. This is an educational scoring design, not an accredited competency standard.</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 a high score offset invented evidence? A. No, evidence integrity is a mandatory gate B. Yes, if the prototype works C. Yes, if the slides are polished. The best answer is A. Mandatory gates remain separate from the aggregate score.</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lesson turns simulated practice into a bounded development plan. Identify a real workflow you may observe, the owner who can agree the frame, and the permissions needed for any experiment. Preserve confidentiality and authoritative operating procedures. Translate the loop into the domain while keeping the evidence discipline. The source’s O&amp;G examples are draft translations, so do not infer WITSML compliance, safety approval, or real operational performance from this course.</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remote operations, a data-quality review may be a suitable first workflow. An agent that changes drilling parameters creates a different authority and consequence boundary. The same loop can guide investigation without granting the same action rights.</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your next-loop proposal with owner, permitted observation, smallest action, metric, and stop condition.</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 observing one approved data-review task and testing a reviewable exception summary with synthetic or explicitly permitted data. Retain human judgment and authoritative procedures. Name the operational owner and define success before acting. Treat real deployment evidence as the next learning objective, not something this simulated portfolio already established.</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does domain translation change? A. It grants automatic operating permission B. Vocabulary and context, while permissions still need verification C. It proves standards compliance. The best answer is B. A transferable method does not imply transferable authority.</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9f4304cb794a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ac5d3c03e443ac" /><Relationship Type="http://schemas.openxmlformats.org/officeDocument/2006/relationships/slideLayout" Target="/ppt/slideLayouts/slideLayout1.xml" Id="Rb2967da582d640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967da582d640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5fc6a38e3d47ef" /><Relationship Type="http://schemas.openxmlformats.org/officeDocument/2006/relationships/image" Target="/ppt/media/image.png" Id="Rab49cc5cc8224025" /><Relationship Type="http://schemas.openxmlformats.org/officeDocument/2006/relationships/notesSlide" Target="/ppt/notesSlides/notesSlide1.xml" Id="R2ac7fbd74e6f42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71e869752a456d" /><Relationship Type="http://schemas.openxmlformats.org/officeDocument/2006/relationships/notesSlide" Target="/ppt/notesSlides/notesSlide2.xml" Id="Rcc86065cf04444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10d5f35fdfc4063" /><Relationship Type="http://schemas.openxmlformats.org/officeDocument/2006/relationships/notesSlide" Target="/ppt/notesSlides/notesSlide3.xml" Id="Rb911aa3d1c0248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efbc1c84bc41d9" /><Relationship Type="http://schemas.openxmlformats.org/officeDocument/2006/relationships/notesSlide" Target="/ppt/notesSlides/notesSlide4.xml" Id="R70a3c68c0db349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a6df924d94493f" /><Relationship Type="http://schemas.openxmlformats.org/officeDocument/2006/relationships/notesSlide" Target="/ppt/notesSlides/notesSlide5.xml" Id="R6988ae49400a48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2a36d25adb49f3" /><Relationship Type="http://schemas.openxmlformats.org/officeDocument/2006/relationships/notesSlide" Target="/ppt/notesSlides/notesSlide6.xml" Id="R8da88c8b6cc647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575fe1103a84c16" /><Relationship Type="http://schemas.openxmlformats.org/officeDocument/2006/relationships/notesSlide" Target="/ppt/notesSlides/notesSlide7.xml" Id="R2543e6914bab40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f9cfca910c24822" /><Relationship Type="http://schemas.openxmlformats.org/officeDocument/2006/relationships/notesSlide" Target="/ppt/notesSlides/notesSlide8.xml" Id="Rd992c23486f148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f3647755e144a7" /><Relationship Type="http://schemas.openxmlformats.org/officeDocument/2006/relationships/notesSlide" Target="/ppt/notesSlides/notesSlide9.xml" Id="Ra1ea79a6337149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ca88814497148ed" /><Relationship Type="http://schemas.openxmlformats.org/officeDocument/2006/relationships/notesSlide" Target="/ppt/notesSlides/notesSlide10.xml" Id="R85c13d271c0540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8425ff8b9c14619" /><Relationship Type="http://schemas.openxmlformats.org/officeDocument/2006/relationships/notesSlide" Target="/ppt/notesSlides/notesSlide11.xml" Id="Re43a858dbfb94f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34f3e144c8e4867" /><Relationship Type="http://schemas.openxmlformats.org/officeDocument/2006/relationships/notesSlide" Target="/ppt/notesSlides/notesSlide12.xml" Id="R860d2adcc05b4a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79e4c76874140d0" /><Relationship Type="http://schemas.openxmlformats.org/officeDocument/2006/relationships/notesSlide" Target="/ppt/notesSlides/notesSlide13.xml" Id="R9dc888760e8540a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cbb7a3ccf1b415c" /><Relationship Type="http://schemas.openxmlformats.org/officeDocument/2006/relationships/notesSlide" Target="/ppt/notesSlides/notesSlide14.xml" Id="R501812e620f2419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9343385eea044d1" /><Relationship Type="http://schemas.openxmlformats.org/officeDocument/2006/relationships/notesSlide" Target="/ppt/notesSlides/notesSlide15.xml" Id="R037f5149f5bd4ee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ef3cd2225f440ab" /><Relationship Type="http://schemas.openxmlformats.org/officeDocument/2006/relationships/notesSlide" Target="/ppt/notesSlides/notesSlide16.xml" Id="R831cc443887d4b1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86ff09558574076" /><Relationship Type="http://schemas.openxmlformats.org/officeDocument/2006/relationships/notesSlide" Target="/ppt/notesSlides/notesSlide17.xml" Id="Rc444fb55cdcb4c8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82d8157bd2d4aec" /><Relationship Type="http://schemas.openxmlformats.org/officeDocument/2006/relationships/notesSlide" Target="/ppt/notesSlides/notesSlide18.xml" Id="R19cd29a0d9bb4b0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0d5944452da4178" /><Relationship Type="http://schemas.openxmlformats.org/officeDocument/2006/relationships/notesSlide" Target="/ppt/notesSlides/notesSlide19.xml" Id="R0bb093c7d1fb4eb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b8053084c2d4d65" /><Relationship Type="http://schemas.openxmlformats.org/officeDocument/2006/relationships/notesSlide" Target="/ppt/notesSlides/notesSlide20.xml" Id="Rc5a6a77151f9480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3ce4f2eeb7e45a1" /><Relationship Type="http://schemas.openxmlformats.org/officeDocument/2006/relationships/notesSlide" Target="/ppt/notesSlides/notesSlide21.xml" Id="Rfd971a32a0684f6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729aa8ae7a54d01" /><Relationship Type="http://schemas.openxmlformats.org/officeDocument/2006/relationships/notesSlide" Target="/ppt/notesSlides/notesSlide22.xml" Id="R3623d58815a744f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183f17e843747db" /><Relationship Type="http://schemas.openxmlformats.org/officeDocument/2006/relationships/notesSlide" Target="/ppt/notesSlides/notesSlide23.xml" Id="R0e654bdae5c2452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78cf6bcfaaf499e" /><Relationship Type="http://schemas.openxmlformats.org/officeDocument/2006/relationships/notesSlide" Target="/ppt/notesSlides/notesSlide24.xml" Id="Rf303c742d8674a6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e1f17391c44482e" /><Relationship Type="http://schemas.openxmlformats.org/officeDocument/2006/relationships/notesSlide" Target="/ppt/notesSlides/notesSlide25.xml" Id="Raae832987986436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47a2de74d784453" /><Relationship Type="http://schemas.openxmlformats.org/officeDocument/2006/relationships/notesSlide" Target="/ppt/notesSlides/notesSlide26.xml" Id="R88d4598d6fdb4d9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760bdd6e3ea40c5" /><Relationship Type="http://schemas.openxmlformats.org/officeDocument/2006/relationships/notesSlide" Target="/ppt/notesSlides/notesSlide27.xml" Id="R375e2951a38c466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3a04bce516b46cf" /><Relationship Type="http://schemas.openxmlformats.org/officeDocument/2006/relationships/notesSlide" Target="/ppt/notesSlides/notesSlide28.xml" Id="R8a1793a4bd83494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b2c9648c0714180" /><Relationship Type="http://schemas.openxmlformats.org/officeDocument/2006/relationships/notesSlide" Target="/ppt/notesSlides/notesSlide29.xml" Id="R31e29d4662d04ef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23c9b5b5e1c4d20" /><Relationship Type="http://schemas.openxmlformats.org/officeDocument/2006/relationships/notesSlide" Target="/ppt/notesSlides/notesSlide30.xml" Id="R04626246f6fa403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35e8e51bc624843" /><Relationship Type="http://schemas.openxmlformats.org/officeDocument/2006/relationships/notesSlide" Target="/ppt/notesSlides/notesSlide31.xml" Id="Rb4967d9a92044df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a03b4093f9048c7" /><Relationship Type="http://schemas.openxmlformats.org/officeDocument/2006/relationships/notesSlide" Target="/ppt/notesSlides/notesSlide32.xml" Id="R81328624c2fd4f0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e775c8667814b16" /><Relationship Type="http://schemas.openxmlformats.org/officeDocument/2006/relationships/notesSlide" Target="/ppt/notesSlides/notesSlide33.xml" Id="R2f9dd64f66e5427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aae0c19956f4a47" /><Relationship Type="http://schemas.openxmlformats.org/officeDocument/2006/relationships/notesSlide" Target="/ppt/notesSlides/notesSlide34.xml" Id="R331662773a5b413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76d38fc44714f3e" /><Relationship Type="http://schemas.openxmlformats.org/officeDocument/2006/relationships/notesSlide" Target="/ppt/notesSlides/notesSlide35.xml" Id="R40e73e83aa46433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97b547ce0cc414a" /><Relationship Type="http://schemas.openxmlformats.org/officeDocument/2006/relationships/notesSlide" Target="/ppt/notesSlides/notesSlide36.xml" Id="R559008d03d3a40a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8836f7cd565491b" /><Relationship Type="http://schemas.openxmlformats.org/officeDocument/2006/relationships/notesSlide" Target="/ppt/notesSlides/notesSlide37.xml" Id="R103f74ced0cf452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ca9ece60cb44271" /><Relationship Type="http://schemas.openxmlformats.org/officeDocument/2006/relationships/notesSlide" Target="/ppt/notesSlides/notesSlide38.xml" Id="R803f6653e2db4fa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b573232e8d548de" /><Relationship Type="http://schemas.openxmlformats.org/officeDocument/2006/relationships/notesSlide" Target="/ppt/notesSlides/notesSlide39.xml" Id="R42b70de7f90341d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af0d270ea6e4913" /><Relationship Type="http://schemas.openxmlformats.org/officeDocument/2006/relationships/notesSlide" Target="/ppt/notesSlides/notesSlide40.xml" Id="Re3cf4a8035e3471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5cba2c137e147b5" /><Relationship Type="http://schemas.openxmlformats.org/officeDocument/2006/relationships/notesSlide" Target="/ppt/notesSlides/notesSlide41.xml" Id="R259aa6454dc8486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e1028c904d524a5b" /><Relationship Type="http://schemas.openxmlformats.org/officeDocument/2006/relationships/notesSlide" Target="/ppt/notesSlides/notesSlide42.xml" Id="Re1fdbb2bf42541d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583aa53cbf84857" /><Relationship Type="http://schemas.openxmlformats.org/officeDocument/2006/relationships/notesSlide" Target="/ppt/notesSlides/notesSlide43.xml" Id="R4b702bbc6f684ca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b448037920154563" /><Relationship Type="http://schemas.openxmlformats.org/officeDocument/2006/relationships/notesSlide" Target="/ppt/notesSlides/notesSlide44.xml" Id="R6263fd614d844e3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21146360063c4179" /><Relationship Type="http://schemas.openxmlformats.org/officeDocument/2006/relationships/notesSlide" Target="/ppt/notesSlides/notesSlide45.xml" Id="R0e99b38d140941a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d198dcc57c994b94" /><Relationship Type="http://schemas.openxmlformats.org/officeDocument/2006/relationships/notesSlide" Target="/ppt/notesSlides/notesSlide46.xml" Id="Ra65355affb90455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0799520138042ec" /><Relationship Type="http://schemas.openxmlformats.org/officeDocument/2006/relationships/notesSlide" Target="/ppt/notesSlides/notesSlide47.xml" Id="Ra06549e055d04d8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5a46c37f02684090" /><Relationship Type="http://schemas.openxmlformats.org/officeDocument/2006/relationships/notesSlide" Target="/ppt/notesSlides/notesSlide48.xml" Id="R23d3cb6d4df84ee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2427de004ec4177" /><Relationship Type="http://schemas.openxmlformats.org/officeDocument/2006/relationships/notesSlide" Target="/ppt/notesSlides/notesSlide49.xml" Id="Ra236dae80b794d5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d5e9e0958118428d" /><Relationship Type="http://schemas.openxmlformats.org/officeDocument/2006/relationships/notesSlide" Target="/ppt/notesSlides/notesSlide50.xml" Id="Rf25aecde008e408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0cebd4a99b474a2d" /><Relationship Type="http://schemas.openxmlformats.org/officeDocument/2006/relationships/notesSlide" Target="/ppt/notesSlides/notesSlide51.xml" Id="Re703726f18a4412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b7b0661d099a44fd" /><Relationship Type="http://schemas.openxmlformats.org/officeDocument/2006/relationships/notesSlide" Target="/ppt/notesSlides/notesSlide52.xml" Id="Rcb5cccc1dfec4a48"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5549f44f203948a8" /><Relationship Type="http://schemas.openxmlformats.org/officeDocument/2006/relationships/notesSlide" Target="/ppt/notesSlides/notesSlide53.xml" Id="Ra37bd67b18c6435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95d9056ec01b4a1c" /><Relationship Type="http://schemas.openxmlformats.org/officeDocument/2006/relationships/notesSlide" Target="/ppt/notesSlides/notesSlide54.xml" Id="R999b9cc496084ca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8b0877906eb04451" /><Relationship Type="http://schemas.openxmlformats.org/officeDocument/2006/relationships/notesSlide" Target="/ppt/notesSlides/notesSlide55.xml" Id="Reb6d42f282314223"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ad5bf53fdd9f48a3" /><Relationship Type="http://schemas.openxmlformats.org/officeDocument/2006/relationships/notesSlide" Target="/ppt/notesSlides/notesSlide56.xml" Id="R9384c788dce0423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374eb3b953494b1e" /><Relationship Type="http://schemas.openxmlformats.org/officeDocument/2006/relationships/notesSlide" Target="/ppt/notesSlides/notesSlide57.xml" Id="Ra0a5cc54dfbd4ce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7c2efdfef0ef4698" /><Relationship Type="http://schemas.openxmlformats.org/officeDocument/2006/relationships/notesSlide" Target="/ppt/notesSlides/notesSlide58.xml" Id="Rfadf1dec60944491"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d74c07e9cc4b4b26" /><Relationship Type="http://schemas.openxmlformats.org/officeDocument/2006/relationships/notesSlide" Target="/ppt/notesSlides/notesSlide59.xml" Id="R076449b3f4104683"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084a82270b73416c" /><Relationship Type="http://schemas.openxmlformats.org/officeDocument/2006/relationships/notesSlide" Target="/ppt/notesSlides/notesSlide60.xml" Id="Re7a60a9209594218"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1178394b51f346ad" /><Relationship Type="http://schemas.openxmlformats.org/officeDocument/2006/relationships/notesSlide" Target="/ppt/notesSlides/notesSlide61.xml" Id="Ra099e84fd8594cd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cbf153f352c54149" /><Relationship Type="http://schemas.openxmlformats.org/officeDocument/2006/relationships/notesSlide" Target="/ppt/notesSlides/notesSlide62.xml" Id="Ra25ff187f1464a3a"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f3dc899a87744e77" /><Relationship Type="http://schemas.openxmlformats.org/officeDocument/2006/relationships/notesSlide" Target="/ppt/notesSlides/notesSlide63.xml" Id="R26f101532c834b20"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216fddaffc3f445f" /><Relationship Type="http://schemas.openxmlformats.org/officeDocument/2006/relationships/notesSlide" Target="/ppt/notesSlides/notesSlide64.xml" Id="Re69bcdef01ee4f1b"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3f70ffdc805e4edc" /><Relationship Type="http://schemas.openxmlformats.org/officeDocument/2006/relationships/notesSlide" Target="/ppt/notesSlides/notesSlide65.xml" Id="Rf760ba5e50ed4894"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41d46af3141542c4" /><Relationship Type="http://schemas.openxmlformats.org/officeDocument/2006/relationships/notesSlide" Target="/ppt/notesSlides/notesSlide66.xml" Id="R7a08f9094873418d"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cef5513684584d63" /><Relationship Type="http://schemas.openxmlformats.org/officeDocument/2006/relationships/notesSlide" Target="/ppt/notesSlides/notesSlide67.xml" Id="R316fe0c25d81442b"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cc55f85ba3e74f3b" /><Relationship Type="http://schemas.openxmlformats.org/officeDocument/2006/relationships/notesSlide" Target="/ppt/notesSlides/notesSlide68.xml" Id="Rf34c0af327974de2"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e575e1c9f5974af0" /><Relationship Type="http://schemas.openxmlformats.org/officeDocument/2006/relationships/notesSlide" Target="/ppt/notesSlides/notesSlide69.xml" Id="R00ded0c3d4534d7f"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ea61bb1ef25f444f" /><Relationship Type="http://schemas.openxmlformats.org/officeDocument/2006/relationships/notesSlide" Target="/ppt/notesSlides/notesSlide70.xml" Id="R7e1d98db6d98434b"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11644b6ceeed49ec" /><Relationship Type="http://schemas.openxmlformats.org/officeDocument/2006/relationships/notesSlide" Target="/ppt/notesSlides/notesSlide71.xml" Id="R29841adfab8a4ef7"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8ddd4316ad1546d3" /><Relationship Type="http://schemas.openxmlformats.org/officeDocument/2006/relationships/notesSlide" Target="/ppt/notesSlides/notesSlide72.xml" Id="Rba59f353c831401f"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b17f47a585f04405" /><Relationship Type="http://schemas.openxmlformats.org/officeDocument/2006/relationships/notesSlide" Target="/ppt/notesSlides/notesSlide73.xml" Id="Rb315489b4b524f90"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b79129ee991c4aa9" /><Relationship Type="http://schemas.openxmlformats.org/officeDocument/2006/relationships/notesSlide" Target="/ppt/notesSlides/notesSlide74.xml" Id="R6510f1395d8949f7"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0d5008a1400242fe" /><Relationship Type="http://schemas.openxmlformats.org/officeDocument/2006/relationships/notesSlide" Target="/ppt/notesSlides/notesSlide75.xml" Id="R4e16e175d6ab4e8f"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4544b7faf66047e4" /><Relationship Type="http://schemas.openxmlformats.org/officeDocument/2006/relationships/notesSlide" Target="/ppt/notesSlides/notesSlide76.xml" Id="R85eff7423d14411f"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205621d2d4a94b10" /><Relationship Type="http://schemas.openxmlformats.org/officeDocument/2006/relationships/notesSlide" Target="/ppt/notesSlides/notesSlide77.xml" Id="R390483f55f884ebe"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63f4f2a83cf44ce4" /><Relationship Type="http://schemas.openxmlformats.org/officeDocument/2006/relationships/notesSlide" Target="/ppt/notesSlides/notesSlide78.xml" Id="R94638c32e7f74e91"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ded030309ce7459b" /><Relationship Type="http://schemas.openxmlformats.org/officeDocument/2006/relationships/notesSlide" Target="/ppt/notesSlides/notesSlide79.xml" Id="R7dcb01afbff34bd0"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de7b9b63d70c442c" /><Relationship Type="http://schemas.openxmlformats.org/officeDocument/2006/relationships/notesSlide" Target="/ppt/notesSlides/notesSlide80.xml" Id="R685f3690f0624f24"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9914e4f11d3b497b" /><Relationship Type="http://schemas.openxmlformats.org/officeDocument/2006/relationships/notesSlide" Target="/ppt/notesSlides/notesSlide81.xml" Id="Rd61fe2f87d694266"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52d49719e092408c" /><Relationship Type="http://schemas.openxmlformats.org/officeDocument/2006/relationships/notesSlide" Target="/ppt/notesSlides/notesSlide82.xml" Id="R4bbc966c1d08486a"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d185d48dc2bd4464" /><Relationship Type="http://schemas.openxmlformats.org/officeDocument/2006/relationships/notesSlide" Target="/ppt/notesSlides/notesSlide83.xml" Id="R525166f05e1f4132"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abffff1a14504c71" /><Relationship Type="http://schemas.openxmlformats.org/officeDocument/2006/relationships/notesSlide" Target="/ppt/notesSlides/notesSlide84.xml" Id="R9cd177cbdcbf42a4"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f67990093bfd4d25" /><Relationship Type="http://schemas.openxmlformats.org/officeDocument/2006/relationships/notesSlide" Target="/ppt/notesSlides/notesSlide85.xml" Id="Rb3e4b2fda14c4505"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b72773e47d8d4d59" /><Relationship Type="http://schemas.openxmlformats.org/officeDocument/2006/relationships/notesSlide" Target="/ppt/notesSlides/notesSlide86.xml" Id="R983e36fc55fa493a"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18a82823964d44ea" /><Relationship Type="http://schemas.openxmlformats.org/officeDocument/2006/relationships/notesSlide" Target="/ppt/notesSlides/notesSlide87.xml" Id="Ra46479ff4b8541f0"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9702ccc412874607" /><Relationship Type="http://schemas.openxmlformats.org/officeDocument/2006/relationships/notesSlide" Target="/ppt/notesSlides/notesSlide88.xml" Id="Rb4ce93fb4134474e"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f1ea301299404d04" /><Relationship Type="http://schemas.openxmlformats.org/officeDocument/2006/relationships/notesSlide" Target="/ppt/notesSlides/notesSlide89.xml" Id="Rb8fee0ef9a1f4abc"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f4e688afa6b842db" /><Relationship Type="http://schemas.openxmlformats.org/officeDocument/2006/relationships/notesSlide" Target="/ppt/notesSlides/notesSlide90.xml" Id="R0577f1f98caa4484"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dec11ee13f0b4cf1" /><Relationship Type="http://schemas.openxmlformats.org/officeDocument/2006/relationships/notesSlide" Target="/ppt/notesSlides/notesSlide91.xml" Id="Rf4b13051e3dc43b9"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51a640d4158b41ec" /><Relationship Type="http://schemas.openxmlformats.org/officeDocument/2006/relationships/notesSlide" Target="/ppt/notesSlides/notesSlide92.xml" Id="Rebcf080cf75e4cb2"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9e2a35c26d534bc0" /><Relationship Type="http://schemas.openxmlformats.org/officeDocument/2006/relationships/notesSlide" Target="/ppt/notesSlides/notesSlide93.xml" Id="R86268d5598954e63"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0b2d395277304173" /><Relationship Type="http://schemas.openxmlformats.org/officeDocument/2006/relationships/notesSlide" Target="/ppt/notesSlides/notesSlide94.xml" Id="Rd8f7adaae2e04f2e"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c3b0ef6f935143de" /><Relationship Type="http://schemas.openxmlformats.org/officeDocument/2006/relationships/notesSlide" Target="/ppt/notesSlides/notesSlide95.xml" Id="R558b611a418242c3"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c9fa580e30b34777" /><Relationship Type="http://schemas.openxmlformats.org/officeDocument/2006/relationships/notesSlide" Target="/ppt/notesSlides/notesSlide96.xml" Id="R2c97304d162c4efa"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4cd8981b556848eb" /><Relationship Type="http://schemas.openxmlformats.org/officeDocument/2006/relationships/notesSlide" Target="/ppt/notesSlides/notesSlide97.xml" Id="R4ec7d84ed99d4fa6"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946d66ed01124227" /><Relationship Type="http://schemas.openxmlformats.org/officeDocument/2006/relationships/notesSlide" Target="/ppt/notesSlides/notesSlide98.xml" Id="Re418b14ea188439c"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61634455f2a5449c" /><Relationship Type="http://schemas.openxmlformats.org/officeDocument/2006/relationships/notesSlide" Target="/ppt/notesSlides/notesSlide99.xml" Id="Rb8469363433f4088"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335e1281e4534650" /><Relationship Type="http://schemas.openxmlformats.org/officeDocument/2006/relationships/notesSlide" Target="/ppt/notesSlides/notesSlide100.xml" Id="R4ffe3585acc243c9"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fb326bdf70bc435b" /><Relationship Type="http://schemas.openxmlformats.org/officeDocument/2006/relationships/notesSlide" Target="/ppt/notesSlides/notesSlide101.xml" Id="R3672f05f293f442e"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17d86e9362fa4d22" /><Relationship Type="http://schemas.openxmlformats.org/officeDocument/2006/relationships/notesSlide" Target="/ppt/notesSlides/notesSlide102.xml" Id="R36e847eca3964716"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2e598905a0694592" /><Relationship Type="http://schemas.openxmlformats.org/officeDocument/2006/relationships/notesSlide" Target="/ppt/notesSlides/notesSlide103.xml" Id="R32915bf7fe2d4945"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74f365b11ea544cf" /><Relationship Type="http://schemas.openxmlformats.org/officeDocument/2006/relationships/notesSlide" Target="/ppt/notesSlides/notesSlide104.xml" Id="Rb93e4486d2994b02"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8ee4ffeb68394e9b" /><Relationship Type="http://schemas.openxmlformats.org/officeDocument/2006/relationships/notesSlide" Target="/ppt/notesSlides/notesSlide105.xml" Id="Ra506a7fc2c364985"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29f6a6833dac4cdd" /><Relationship Type="http://schemas.openxmlformats.org/officeDocument/2006/relationships/notesSlide" Target="/ppt/notesSlides/notesSlide106.xml" Id="R962e32b8ce5a4e9b"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7e7c91698a3e400c" /><Relationship Type="http://schemas.openxmlformats.org/officeDocument/2006/relationships/notesSlide" Target="/ppt/notesSlides/notesSlide107.xml" Id="R9e6ad59a6fe84758"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6557f5feffb14be5" /><Relationship Type="http://schemas.openxmlformats.org/officeDocument/2006/relationships/notesSlide" Target="/ppt/notesSlides/notesSlide108.xml" Id="R1ab6bf27fd91487c"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182f4c40a4534986" /><Relationship Type="http://schemas.openxmlformats.org/officeDocument/2006/relationships/notesSlide" Target="/ppt/notesSlides/notesSlide109.xml" Id="Rb6c99420fde14f2f"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b1b0b733be454331" /><Relationship Type="http://schemas.openxmlformats.org/officeDocument/2006/relationships/notesSlide" Target="/ppt/notesSlides/notesSlide110.xml" Id="Rde01c21f472e430d"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3e9c608ecdeb4609" /><Relationship Type="http://schemas.openxmlformats.org/officeDocument/2006/relationships/notesSlide" Target="/ppt/notesSlides/notesSlide111.xml" Id="R95a96bb470ea4ff0"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b1e1bfbb39874c9f" /><Relationship Type="http://schemas.openxmlformats.org/officeDocument/2006/relationships/notesSlide" Target="/ppt/notesSlides/notesSlide112.xml" Id="R748489405c1848b7"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0d707bfae7c14928" /><Relationship Type="http://schemas.openxmlformats.org/officeDocument/2006/relationships/notesSlide" Target="/ppt/notesSlides/notesSlide113.xml" Id="R4fbc37658ac14e11"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7a6fc9d3d8df4f59" /><Relationship Type="http://schemas.openxmlformats.org/officeDocument/2006/relationships/notesSlide" Target="/ppt/notesSlides/notesSlide114.xml" Id="R4dbe2c882fbc43e7"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4af50823e4cd4ac9" /><Relationship Type="http://schemas.openxmlformats.org/officeDocument/2006/relationships/notesSlide" Target="/ppt/notesSlides/notesSlide115.xml" Id="R52725b3f69c94892"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80a702dab8124b02" /><Relationship Type="http://schemas.openxmlformats.org/officeDocument/2006/relationships/notesSlide" Target="/ppt/notesSlides/notesSlide116.xml" Id="Rc615450a37814376"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753ff0df6d2e40f1" /><Relationship Type="http://schemas.openxmlformats.org/officeDocument/2006/relationships/notesSlide" Target="/ppt/notesSlides/notesSlide117.xml" Id="R49cb62c855ae4dbc"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dc0d51e5158146ce" /><Relationship Type="http://schemas.openxmlformats.org/officeDocument/2006/relationships/notesSlide" Target="/ppt/notesSlides/notesSlide118.xml" Id="Ra68efdbb19dc46f1"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436d975746554df0" /><Relationship Type="http://schemas.openxmlformats.org/officeDocument/2006/relationships/notesSlide" Target="/ppt/notesSlides/notesSlide119.xml" Id="R28bf486bdd184784"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8f9340eadf224780" /><Relationship Type="http://schemas.openxmlformats.org/officeDocument/2006/relationships/notesSlide" Target="/ppt/notesSlides/notesSlide120.xml" Id="R25622267761848bd"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e6739e0564834a4f" /><Relationship Type="http://schemas.openxmlformats.org/officeDocument/2006/relationships/notesSlide" Target="/ppt/notesSlides/notesSlide121.xml" Id="R3b258a8ce9c34ffe"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4167624304e740a6" /><Relationship Type="http://schemas.openxmlformats.org/officeDocument/2006/relationships/notesSlide" Target="/ppt/notesSlides/notesSlide122.xml" Id="R986e140b8ae94344"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611a1e30f9124f2f" /><Relationship Type="http://schemas.openxmlformats.org/officeDocument/2006/relationships/notesSlide" Target="/ppt/notesSlides/notesSlide123.xml" Id="Rfd1c6ff7ff2546fb"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238f43295bf14318" /><Relationship Type="http://schemas.openxmlformats.org/officeDocument/2006/relationships/notesSlide" Target="/ppt/notesSlides/notesSlide124.xml" Id="R96c06b08f1174d4b"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7ab7e97de16b4dd3" /><Relationship Type="http://schemas.openxmlformats.org/officeDocument/2006/relationships/notesSlide" Target="/ppt/notesSlides/notesSlide125.xml" Id="R551c431c327a490b"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xml" Id="R1d073ad4dcad4bea" /><Relationship Type="http://schemas.openxmlformats.org/officeDocument/2006/relationships/notesSlide" Target="/ppt/notesSlides/notesSlide126.xml" Id="R097a3e1bb29040ce"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xml" Id="R6d4a320bfc2a449c" /><Relationship Type="http://schemas.openxmlformats.org/officeDocument/2006/relationships/notesSlide" Target="/ppt/notesSlides/notesSlide127.xml" Id="R28bc7ce86ea54051"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xml" Id="Re483cf0b07df46aa" /><Relationship Type="http://schemas.openxmlformats.org/officeDocument/2006/relationships/notesSlide" Target="/ppt/notesSlides/notesSlide128.xml" Id="R5d914f12671c4707"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1.xml" Id="R7d0063b1f43d4481" /><Relationship Type="http://schemas.openxmlformats.org/officeDocument/2006/relationships/notesSlide" Target="/ppt/notesSlides/notesSlide129.xml" Id="R5e7b83d7d9434961"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xml" Id="Re8e4b8c4d7f84149" /><Relationship Type="http://schemas.openxmlformats.org/officeDocument/2006/relationships/notesSlide" Target="/ppt/notesSlides/notesSlide130.xml" Id="R68d2a5f1c96b4e11"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xml" Id="Rcda69e86ec9b4907" /><Relationship Type="http://schemas.openxmlformats.org/officeDocument/2006/relationships/notesSlide" Target="/ppt/notesSlides/notesSlide131.xml" Id="R15931ff90e9c46e8"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xml" Id="R26af8db2c7b143e9" /><Relationship Type="http://schemas.openxmlformats.org/officeDocument/2006/relationships/notesSlide" Target="/ppt/notesSlides/notesSlide132.xml" Id="Rde613e09535144d7"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xml" Id="R33e00d8b67f24ac1" /><Relationship Type="http://schemas.openxmlformats.org/officeDocument/2006/relationships/notesSlide" Target="/ppt/notesSlides/notesSlide133.xml" Id="R997673f7d1a84c89"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1.xml" Id="R6fdc3164d48b4d0e" /><Relationship Type="http://schemas.openxmlformats.org/officeDocument/2006/relationships/notesSlide" Target="/ppt/notesSlides/notesSlide134.xml" Id="R98bb4df991e44fe3"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1.xml" Id="Re365e554ea6e48d2" /><Relationship Type="http://schemas.openxmlformats.org/officeDocument/2006/relationships/notesSlide" Target="/ppt/notesSlides/notesSlide135.xml" Id="R1280a739d9994f81"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1.xml" Id="R4fc8ce00ff494686" /><Relationship Type="http://schemas.openxmlformats.org/officeDocument/2006/relationships/notesSlide" Target="/ppt/notesSlides/notesSlide136.xml" Id="Rcfdd0544bc334df7"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1.xml" Id="R9b768bebaa6f4743" /><Relationship Type="http://schemas.openxmlformats.org/officeDocument/2006/relationships/notesSlide" Target="/ppt/notesSlides/notesSlide137.xml" Id="R1b17a9abd5b346d5"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1.xml" Id="R615d6c3e10a34ac9" /><Relationship Type="http://schemas.openxmlformats.org/officeDocument/2006/relationships/notesSlide" Target="/ppt/notesSlides/notesSlide138.xml" Id="R785394c6b7ce4a35"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1.xml" Id="R5fcd72d93204446c" /><Relationship Type="http://schemas.openxmlformats.org/officeDocument/2006/relationships/notesSlide" Target="/ppt/notesSlides/notesSlide139.xml" Id="R24809424a873466c"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1.xml" Id="R0398aec10d0b4a24" /><Relationship Type="http://schemas.openxmlformats.org/officeDocument/2006/relationships/notesSlide" Target="/ppt/notesSlides/notesSlide140.xml" Id="R85487f28b6a34fe8"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1.xml" Id="R89038ac3b774443c" /><Relationship Type="http://schemas.openxmlformats.org/officeDocument/2006/relationships/notesSlide" Target="/ppt/notesSlides/notesSlide141.xml" Id="Re29b16cf16c04f4b"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1.xml" Id="R4c3088f753cf4c1d" /><Relationship Type="http://schemas.openxmlformats.org/officeDocument/2006/relationships/notesSlide" Target="/ppt/notesSlides/notesSlide142.xml" Id="Re2273bec4c024e03"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1.xml" Id="R47a1bb4872aa4fa5" /><Relationship Type="http://schemas.openxmlformats.org/officeDocument/2006/relationships/notesSlide" Target="/ppt/notesSlides/notesSlide143.xml" Id="R12dfd5b092084efd"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1.xml" Id="Rfec926a6f1e34b12" /><Relationship Type="http://schemas.openxmlformats.org/officeDocument/2006/relationships/notesSlide" Target="/ppt/notesSlides/notesSlide144.xml" Id="Rdf8663574a61423e"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1.xml" Id="Rad8b363e06504ad8" /><Relationship Type="http://schemas.openxmlformats.org/officeDocument/2006/relationships/notesSlide" Target="/ppt/notesSlides/notesSlide145.xml" Id="Ra7e6d6f7a63a4c86"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1.xml" Id="Rb98b03f893b84973" /><Relationship Type="http://schemas.openxmlformats.org/officeDocument/2006/relationships/notesSlide" Target="/ppt/notesSlides/notesSlide146.xml" Id="R13362fa7760941c7"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1.xml" Id="R2e9828765b5d42e9" /><Relationship Type="http://schemas.openxmlformats.org/officeDocument/2006/relationships/notesSlide" Target="/ppt/notesSlides/notesSlide147.xml" Id="Rb45390967e734549"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1.xml" Id="R470cf62f62544b7d" /><Relationship Type="http://schemas.openxmlformats.org/officeDocument/2006/relationships/notesSlide" Target="/ppt/notesSlides/notesSlide148.xml" Id="R4a693d83e0434370"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1.xml" Id="R2680fd75843945b4" /><Relationship Type="http://schemas.openxmlformats.org/officeDocument/2006/relationships/notesSlide" Target="/ppt/notesSlides/notesSlide149.xml" Id="Rfcde7a79be8b4973"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1.xml" Id="R8daf444be1074d87" /><Relationship Type="http://schemas.openxmlformats.org/officeDocument/2006/relationships/notesSlide" Target="/ppt/notesSlides/notesSlide150.xml" Id="Raa87c2a459d84b9a"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1.xml" Id="R7efaa233264a4d0c" /><Relationship Type="http://schemas.openxmlformats.org/officeDocument/2006/relationships/notesSlide" Target="/ppt/notesSlides/notesSlide151.xml" Id="Rcad2166496cc4e9a"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1.xml" Id="Re3090563d6464650" /><Relationship Type="http://schemas.openxmlformats.org/officeDocument/2006/relationships/notesSlide" Target="/ppt/notesSlides/notesSlide152.xml" Id="R367b5f1901ec4b0e"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1.xml" Id="R0e2b96d70b524792" /><Relationship Type="http://schemas.openxmlformats.org/officeDocument/2006/relationships/notesSlide" Target="/ppt/notesSlides/notesSlide153.xml" Id="R3dc461542a8844a7"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1.xml" Id="Rc05e180869e849d1" /><Relationship Type="http://schemas.openxmlformats.org/officeDocument/2006/relationships/notesSlide" Target="/ppt/notesSlides/notesSlide154.xml" Id="R1194d9c877dc4915"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1.xml" Id="R0c3c6f78e1b54cdd" /><Relationship Type="http://schemas.openxmlformats.org/officeDocument/2006/relationships/notesSlide" Target="/ppt/notesSlides/notesSlide155.xml" Id="R28a5b3ab91c74516"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1.xml" Id="R1d5c5a6a5be441f5" /><Relationship Type="http://schemas.openxmlformats.org/officeDocument/2006/relationships/notesSlide" Target="/ppt/notesSlides/notesSlide156.xml" Id="R723168ca1128494e"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1.xml" Id="Rda964e22272c427d" /><Relationship Type="http://schemas.openxmlformats.org/officeDocument/2006/relationships/notesSlide" Target="/ppt/notesSlides/notesSlide157.xml" Id="Rea0054f6db234a16"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1.xml" Id="R8b51e5d866334bae" /><Relationship Type="http://schemas.openxmlformats.org/officeDocument/2006/relationships/notesSlide" Target="/ppt/notesSlides/notesSlide158.xml" Id="Rb9a294e39c4043e3"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1.xml" Id="R26bcf72acc9f460b" /><Relationship Type="http://schemas.openxmlformats.org/officeDocument/2006/relationships/notesSlide" Target="/ppt/notesSlides/notesSlide159.xml" Id="Rb16479ca57604b17"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1.xml" Id="R06266dbafa7b41ca" /><Relationship Type="http://schemas.openxmlformats.org/officeDocument/2006/relationships/notesSlide" Target="/ppt/notesSlides/notesSlide160.xml" Id="R268bd7ecc3a441e4"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1.xml" Id="R84f9baaec9624db5" /><Relationship Type="http://schemas.openxmlformats.org/officeDocument/2006/relationships/notesSlide" Target="/ppt/notesSlides/notesSlide161.xml" Id="R683b2e640b8c43b0"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1.xml" Id="R58532365ea094f09" /><Relationship Type="http://schemas.openxmlformats.org/officeDocument/2006/relationships/notesSlide" Target="/ppt/notesSlides/notesSlide162.xml" Id="Rd6735859996c4966"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1.xml" Id="R71f723295bf04384" /><Relationship Type="http://schemas.openxmlformats.org/officeDocument/2006/relationships/notesSlide" Target="/ppt/notesSlides/notesSlide163.xml" Id="R02aa8ecbfc704574"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1.xml" Id="R25a5158188cc417d" /><Relationship Type="http://schemas.openxmlformats.org/officeDocument/2006/relationships/notesSlide" Target="/ppt/notesSlides/notesSlide164.xml" Id="Rfaf4080b826240ff"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1.xml" Id="Rb2af08c79dc449ad" /><Relationship Type="http://schemas.openxmlformats.org/officeDocument/2006/relationships/notesSlide" Target="/ppt/notesSlides/notesSlide165.xml" Id="Rc3e532fafd064b5d"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1.xml" Id="R23fc1fe30514456c" /><Relationship Type="http://schemas.openxmlformats.org/officeDocument/2006/relationships/notesSlide" Target="/ppt/notesSlides/notesSlide166.xml" Id="Ra7be3f252ae44501"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1.xml" Id="Rd3d5f63bfd2c4f76" /><Relationship Type="http://schemas.openxmlformats.org/officeDocument/2006/relationships/notesSlide" Target="/ppt/notesSlides/notesSlide167.xml" Id="R828499bde2a14790"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1.xml" Id="R0f24532b545948e0" /><Relationship Type="http://schemas.openxmlformats.org/officeDocument/2006/relationships/notesSlide" Target="/ppt/notesSlides/notesSlide168.xml" Id="R59e1fa8b6e7540c8"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1.xml" Id="R8f6aa4e78b9946c1" /><Relationship Type="http://schemas.openxmlformats.org/officeDocument/2006/relationships/notesSlide" Target="/ppt/notesSlides/notesSlide169.xml" Id="R8595828af6ce42b0"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1.xml" Id="R62db4398ca2b40df" /><Relationship Type="http://schemas.openxmlformats.org/officeDocument/2006/relationships/notesSlide" Target="/ppt/notesSlides/notesSlide170.xml" Id="R841cc689fd114dbc"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1.xml" Id="R1b01bc7a72cb4814" /><Relationship Type="http://schemas.openxmlformats.org/officeDocument/2006/relationships/notesSlide" Target="/ppt/notesSlides/notesSlide171.xml" Id="Ra9c8855b275f411d"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1.xml" Id="Rec7d8aeae3024316" /><Relationship Type="http://schemas.openxmlformats.org/officeDocument/2006/relationships/notesSlide" Target="/ppt/notesSlides/notesSlide172.xml" Id="R68426c05f95f4608"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1.xml" Id="R2bb6cb11e77449de" /><Relationship Type="http://schemas.openxmlformats.org/officeDocument/2006/relationships/notesSlide" Target="/ppt/notesSlides/notesSlide173.xml" Id="R5c07014466724c4c"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1.xml" Id="R347f6e5f4d544e30" /><Relationship Type="http://schemas.openxmlformats.org/officeDocument/2006/relationships/notesSlide" Target="/ppt/notesSlides/notesSlide174.xml" Id="R7bad63bb1f90429f"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1.xml" Id="R4b1cc8ad883047cd" /><Relationship Type="http://schemas.openxmlformats.org/officeDocument/2006/relationships/notesSlide" Target="/ppt/notesSlides/notesSlide175.xml" Id="R88c06e02db654994"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1.xml" Id="R93c78a40656b4910" /><Relationship Type="http://schemas.openxmlformats.org/officeDocument/2006/relationships/notesSlide" Target="/ppt/notesSlides/notesSlide176.xml" Id="R21f96829c098472d"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1.xml" Id="R729304cdc25447f1" /><Relationship Type="http://schemas.openxmlformats.org/officeDocument/2006/relationships/notesSlide" Target="/ppt/notesSlides/notesSlide177.xml" Id="R6768509347504843"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1.xml" Id="R89eccb461ddd49b2" /><Relationship Type="http://schemas.openxmlformats.org/officeDocument/2006/relationships/notesSlide" Target="/ppt/notesSlides/notesSlide178.xml" Id="R748b5c1bd303462b"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1.xml" Id="R062bf614952548ef" /><Relationship Type="http://schemas.openxmlformats.org/officeDocument/2006/relationships/notesSlide" Target="/ppt/notesSlides/notesSlide179.xml" Id="Rc801090615694d88"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1.xml" Id="Raa3bae645cf04b43" /><Relationship Type="http://schemas.openxmlformats.org/officeDocument/2006/relationships/notesSlide" Target="/ppt/notesSlides/notesSlide180.xml" Id="R9817f4c935814b02"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1.xml" Id="Re4fd8a766d454c8c" /><Relationship Type="http://schemas.openxmlformats.org/officeDocument/2006/relationships/notesSlide" Target="/ppt/notesSlides/notesSlide181.xml" Id="Rd116b830cb8544c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b49cc5cc822402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9C8B872-5D87-4C8F-AE93-3A757D14FF51}"/>
              </a:ext>
            </a:extLst>
          </p:cNvPr>
          <p:cNvSpPr>
            <a:spLocks xmlns:a="http://schemas.openxmlformats.org/drawingml/2006/main" noGrp="1"/>
          </p:cNvSpPr>
          <p:nvPr/>
        </p:nvSpPr>
        <p:spPr>
          <a:xfrm xmlns:a="http://schemas.openxmlformats.org/drawingml/2006/main">
            <a:off x="609600" y="857250"/>
            <a:ext cx="6096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650" b="1">
                <a:solidFill>
                  <a:srgbClr val="0B5563"/>
                </a:solidFill>
                <a:latin typeface="Arial"/>
                <a:ea typeface="Arial"/>
                <a:cs typeface="Arial"/>
              </a:defRPr>
            </a:pPr>
            <a:r>
              <a:rPr sz="4650" b="1">
                <a:solidFill>
                  <a:srgbClr val="0B5563"/>
                </a:solidFill>
                <a:latin typeface="Arial"/>
                <a:ea typeface="Arial"/>
                <a:cs typeface="Arial"/>
              </a:rPr>
              <a:t>Forward Deployed Delivery</a:t>
            </a:r>
          </a:p>
        </p:txBody>
      </p:sp>
      <p:sp>
        <p:nvSpPr>
          <p:cNvPr id="3" name="">
            <a:extLst xmlns:a="http://schemas.openxmlformats.org/drawingml/2006/main">
              <a:ext uri="{FF2B5EF4-FFF2-40B4-BE49-F238E27FC236}">
                <a16:creationId xmlns:a16="http://schemas.microsoft.com/office/drawing/2014/main" id="{5DE5A733-6B58-4319-8ABE-53D19EAE6960}"/>
              </a:ext>
            </a:extLst>
          </p:cNvPr>
          <p:cNvSpPr>
            <a:spLocks xmlns:a="http://schemas.openxmlformats.org/drawingml/2006/main" noGrp="1"/>
          </p:cNvSpPr>
          <p:nvPr/>
        </p:nvSpPr>
        <p:spPr>
          <a:xfrm xmlns:a="http://schemas.openxmlformats.org/drawingml/2006/main">
            <a:off x="609600" y="3476625"/>
            <a:ext cx="5715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From an ambiguous problem to a reviewed, adopted solution</a:t>
            </a:r>
          </a:p>
        </p:txBody>
      </p:sp>
      <p:sp>
        <p:nvSpPr>
          <p:cNvPr id="4" name="">
            <a:extLst xmlns:a="http://schemas.openxmlformats.org/drawingml/2006/main">
              <a:ext uri="{FF2B5EF4-FFF2-40B4-BE49-F238E27FC236}">
                <a16:creationId xmlns:a16="http://schemas.microsoft.com/office/drawing/2014/main" id="{20FC24E5-7FF1-499F-81A3-8DE59A993C22}"/>
              </a:ext>
            </a:extLst>
          </p:cNvPr>
          <p:cNvSpPr>
            <a:spLocks xmlns:a="http://schemas.openxmlformats.org/drawingml/2006/main" noGrp="1"/>
          </p:cNvSpPr>
          <p:nvPr/>
        </p:nvSpPr>
        <p:spPr>
          <a:xfrm xmlns:a="http://schemas.openxmlformats.org/drawingml/2006/main">
            <a:off x="609600" y="5619750"/>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2222B"/>
                </a:solidFill>
                <a:latin typeface="Arial"/>
                <a:ea typeface="Arial"/>
                <a:cs typeface="Arial"/>
              </a:defRPr>
            </a:pPr>
            <a:r>
              <a:rPr sz="1800" b="0">
                <a:solidFill>
                  <a:srgbClr val="12222B"/>
                </a:solidFill>
                <a:latin typeface="Arial"/>
                <a:ea typeface="Arial"/>
                <a:cs typeface="Arial"/>
              </a:rPr>
              <a:t>36 lessons · guided coding · synthetic case</a:t>
            </a:r>
          </a:p>
        </p:txBody>
      </p:sp>
    </p:spTree>
    <p:extLst>
      <p:ext uri="{BB962C8B-B14F-4D97-AF65-F5344CB8AC3E}">
        <p14:creationId xmlns:p14="http://schemas.microsoft.com/office/powerpoint/2010/main" val="1869638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DBF33B-BCB8-488F-80F1-C672FEBE96F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9B2F3AEC-091C-4EB8-A589-128D96A7F41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FDE responsibility</a:t>
            </a:r>
          </a:p>
        </p:txBody>
      </p:sp>
      <p:sp>
        <p:nvSpPr>
          <p:cNvPr id="3" name="">
            <a:extLst xmlns:a="http://schemas.openxmlformats.org/drawingml/2006/main">
              <a:ext uri="{FF2B5EF4-FFF2-40B4-BE49-F238E27FC236}">
                <a16:creationId xmlns:a16="http://schemas.microsoft.com/office/drawing/2014/main" id="{55D1B9BF-6A5C-4235-B25A-703075DD75E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E65C6140-BD13-4E76-A5F0-BDDBC707937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 forward deployed engineer works close to the people who bear the consequences of a system. The responsibility extends from understanding an ambiguous request to helping the operation adopt a useful change. Technical work remains essential. The difference is the boundary of ownership: a deployed feature is an intermediate milestone. An outcome requires observable workflow change, a responsible operator, and evidence collected after adoption. Keep these boundaries visible when stakeholders celebrate a successful demonstration.</a:t>
            </a:r>
          </a:p>
        </p:txBody>
      </p:sp>
      <p:sp>
        <p:nvSpPr>
          <p:cNvPr id="5" name="">
            <a:extLst xmlns:a="http://schemas.openxmlformats.org/drawingml/2006/main">
              <a:ext uri="{FF2B5EF4-FFF2-40B4-BE49-F238E27FC236}">
                <a16:creationId xmlns:a16="http://schemas.microsoft.com/office/drawing/2014/main" id="{0E1744EC-AFA1-49AE-8A55-4DB5C9A1A38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5437038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1FC02C-EE83-4B30-86B8-31DA4255453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2A6FE0EC-6DD4-49F7-A0BD-3721E645967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FDE responsibility</a:t>
            </a:r>
          </a:p>
        </p:txBody>
      </p:sp>
      <p:sp>
        <p:nvSpPr>
          <p:cNvPr id="3" name="">
            <a:extLst xmlns:a="http://schemas.openxmlformats.org/drawingml/2006/main">
              <a:ext uri="{FF2B5EF4-FFF2-40B4-BE49-F238E27FC236}">
                <a16:creationId xmlns:a16="http://schemas.microsoft.com/office/drawing/2014/main" id="{B1FEDDAC-5681-46C2-8410-68BA1726074C}"/>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D0DC942C-831B-4BD9-8750-6C2A980D497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Northstar Support asks for an AI assistant. Twenty agents handle access, billing, and incident tickets. A polished demo receives applause, but agents still copy tickets into a spreadsheet. The deployer has delivered software while the operating workflow remains unchanged.</a:t>
            </a:r>
          </a:p>
        </p:txBody>
      </p:sp>
      <p:sp>
        <p:nvSpPr>
          <p:cNvPr id="5" name="">
            <a:extLst xmlns:a="http://schemas.openxmlformats.org/drawingml/2006/main">
              <a:ext uri="{FF2B5EF4-FFF2-40B4-BE49-F238E27FC236}">
                <a16:creationId xmlns:a16="http://schemas.microsoft.com/office/drawing/2014/main" id="{D51B8DDB-72EE-4B73-9478-DE6EA29C7F9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865732809"/>
      </p:ext>
    </p:extLst>
  </p:cSld>
</p:sld>
</file>

<file path=ppt/slides/slide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CA1E80-EEFE-4FAA-B417-F9B25A08FDE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995421BA-B23E-4469-AED5-CC6D15D5E21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FDE responsibility</a:t>
            </a:r>
          </a:p>
        </p:txBody>
      </p:sp>
      <p:sp>
        <p:nvSpPr>
          <p:cNvPr id="3" name="">
            <a:extLst xmlns:a="http://schemas.openxmlformats.org/drawingml/2006/main">
              <a:ext uri="{FF2B5EF4-FFF2-40B4-BE49-F238E27FC236}">
                <a16:creationId xmlns:a16="http://schemas.microsoft.com/office/drawing/2014/main" id="{2FF41EBC-8613-4839-B0A9-F95402973EE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B0802C15-600F-46C2-A89D-B4AF1A204B2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Write one statement describing the delivery milestone and another describing the operating outcome. Name who could verify each.</a:t>
            </a:r>
          </a:p>
        </p:txBody>
      </p:sp>
      <p:sp>
        <p:nvSpPr>
          <p:cNvPr id="5" name="">
            <a:extLst xmlns:a="http://schemas.openxmlformats.org/drawingml/2006/main">
              <a:ext uri="{FF2B5EF4-FFF2-40B4-BE49-F238E27FC236}">
                <a16:creationId xmlns:a16="http://schemas.microsoft.com/office/drawing/2014/main" id="{0E709785-6D5C-4C02-A999-BD053DF7012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2416835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7061E71-8FB5-453C-965C-C89CF36A78D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7A7C861F-C95C-4F87-AB39-4BB27BCF513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FDE responsibility</a:t>
            </a:r>
          </a:p>
        </p:txBody>
      </p:sp>
      <p:sp>
        <p:nvSpPr>
          <p:cNvPr id="3" name="">
            <a:extLst xmlns:a="http://schemas.openxmlformats.org/drawingml/2006/main">
              <a:ext uri="{FF2B5EF4-FFF2-40B4-BE49-F238E27FC236}">
                <a16:creationId xmlns:a16="http://schemas.microsoft.com/office/drawing/2014/main" id="{03D84240-662B-41F9-A8B2-5AA6D2CB2A6C}"/>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56A2E39D-CF59-4F3C-B844-A09E214DF1B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Delivery: the authorized reviewer can load a ticket and inspect a routing suggestion. Outcome: agents use that suggestion in their actual queue, with lower review time and no increase in misrouting. The engineering lead verifies delivery. Maya, the support lead, owns adoption evidence. A screenshot supports the first statement; a defined observation period and review records support the second.</a:t>
            </a:r>
          </a:p>
        </p:txBody>
      </p:sp>
      <p:sp>
        <p:nvSpPr>
          <p:cNvPr id="5" name="">
            <a:extLst xmlns:a="http://schemas.openxmlformats.org/drawingml/2006/main">
              <a:ext uri="{FF2B5EF4-FFF2-40B4-BE49-F238E27FC236}">
                <a16:creationId xmlns:a16="http://schemas.microsoft.com/office/drawing/2014/main" id="{FC122797-99C2-42BD-9B1E-6B3DAE78EEB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18678810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5D6ED4-CE27-45D5-A8EE-7F576CB0B59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C1D4E987-D366-413C-8B29-78C4F8148F0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FDE responsibility</a:t>
            </a:r>
          </a:p>
        </p:txBody>
      </p:sp>
      <p:sp>
        <p:nvSpPr>
          <p:cNvPr id="3" name="">
            <a:extLst xmlns:a="http://schemas.openxmlformats.org/drawingml/2006/main">
              <a:ext uri="{FF2B5EF4-FFF2-40B4-BE49-F238E27FC236}">
                <a16:creationId xmlns:a16="http://schemas.microsoft.com/office/drawing/2014/main" id="{58FFE169-D4D4-4D12-8F54-56C7B525650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0CB4618D-1679-4E6D-83E6-EF26CF184EE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Which evidence best supports an adopted outcome?</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A successful demo</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Observed workflow use and predefined outcome measures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A completed code review</a:t>
            </a:r>
          </a:p>
        </p:txBody>
      </p:sp>
      <p:sp>
        <p:nvSpPr>
          <p:cNvPr id="5" name="">
            <a:extLst xmlns:a="http://schemas.openxmlformats.org/drawingml/2006/main">
              <a:ext uri="{FF2B5EF4-FFF2-40B4-BE49-F238E27FC236}">
                <a16:creationId xmlns:a16="http://schemas.microsoft.com/office/drawing/2014/main" id="{C5AC581E-18A6-4D63-A347-AEFEF7903E1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4092782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07A103-315A-4074-AFCD-7FC07B44C88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793BD72F-403F-4419-BCC6-7B8C79F599A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Six principles in a decision</a:t>
            </a:r>
          </a:p>
        </p:txBody>
      </p:sp>
      <p:sp>
        <p:nvSpPr>
          <p:cNvPr id="3" name="">
            <a:extLst xmlns:a="http://schemas.openxmlformats.org/drawingml/2006/main">
              <a:ext uri="{FF2B5EF4-FFF2-40B4-BE49-F238E27FC236}">
                <a16:creationId xmlns:a16="http://schemas.microsoft.com/office/drawing/2014/main" id="{D83569C2-0B52-4B34-BF74-790CFFBB254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F95CD0D8-A48F-4351-B6FC-745E3E84B85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framework gives six postures: own the outcome, stay close to reality, act to learn, know what you know, trade off on purpose, and leave capability behind. Apply them to an actual choice. Ask whose result matters, what you observed, which experiment reduces uncertainty, which claims remain assumptions, what risk you are accepting, and what will remain useful when you leave. A principle becomes practical when it changes scope, evidence, authority, or sequencing.</a:t>
            </a:r>
          </a:p>
        </p:txBody>
      </p:sp>
      <p:sp>
        <p:nvSpPr>
          <p:cNvPr id="5" name="">
            <a:extLst xmlns:a="http://schemas.openxmlformats.org/drawingml/2006/main">
              <a:ext uri="{FF2B5EF4-FFF2-40B4-BE49-F238E27FC236}">
                <a16:creationId xmlns:a16="http://schemas.microsoft.com/office/drawing/2014/main" id="{8773ACA5-B502-4773-9109-930D585DF05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0648933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FE5C60-6806-4BDE-B0C0-84296807C6E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D560F8D1-B110-4952-B345-49E1CD71013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Six principles in a decision</a:t>
            </a:r>
          </a:p>
        </p:txBody>
      </p:sp>
      <p:sp>
        <p:nvSpPr>
          <p:cNvPr id="3" name="">
            <a:extLst xmlns:a="http://schemas.openxmlformats.org/drawingml/2006/main">
              <a:ext uri="{FF2B5EF4-FFF2-40B4-BE49-F238E27FC236}">
                <a16:creationId xmlns:a16="http://schemas.microsoft.com/office/drawing/2014/main" id="{C7AAE1EB-4D63-4C89-B4F8-16280153A01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D9E13494-628E-4EAE-8CFC-1405A72F7B1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sponsor requests automatic replies this Friday. You have permission to analyze synthetic tickets but no authority to send customer messages. Maya agrees to test suggestions with human review. The security reviewer has not assessed production data access.</a:t>
            </a:r>
          </a:p>
        </p:txBody>
      </p:sp>
      <p:sp>
        <p:nvSpPr>
          <p:cNvPr id="5" name="">
            <a:extLst xmlns:a="http://schemas.openxmlformats.org/drawingml/2006/main">
              <a:ext uri="{FF2B5EF4-FFF2-40B4-BE49-F238E27FC236}">
                <a16:creationId xmlns:a16="http://schemas.microsoft.com/office/drawing/2014/main" id="{045D80B6-E1BC-485A-9C41-8616F09857C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040370205"/>
      </p:ext>
    </p:extLst>
  </p:cSld>
</p:sld>
</file>

<file path=ppt/slides/slide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64609C-C206-45F7-8755-1B224A15806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2C1FE913-AF17-4E72-B7D0-A52ABEC2653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Six principles in a decision</a:t>
            </a:r>
          </a:p>
        </p:txBody>
      </p:sp>
      <p:sp>
        <p:nvSpPr>
          <p:cNvPr id="3" name="">
            <a:extLst xmlns:a="http://schemas.openxmlformats.org/drawingml/2006/main">
              <a:ext uri="{FF2B5EF4-FFF2-40B4-BE49-F238E27FC236}">
                <a16:creationId xmlns:a16="http://schemas.microsoft.com/office/drawing/2014/main" id="{23489337-25A1-400C-ABBF-A160D0FD9E4C}"/>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EF3BE631-62EB-4618-BF5F-1A7C2B457E8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Select a Friday deliverable. Explain its learning value, authority boundary, and reusable output.</a:t>
            </a:r>
          </a:p>
        </p:txBody>
      </p:sp>
      <p:sp>
        <p:nvSpPr>
          <p:cNvPr id="5" name="">
            <a:extLst xmlns:a="http://schemas.openxmlformats.org/drawingml/2006/main">
              <a:ext uri="{FF2B5EF4-FFF2-40B4-BE49-F238E27FC236}">
                <a16:creationId xmlns:a16="http://schemas.microsoft.com/office/drawing/2014/main" id="{6A1BC805-DF6E-4584-B3C7-BD00A939D30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9857567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CB56D5-EE6A-42B5-AFEB-CECC61AB663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FDB3F7A9-59CE-443D-8F0D-C7D1000B7AB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Six principles in a decision</a:t>
            </a:r>
          </a:p>
        </p:txBody>
      </p:sp>
      <p:sp>
        <p:nvSpPr>
          <p:cNvPr id="3" name="">
            <a:extLst xmlns:a="http://schemas.openxmlformats.org/drawingml/2006/main">
              <a:ext uri="{FF2B5EF4-FFF2-40B4-BE49-F238E27FC236}">
                <a16:creationId xmlns:a16="http://schemas.microsoft.com/office/drawing/2014/main" id="{019BE6D3-F822-4D1E-86B1-1644AC54800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A6EDCCA4-3145-465E-93C2-58153785936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Deliver one synthetic ticket flowing through a routing rule, a review screen, and an observable decision. Record a prediction about review usefulness. Do not send messages. Keep the data validation and audit helper reusable. This accepts limited scope and avoids committing the organization to an unreviewed action channel. It also creates a measurable question for the next experiment.</a:t>
            </a:r>
          </a:p>
        </p:txBody>
      </p:sp>
      <p:sp>
        <p:nvSpPr>
          <p:cNvPr id="5" name="">
            <a:extLst xmlns:a="http://schemas.openxmlformats.org/drawingml/2006/main">
              <a:ext uri="{FF2B5EF4-FFF2-40B4-BE49-F238E27FC236}">
                <a16:creationId xmlns:a16="http://schemas.microsoft.com/office/drawing/2014/main" id="{4D91D0A8-0C24-4A8F-9351-E58727B341A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2205847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F290F7-201D-46E9-A67F-76E6EB95E66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12B6C2BD-7ECE-4C9B-A03F-9998A00255B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Six principles in a decision</a:t>
            </a:r>
          </a:p>
        </p:txBody>
      </p:sp>
      <p:sp>
        <p:nvSpPr>
          <p:cNvPr id="3" name="">
            <a:extLst xmlns:a="http://schemas.openxmlformats.org/drawingml/2006/main">
              <a:ext uri="{FF2B5EF4-FFF2-40B4-BE49-F238E27FC236}">
                <a16:creationId xmlns:a16="http://schemas.microsoft.com/office/drawing/2014/main" id="{FE7FA0BB-6C0A-405B-A764-B8B574D3488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201F70AC-40E4-4F16-BA75-AB7EACD2DA0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Which choice respects the permission boundary?</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Send replies because the sponsor requested speed</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Use production data without telling security</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Test a reviewable suggestion with permitted data</a:t>
            </a:r>
          </a:p>
        </p:txBody>
      </p:sp>
      <p:sp>
        <p:nvSpPr>
          <p:cNvPr id="5" name="">
            <a:extLst xmlns:a="http://schemas.openxmlformats.org/drawingml/2006/main">
              <a:ext uri="{FF2B5EF4-FFF2-40B4-BE49-F238E27FC236}">
                <a16:creationId xmlns:a16="http://schemas.microsoft.com/office/drawing/2014/main" id="{19ECE21E-0E5D-4DA2-B73C-4F24D3F160E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0789542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61E221-6312-4CAB-9C1B-B79D9A1E209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CA679FA7-00C7-4EC1-86B9-F5FFAB610B8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portfolio of evidence</a:t>
            </a:r>
          </a:p>
        </p:txBody>
      </p:sp>
      <p:sp>
        <p:nvSpPr>
          <p:cNvPr id="3" name="">
            <a:extLst xmlns:a="http://schemas.openxmlformats.org/drawingml/2006/main">
              <a:ext uri="{FF2B5EF4-FFF2-40B4-BE49-F238E27FC236}">
                <a16:creationId xmlns:a16="http://schemas.microsoft.com/office/drawing/2014/main" id="{62D5C4F0-7077-4FB6-9195-D9E47BDF87F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F9C690EE-534D-4817-96DD-8F98F3B8F46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eight capabilities cover discovery, signal extraction, systems thinking, technical breadth, delivery judgment, translation and trust, shipped learning, and ownership and compounding. Treat these as observable behaviors. A portfolio should show the problem you clarified, a complete working path, a consequential trade-off, a prediction made before action, and a reusable contribution. Self-ratings identify practice priorities. They do not independently verify readiness or replace evidence from work.</a:t>
            </a:r>
          </a:p>
        </p:txBody>
      </p:sp>
      <p:sp>
        <p:nvSpPr>
          <p:cNvPr id="5" name="">
            <a:extLst xmlns:a="http://schemas.openxmlformats.org/drawingml/2006/main">
              <a:ext uri="{FF2B5EF4-FFF2-40B4-BE49-F238E27FC236}">
                <a16:creationId xmlns:a16="http://schemas.microsoft.com/office/drawing/2014/main" id="{E98B4819-033B-49EA-897E-B38AE5A853B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85454010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B2DC1D-5115-45C4-8E3E-7D82CDFF81E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C17EF0B6-0D4C-400B-8A87-6DF27F4F4246}"/>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portfolio of evidence</a:t>
            </a:r>
          </a:p>
        </p:txBody>
      </p:sp>
      <p:sp>
        <p:nvSpPr>
          <p:cNvPr id="3" name="">
            <a:extLst xmlns:a="http://schemas.openxmlformats.org/drawingml/2006/main">
              <a:ext uri="{FF2B5EF4-FFF2-40B4-BE49-F238E27FC236}">
                <a16:creationId xmlns:a16="http://schemas.microsoft.com/office/drawing/2014/main" id="{51B22A5E-BAAA-455B-B7D5-B7A4155C8F0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4601A5AB-19B8-4719-8CE7-D8BA2F7D583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You can implement APIs quickly but have never observed users after rollout. Another learner writes strong discovery notes but cannot get data to a usable screen. Both have a specific practice gap, rather than one overall score that explains everything.</a:t>
            </a:r>
          </a:p>
        </p:txBody>
      </p:sp>
      <p:sp>
        <p:nvSpPr>
          <p:cNvPr id="5" name="">
            <a:extLst xmlns:a="http://schemas.openxmlformats.org/drawingml/2006/main">
              <a:ext uri="{FF2B5EF4-FFF2-40B4-BE49-F238E27FC236}">
                <a16:creationId xmlns:a16="http://schemas.microsoft.com/office/drawing/2014/main" id="{77CDF04C-80B3-47B7-A131-280B801539E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609393121"/>
      </p:ext>
    </p:extLst>
  </p:cSld>
</p:sld>
</file>

<file path=ppt/slides/slide1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930672-0D8E-4721-AD79-F9A8B34E824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CEB9FCB7-1A14-4D57-B92D-F733B402B27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portfolio of evidence</a:t>
            </a:r>
          </a:p>
        </p:txBody>
      </p:sp>
      <p:sp>
        <p:nvSpPr>
          <p:cNvPr id="3" name="">
            <a:extLst xmlns:a="http://schemas.openxmlformats.org/drawingml/2006/main">
              <a:ext uri="{FF2B5EF4-FFF2-40B4-BE49-F238E27FC236}">
                <a16:creationId xmlns:a16="http://schemas.microsoft.com/office/drawing/2014/main" id="{572F325F-B69C-4E17-9722-69760C613A3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B4BA7E11-84EC-4EC6-9CCE-406EA0D8861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Choose your weakest capability. Define a behavior that another person could observe and a course artifact that demonstrates it.</a:t>
            </a:r>
          </a:p>
        </p:txBody>
      </p:sp>
      <p:sp>
        <p:nvSpPr>
          <p:cNvPr id="5" name="">
            <a:extLst xmlns:a="http://schemas.openxmlformats.org/drawingml/2006/main">
              <a:ext uri="{FF2B5EF4-FFF2-40B4-BE49-F238E27FC236}">
                <a16:creationId xmlns:a16="http://schemas.microsoft.com/office/drawing/2014/main" id="{97AFAE3D-017E-41B2-BCB8-DDE36365210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5901084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2CBAFD-48C1-4EED-BBCD-E4798D5B296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3D05AE6F-7D10-48B7-919E-2EE73F894C8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portfolio of evidence</a:t>
            </a:r>
          </a:p>
        </p:txBody>
      </p:sp>
      <p:sp>
        <p:nvSpPr>
          <p:cNvPr id="3" name="">
            <a:extLst xmlns:a="http://schemas.openxmlformats.org/drawingml/2006/main">
              <a:ext uri="{FF2B5EF4-FFF2-40B4-BE49-F238E27FC236}">
                <a16:creationId xmlns:a16="http://schemas.microsoft.com/office/drawing/2014/main" id="{646D0AAE-DC1F-48B5-B730-888F632C2A1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EFA3C751-AD3B-4718-8AD7-5D2ED9BCB744}"/>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For adoption ownership, the behavior is scheduling and conducting an outcome reading with the operating owner. The artifact is a dated adoption record with actual usage, exception handling, and a decision. For technical breadth, demonstrate the input-to-output flow and diagnose a failed request. The capability equation in the source is a teaching heuristic, not a validated numerical performance formula.</a:t>
            </a:r>
          </a:p>
        </p:txBody>
      </p:sp>
      <p:sp>
        <p:nvSpPr>
          <p:cNvPr id="5" name="">
            <a:extLst xmlns:a="http://schemas.openxmlformats.org/drawingml/2006/main">
              <a:ext uri="{FF2B5EF4-FFF2-40B4-BE49-F238E27FC236}">
                <a16:creationId xmlns:a16="http://schemas.microsoft.com/office/drawing/2014/main" id="{27AAFA6A-7F7A-46B0-B68A-29F22F8C75C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5905510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2FD0EB-B07A-4946-9413-A81A48FBFBE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A083BA28-3726-4BA8-AC05-FF51A65BA93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portfolio of evidence</a:t>
            </a:r>
          </a:p>
        </p:txBody>
      </p:sp>
      <p:sp>
        <p:nvSpPr>
          <p:cNvPr id="3" name="">
            <a:extLst xmlns:a="http://schemas.openxmlformats.org/drawingml/2006/main">
              <a:ext uri="{FF2B5EF4-FFF2-40B4-BE49-F238E27FC236}">
                <a16:creationId xmlns:a16="http://schemas.microsoft.com/office/drawing/2014/main" id="{59E40208-DF18-4D90-A962-191C72972D6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91C9A285-5B27-4A4E-B15A-532F5060CCC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makes a capability claim stronger?</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A high self-rating</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A behavior someone else can verify</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Memorizing the framework</a:t>
            </a:r>
          </a:p>
        </p:txBody>
      </p:sp>
      <p:sp>
        <p:nvSpPr>
          <p:cNvPr id="5" name="">
            <a:extLst xmlns:a="http://schemas.openxmlformats.org/drawingml/2006/main">
              <a:ext uri="{FF2B5EF4-FFF2-40B4-BE49-F238E27FC236}">
                <a16:creationId xmlns:a16="http://schemas.microsoft.com/office/drawing/2014/main" id="{D18477F1-B2C1-43EB-BE32-0F6CB250FBB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05562528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EEC862-E123-4F1B-9D52-364B9EBF33C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D511CE00-6F69-4331-9226-FC725885C6B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case and the course boundary</a:t>
            </a:r>
          </a:p>
        </p:txBody>
      </p:sp>
      <p:sp>
        <p:nvSpPr>
          <p:cNvPr id="3" name="">
            <a:extLst xmlns:a="http://schemas.openxmlformats.org/drawingml/2006/main">
              <a:ext uri="{FF2B5EF4-FFF2-40B4-BE49-F238E27FC236}">
                <a16:creationId xmlns:a16="http://schemas.microsoft.com/office/drawing/2014/main" id="{A635B689-256E-4875-ABDF-BB687433C61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12ADE3E5-52B9-4F83-84C4-A13E7D6C53E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This course uses fictional evidence and a local prototype. You will practice a complete delivery loop while maintaining the distinction between simulated and field evidence. Each lesson produces something that feeds the next decision. Keep a dated journal, store your first prediction before examining later evidence, and separate your submission from the worked solution. Completion can demonstrate learning in this environment. Production competence also requires experience with real constraints, users, ownership, and consequences.</a:t>
            </a:r>
          </a:p>
        </p:txBody>
      </p:sp>
      <p:sp>
        <p:nvSpPr>
          <p:cNvPr id="5" name="">
            <a:extLst xmlns:a="http://schemas.openxmlformats.org/drawingml/2006/main">
              <a:ext uri="{FF2B5EF4-FFF2-40B4-BE49-F238E27FC236}">
                <a16:creationId xmlns:a16="http://schemas.microsoft.com/office/drawing/2014/main" id="{3EF4EA06-DA83-4C77-B12A-8231C4728C5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86358324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AC5CC2-C100-4623-BF6D-19DF65C4CAC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0E06C6CA-346F-4708-B724-F70FCD2CF58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case and the course boundary</a:t>
            </a:r>
          </a:p>
        </p:txBody>
      </p:sp>
      <p:sp>
        <p:nvSpPr>
          <p:cNvPr id="3" name="">
            <a:extLst xmlns:a="http://schemas.openxmlformats.org/drawingml/2006/main">
              <a:ext uri="{FF2B5EF4-FFF2-40B4-BE49-F238E27FC236}">
                <a16:creationId xmlns:a16="http://schemas.microsoft.com/office/drawing/2014/main" id="{562FE616-0B0C-45A5-BBFB-BD94801B276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A18791ED-B5C4-474F-BA03-C2593FF4C45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Northstar has a fictional baseline of 20 minutes per ticket review. A later sample reports 12 minutes. These values exist for practicing measurement and judgment. They are neither market benchmarks nor promises about AI productivity.</a:t>
            </a:r>
          </a:p>
        </p:txBody>
      </p:sp>
      <p:sp>
        <p:nvSpPr>
          <p:cNvPr id="5" name="">
            <a:extLst xmlns:a="http://schemas.openxmlformats.org/drawingml/2006/main">
              <a:ext uri="{FF2B5EF4-FFF2-40B4-BE49-F238E27FC236}">
                <a16:creationId xmlns:a16="http://schemas.microsoft.com/office/drawing/2014/main" id="{E54BBD81-AA0E-49A6-B388-26B06BF39B8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20496165"/>
      </p:ext>
    </p:extLst>
  </p:cSld>
</p:sld>
</file>

<file path=ppt/slides/slide1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1BAD70-1A3B-481A-9584-E20D4C6838A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BF8BAAB2-D4D1-4820-AE01-98BE89458C7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case and the course boundary</a:t>
            </a:r>
          </a:p>
        </p:txBody>
      </p:sp>
      <p:sp>
        <p:nvSpPr>
          <p:cNvPr id="3" name="">
            <a:extLst xmlns:a="http://schemas.openxmlformats.org/drawingml/2006/main">
              <a:ext uri="{FF2B5EF4-FFF2-40B4-BE49-F238E27FC236}">
                <a16:creationId xmlns:a16="http://schemas.microsoft.com/office/drawing/2014/main" id="{ED29822B-E857-4069-B0BE-D94F2B39EC8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F1DE9415-CA9F-4751-ADA8-963F215F23C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Create a dated learning journal with headings for evidence, assumptions, predictions, observed results, and decisions.</a:t>
            </a:r>
          </a:p>
        </p:txBody>
      </p:sp>
      <p:sp>
        <p:nvSpPr>
          <p:cNvPr id="5" name="">
            <a:extLst xmlns:a="http://schemas.openxmlformats.org/drawingml/2006/main">
              <a:ext uri="{FF2B5EF4-FFF2-40B4-BE49-F238E27FC236}">
                <a16:creationId xmlns:a16="http://schemas.microsoft.com/office/drawing/2014/main" id="{51EAB966-A741-4782-97CB-977F9FA8E1A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10431880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DA81FE-DAC6-4A07-B21C-114BC234317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664F95E9-3CCF-4603-88D3-7050B1ED724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case and the course boundary</a:t>
            </a:r>
          </a:p>
        </p:txBody>
      </p:sp>
      <p:sp>
        <p:nvSpPr>
          <p:cNvPr id="3" name="">
            <a:extLst xmlns:a="http://schemas.openxmlformats.org/drawingml/2006/main">
              <a:ext uri="{FF2B5EF4-FFF2-40B4-BE49-F238E27FC236}">
                <a16:creationId xmlns:a16="http://schemas.microsoft.com/office/drawing/2014/main" id="{B97FA876-9CE9-448F-A81A-9DE309C3CD2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6A0F3DF0-6E89-44D6-AAAB-4E9497770A1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 useful first entry says: known within the case, twenty agents handle three ticket categories. Assumed, routing suggestions will save review time. Unknown, whether agents will use them consistently. Next action, observe a simulated review and test one end-to-end suggestion. No real customer outcome has been established. Preserve this entry when later evidence changes your view.</a:t>
            </a:r>
          </a:p>
        </p:txBody>
      </p:sp>
      <p:sp>
        <p:nvSpPr>
          <p:cNvPr id="5" name="">
            <a:extLst xmlns:a="http://schemas.openxmlformats.org/drawingml/2006/main">
              <a:ext uri="{FF2B5EF4-FFF2-40B4-BE49-F238E27FC236}">
                <a16:creationId xmlns:a16="http://schemas.microsoft.com/office/drawing/2014/main" id="{1EF462C7-070F-44CE-A32C-4520155B66C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68724015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90572C-5723-4CD3-AFAE-74D0FCE9CC6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Outcome ownership</a:t>
            </a:r>
          </a:p>
        </p:txBody>
      </p:sp>
      <p:sp>
        <p:nvSpPr>
          <p:cNvPr id="2" name="">
            <a:extLst xmlns:a="http://schemas.openxmlformats.org/drawingml/2006/main">
              <a:ext uri="{FF2B5EF4-FFF2-40B4-BE49-F238E27FC236}">
                <a16:creationId xmlns:a16="http://schemas.microsoft.com/office/drawing/2014/main" id="{4AB62A37-8907-497B-8CDE-5D2E3FA86E6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case and the course boundary</a:t>
            </a:r>
          </a:p>
        </p:txBody>
      </p:sp>
      <p:sp>
        <p:nvSpPr>
          <p:cNvPr id="3" name="">
            <a:extLst xmlns:a="http://schemas.openxmlformats.org/drawingml/2006/main">
              <a:ext uri="{FF2B5EF4-FFF2-40B4-BE49-F238E27FC236}">
                <a16:creationId xmlns:a16="http://schemas.microsoft.com/office/drawing/2014/main" id="{A4FE1441-F306-4CBE-91A6-78BCCD85BB9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58581F91-1E62-47A5-A63E-97299204986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How should you describe the sample numbers?</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Verified industry benchmarks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Guaranteed productivity gains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Fictional data for an exercise</a:t>
            </a:r>
          </a:p>
        </p:txBody>
      </p:sp>
      <p:sp>
        <p:nvSpPr>
          <p:cNvPr id="5" name="">
            <a:extLst xmlns:a="http://schemas.openxmlformats.org/drawingml/2006/main">
              <a:ext uri="{FF2B5EF4-FFF2-40B4-BE49-F238E27FC236}">
                <a16:creationId xmlns:a16="http://schemas.microsoft.com/office/drawing/2014/main" id="{A6E1BADE-F10B-472A-A8BD-2C9B2A5ED52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14137220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D957A7-CCA2-4EE6-8ACA-D63838D899E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716ED446-7D3B-43D3-AB10-8B571F1F9A5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decision behind the request</a:t>
            </a:r>
          </a:p>
        </p:txBody>
      </p:sp>
      <p:sp>
        <p:nvSpPr>
          <p:cNvPr id="3" name="">
            <a:extLst xmlns:a="http://schemas.openxmlformats.org/drawingml/2006/main">
              <a:ext uri="{FF2B5EF4-FFF2-40B4-BE49-F238E27FC236}">
                <a16:creationId xmlns:a16="http://schemas.microsoft.com/office/drawing/2014/main" id="{4FCE9291-E70D-4195-80BF-B726BB7F0F1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D764D237-F3C8-4584-B4D0-4713B9D494D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Recon starts with hypotheses and questions. Convert the request into the decision it creates. Identify who can decide, who experiences consequences, who knows the workflow, and who benefits. These roles often belong to different people. Find previous attempts before proposing a solution. Distinguish physical constraints from political conditions and habits. A habit may change. A permission requirement still governs your action even when it is organizational rather than physical.</a:t>
            </a:r>
          </a:p>
        </p:txBody>
      </p:sp>
      <p:sp>
        <p:nvSpPr>
          <p:cNvPr id="5" name="">
            <a:extLst xmlns:a="http://schemas.openxmlformats.org/drawingml/2006/main">
              <a:ext uri="{FF2B5EF4-FFF2-40B4-BE49-F238E27FC236}">
                <a16:creationId xmlns:a16="http://schemas.microsoft.com/office/drawing/2014/main" id="{436DB905-9DEB-4367-8156-0BDD22BCFDA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75381951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741594-DDCC-4E44-AB2D-2720B6AA971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A8933797-F381-48DB-80AA-B07143A192B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decision behind the request</a:t>
            </a:r>
          </a:p>
        </p:txBody>
      </p:sp>
      <p:sp>
        <p:nvSpPr>
          <p:cNvPr id="3" name="">
            <a:extLst xmlns:a="http://schemas.openxmlformats.org/drawingml/2006/main">
              <a:ext uri="{FF2B5EF4-FFF2-40B4-BE49-F238E27FC236}">
                <a16:creationId xmlns:a16="http://schemas.microsoft.com/office/drawing/2014/main" id="{975C8299-72F7-49CE-A3EB-26461229222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90522BA9-76E6-4FDA-A5AA-4F92204D384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 sponsor says, build AI. Maya says, reduce repeated triage. Luis owns the ticket API. Priya approves data access. Agents explain why the previous automation failed: it sent plausible but incorrect replies and increased their checking work.</a:t>
            </a:r>
          </a:p>
        </p:txBody>
      </p:sp>
      <p:sp>
        <p:nvSpPr>
          <p:cNvPr id="5" name="">
            <a:extLst xmlns:a="http://schemas.openxmlformats.org/drawingml/2006/main">
              <a:ext uri="{FF2B5EF4-FFF2-40B4-BE49-F238E27FC236}">
                <a16:creationId xmlns:a16="http://schemas.microsoft.com/office/drawing/2014/main" id="{D1EB646D-8366-4C69-87EA-65221AE6AEA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171490981"/>
      </p:ext>
    </p:extLst>
  </p:cSld>
</p:sld>
</file>

<file path=ppt/slides/slide2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FF0F2C-EDF4-4A95-BF70-FD1F6F8B8DE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833027EB-E29C-4187-81ED-BF276A44E6D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decision behind the request</a:t>
            </a:r>
          </a:p>
        </p:txBody>
      </p:sp>
      <p:sp>
        <p:nvSpPr>
          <p:cNvPr id="3" name="">
            <a:extLst xmlns:a="http://schemas.openxmlformats.org/drawingml/2006/main">
              <a:ext uri="{FF2B5EF4-FFF2-40B4-BE49-F238E27FC236}">
                <a16:creationId xmlns:a16="http://schemas.microsoft.com/office/drawing/2014/main" id="{00AB23DF-9D32-4384-8454-463EEA896C5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A7CACBE8-179A-4F66-A24D-4A633DB7EBB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Write a draft decision statement and five discovery questions. Keep the proposed solution provisional.</a:t>
            </a:r>
          </a:p>
        </p:txBody>
      </p:sp>
      <p:sp>
        <p:nvSpPr>
          <p:cNvPr id="5" name="">
            <a:extLst xmlns:a="http://schemas.openxmlformats.org/drawingml/2006/main">
              <a:ext uri="{FF2B5EF4-FFF2-40B4-BE49-F238E27FC236}">
                <a16:creationId xmlns:a16="http://schemas.microsoft.com/office/drawing/2014/main" id="{AB30360D-205B-4FBD-869B-22640B79ABD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203649962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F02CB4-3717-4A0B-8E92-ED4F05F873B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78EFA697-AF50-40F9-9004-AABBFB83C40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decision behind the request</a:t>
            </a:r>
          </a:p>
        </p:txBody>
      </p:sp>
      <p:sp>
        <p:nvSpPr>
          <p:cNvPr id="3" name="">
            <a:extLst xmlns:a="http://schemas.openxmlformats.org/drawingml/2006/main">
              <a:ext uri="{FF2B5EF4-FFF2-40B4-BE49-F238E27FC236}">
                <a16:creationId xmlns:a16="http://schemas.microsoft.com/office/drawing/2014/main" id="{8BDFE8A0-3D01-4B88-BE65-6408919D927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70F6538E-7E4F-4391-8B9C-5B6EF5C13184}"/>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Decision: should Northstar test routing assistance to reduce review effort while preserving human approval? Ask where review time accumulates, how categories are chosen, what caused prior errors, who can authorize data, and how success will be observed. This draft can change during immersion. It is narrower and more testable than a commitment to an AI assistant.</a:t>
            </a:r>
          </a:p>
        </p:txBody>
      </p:sp>
      <p:sp>
        <p:nvSpPr>
          <p:cNvPr id="5" name="">
            <a:extLst xmlns:a="http://schemas.openxmlformats.org/drawingml/2006/main">
              <a:ext uri="{FF2B5EF4-FFF2-40B4-BE49-F238E27FC236}">
                <a16:creationId xmlns:a16="http://schemas.microsoft.com/office/drawing/2014/main" id="{3B197E84-78B4-45A2-9327-90A4EFA0D10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166045049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BFB4C9-9CD3-4FF1-9BAE-9B746EFDEC0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C16BE5AA-1588-422B-BDD9-9AAF36BFCC9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decision behind the request</a:t>
            </a:r>
          </a:p>
        </p:txBody>
      </p:sp>
      <p:sp>
        <p:nvSpPr>
          <p:cNvPr id="3" name="">
            <a:extLst xmlns:a="http://schemas.openxmlformats.org/drawingml/2006/main">
              <a:ext uri="{FF2B5EF4-FFF2-40B4-BE49-F238E27FC236}">
                <a16:creationId xmlns:a16="http://schemas.microsoft.com/office/drawing/2014/main" id="{BE5D672E-02DF-4B3A-B05D-C9E20B8CA7D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B12776A8-4E09-4AB1-B170-E02AB043B4A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Which is a useful Recon output?</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A provisional decision and questions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A fixed architecture</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A promised savings figure</a:t>
            </a:r>
          </a:p>
        </p:txBody>
      </p:sp>
      <p:sp>
        <p:nvSpPr>
          <p:cNvPr id="5" name="">
            <a:extLst xmlns:a="http://schemas.openxmlformats.org/drawingml/2006/main">
              <a:ext uri="{FF2B5EF4-FFF2-40B4-BE49-F238E27FC236}">
                <a16:creationId xmlns:a16="http://schemas.microsoft.com/office/drawing/2014/main" id="{54C5F9AF-1E53-4D74-A98D-36BCD04FF4D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67553443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5C5326-64F3-4B78-B6FA-12C6222D6B6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33019E0F-29C3-4139-9D0F-9E5208E1B7E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One ticket through the workflow</a:t>
            </a:r>
          </a:p>
        </p:txBody>
      </p:sp>
      <p:sp>
        <p:nvSpPr>
          <p:cNvPr id="3" name="">
            <a:extLst xmlns:a="http://schemas.openxmlformats.org/drawingml/2006/main">
              <a:ext uri="{FF2B5EF4-FFF2-40B4-BE49-F238E27FC236}">
                <a16:creationId xmlns:a16="http://schemas.microsoft.com/office/drawing/2014/main" id="{4F69EE22-25E3-4B29-824B-45A3EDE0280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293FB193-30CA-4C9C-8680-E61838A7890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Immerse follows actual work. Trace one item from origin to decision and identify handoffs, re-entry, waiting, and exception handling. Ask an operator to show the task and attempt a permitted version yourself. Observe what happens before and after the proposed solution. An integration can succeed technically while adding another queue or another confirmation step. Capture the entire workflow boundary so local improvement does not hide additional work elsewhere.</a:t>
            </a:r>
          </a:p>
        </p:txBody>
      </p:sp>
      <p:sp>
        <p:nvSpPr>
          <p:cNvPr id="5" name="">
            <a:extLst xmlns:a="http://schemas.openxmlformats.org/drawingml/2006/main">
              <a:ext uri="{FF2B5EF4-FFF2-40B4-BE49-F238E27FC236}">
                <a16:creationId xmlns:a16="http://schemas.microsoft.com/office/drawing/2014/main" id="{82FD6D6A-2313-4AA6-BCFE-D7C8AC2E43F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54807940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CB9E59-955F-411F-ADAF-0E05830EB2C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C1B59AFA-9CA5-4A0D-A926-A9050128354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One ticket through the workflow</a:t>
            </a:r>
          </a:p>
        </p:txBody>
      </p:sp>
      <p:sp>
        <p:nvSpPr>
          <p:cNvPr id="3" name="">
            <a:extLst xmlns:a="http://schemas.openxmlformats.org/drawingml/2006/main">
              <a:ext uri="{FF2B5EF4-FFF2-40B4-BE49-F238E27FC236}">
                <a16:creationId xmlns:a16="http://schemas.microsoft.com/office/drawing/2014/main" id="{31DA9546-8040-4FE0-95B7-BBBFD287351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37466678-86E5-42E8-926E-DF79CFA7364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An agent reads a ticket, looks up the account, checks a category sheet, assigns a queue, and records the reason. Copying takes two minutes, but waiting for permission can take a day. The two delays require different interventions.</a:t>
            </a:r>
          </a:p>
        </p:txBody>
      </p:sp>
      <p:sp>
        <p:nvSpPr>
          <p:cNvPr id="5" name="">
            <a:extLst xmlns:a="http://schemas.openxmlformats.org/drawingml/2006/main">
              <a:ext uri="{FF2B5EF4-FFF2-40B4-BE49-F238E27FC236}">
                <a16:creationId xmlns:a16="http://schemas.microsoft.com/office/drawing/2014/main" id="{0ED15475-4D6E-48E4-82E8-85EDDE67D6D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34786796"/>
      </p:ext>
    </p:extLst>
  </p:cSld>
</p:sld>
</file>

<file path=ppt/slides/slide2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6FDF28-1B71-40B2-94B8-A87B631FE8B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4F058FAD-4970-4C88-9E72-4CC71AB6A63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One ticket through the workflow</a:t>
            </a:r>
          </a:p>
        </p:txBody>
      </p:sp>
      <p:sp>
        <p:nvSpPr>
          <p:cNvPr id="3" name="">
            <a:extLst xmlns:a="http://schemas.openxmlformats.org/drawingml/2006/main">
              <a:ext uri="{FF2B5EF4-FFF2-40B4-BE49-F238E27FC236}">
                <a16:creationId xmlns:a16="http://schemas.microsoft.com/office/drawing/2014/main" id="{001BB103-DD23-4C5F-9808-52B09A553AA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4026B9C8-1638-4D6D-9DA1-BAB485994EB1}"/>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Draw the workflow as ordered steps. Mark a delay, a handoff, a duplicate entry, and an exception.</a:t>
            </a:r>
          </a:p>
        </p:txBody>
      </p:sp>
      <p:sp>
        <p:nvSpPr>
          <p:cNvPr id="5" name="">
            <a:extLst xmlns:a="http://schemas.openxmlformats.org/drawingml/2006/main">
              <a:ext uri="{FF2B5EF4-FFF2-40B4-BE49-F238E27FC236}">
                <a16:creationId xmlns:a16="http://schemas.microsoft.com/office/drawing/2014/main" id="{5B8E4812-716E-49DD-826E-88566E4869C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62515326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F550B8-CD46-4858-B76E-92FEF62047E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6B7230A7-5DE3-41B9-854B-29ECF4434E2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One ticket through the workflow</a:t>
            </a:r>
          </a:p>
        </p:txBody>
      </p:sp>
      <p:sp>
        <p:nvSpPr>
          <p:cNvPr id="3" name="">
            <a:extLst xmlns:a="http://schemas.openxmlformats.org/drawingml/2006/main">
              <a:ext uri="{FF2B5EF4-FFF2-40B4-BE49-F238E27FC236}">
                <a16:creationId xmlns:a16="http://schemas.microsoft.com/office/drawing/2014/main" id="{842A219B-24F5-4979-9F8B-A5A29ACD9A3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E5E683DA-5894-47BF-8F70-DB5C1B4C893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working map includes intake, account lookup, category selection, queue assignment, and decision recording. A permission delay belongs to access governance. Repeated category lookup belongs to routing assistance. Keep both visible, but test one uncertainty first. A tool that saves lookup time should not claim it removed the permission delay.</a:t>
            </a:r>
          </a:p>
        </p:txBody>
      </p:sp>
      <p:sp>
        <p:nvSpPr>
          <p:cNvPr id="5" name="">
            <a:extLst xmlns:a="http://schemas.openxmlformats.org/drawingml/2006/main">
              <a:ext uri="{FF2B5EF4-FFF2-40B4-BE49-F238E27FC236}">
                <a16:creationId xmlns:a16="http://schemas.microsoft.com/office/drawing/2014/main" id="{9F8E3CA0-861E-46E6-8156-19163F906609}"/>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33842416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DBAC18-06AA-4CB8-8736-581814637B2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07D5680B-93A8-43B8-A008-4D8C5782CDA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One ticket through the workflow</a:t>
            </a:r>
          </a:p>
        </p:txBody>
      </p:sp>
      <p:sp>
        <p:nvSpPr>
          <p:cNvPr id="3" name="">
            <a:extLst xmlns:a="http://schemas.openxmlformats.org/drawingml/2006/main">
              <a:ext uri="{FF2B5EF4-FFF2-40B4-BE49-F238E27FC236}">
                <a16:creationId xmlns:a16="http://schemas.microsoft.com/office/drawing/2014/main" id="{02A3DDAD-2D85-4756-99D5-573F73492B6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E537C1E1-7E6D-4D02-9DD8-0F25EC559D7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Why trace the steps after the new tool?</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To add more features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To identify displaced work and downstream effects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To avoid talking to operators</a:t>
            </a:r>
          </a:p>
        </p:txBody>
      </p:sp>
      <p:sp>
        <p:nvSpPr>
          <p:cNvPr id="5" name="">
            <a:extLst xmlns:a="http://schemas.openxmlformats.org/drawingml/2006/main">
              <a:ext uri="{FF2B5EF4-FFF2-40B4-BE49-F238E27FC236}">
                <a16:creationId xmlns:a16="http://schemas.microsoft.com/office/drawing/2014/main" id="{3605C99F-59DC-4850-9A34-C03F25E216A0}"/>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64477123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37B8E8-B204-4521-9202-214FA8CBC03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776632D6-2110-446C-9C28-169CD4F0AC6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Known, assumed, and unknown</a:t>
            </a:r>
          </a:p>
        </p:txBody>
      </p:sp>
      <p:sp>
        <p:nvSpPr>
          <p:cNvPr id="3" name="">
            <a:extLst xmlns:a="http://schemas.openxmlformats.org/drawingml/2006/main">
              <a:ext uri="{FF2B5EF4-FFF2-40B4-BE49-F238E27FC236}">
                <a16:creationId xmlns:a16="http://schemas.microsoft.com/office/drawing/2014/main" id="{621CDAD8-162B-4D54-BC55-B8BDE37BB2A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A31B0F74-ECF3-4699-94F9-76B5DBD6CA7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Tag important claims by evidence status. Known means supported within the available evidence and scope. Assumed means temporarily used to proceed. Unknown means material information remains missing. Attach a source and date to known claims. Identify a test and owner for important assumptions. Conflicting accounts stay visible until you understand differences in context or authority. The observed-versus-reported distinction helps investigation, but one observation does not establish universal behavior.</a:t>
            </a:r>
          </a:p>
        </p:txBody>
      </p:sp>
      <p:sp>
        <p:nvSpPr>
          <p:cNvPr id="5" name="">
            <a:extLst xmlns:a="http://schemas.openxmlformats.org/drawingml/2006/main">
              <a:ext uri="{FF2B5EF4-FFF2-40B4-BE49-F238E27FC236}">
                <a16:creationId xmlns:a16="http://schemas.microsoft.com/office/drawing/2014/main" id="{EA08B41F-7402-450E-B224-3E6B88BD737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09452034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CD7735-368C-40AC-B3EB-C5B6FAB2EE2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05E8368D-46BB-43BF-9361-482BE3495F3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Known, assumed, and unknown</a:t>
            </a:r>
          </a:p>
        </p:txBody>
      </p:sp>
      <p:sp>
        <p:nvSpPr>
          <p:cNvPr id="3" name="">
            <a:extLst xmlns:a="http://schemas.openxmlformats.org/drawingml/2006/main">
              <a:ext uri="{FF2B5EF4-FFF2-40B4-BE49-F238E27FC236}">
                <a16:creationId xmlns:a16="http://schemas.microsoft.com/office/drawing/2014/main" id="{51E9F342-B662-4CCC-8310-9110A43D425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DE4BB049-C89D-421D-83AB-6886FFF5B08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Maya says everyone uses the category sheet. A shift observation shows three agents using private notes instead. API documents describe a current endpoint, but Luis says its production permissions are still pending.</a:t>
            </a:r>
          </a:p>
        </p:txBody>
      </p:sp>
      <p:sp>
        <p:nvSpPr>
          <p:cNvPr id="5" name="">
            <a:extLst xmlns:a="http://schemas.openxmlformats.org/drawingml/2006/main">
              <a:ext uri="{FF2B5EF4-FFF2-40B4-BE49-F238E27FC236}">
                <a16:creationId xmlns:a16="http://schemas.microsoft.com/office/drawing/2014/main" id="{5219DF45-5760-479B-959D-4BE283E7DAA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041900609"/>
      </p:ext>
    </p:extLst>
  </p:cSld>
</p:sld>
</file>

<file path=ppt/slides/slide3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BEB1DEF-C587-40AD-8F8D-1982904706C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5D653D1D-D7B4-48EF-A19D-2CFC718BC54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Known, assumed, and unknown</a:t>
            </a:r>
          </a:p>
        </p:txBody>
      </p:sp>
      <p:sp>
        <p:nvSpPr>
          <p:cNvPr id="3" name="">
            <a:extLst xmlns:a="http://schemas.openxmlformats.org/drawingml/2006/main">
              <a:ext uri="{FF2B5EF4-FFF2-40B4-BE49-F238E27FC236}">
                <a16:creationId xmlns:a16="http://schemas.microsoft.com/office/drawing/2014/main" id="{E517C0F3-09B3-4150-AFAC-854B232E3FA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A856D594-5A11-4C0D-A2E3-72F3ECE2C85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Tag four claims and identify the next test for the largest uncertainty.</a:t>
            </a:r>
          </a:p>
        </p:txBody>
      </p:sp>
      <p:sp>
        <p:nvSpPr>
          <p:cNvPr id="5" name="">
            <a:extLst xmlns:a="http://schemas.openxmlformats.org/drawingml/2006/main">
              <a:ext uri="{FF2B5EF4-FFF2-40B4-BE49-F238E27FC236}">
                <a16:creationId xmlns:a16="http://schemas.microsoft.com/office/drawing/2014/main" id="{360E26C2-E3E3-4B5F-961C-14B9D714855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37384797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B3C4B10-6330-47CB-AB7D-549426F0266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CDD56893-A8BA-4B3D-8F55-730FFF3429F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Known, assumed, and unknown</a:t>
            </a:r>
          </a:p>
        </p:txBody>
      </p:sp>
      <p:sp>
        <p:nvSpPr>
          <p:cNvPr id="3" name="">
            <a:extLst xmlns:a="http://schemas.openxmlformats.org/drawingml/2006/main">
              <a:ext uri="{FF2B5EF4-FFF2-40B4-BE49-F238E27FC236}">
                <a16:creationId xmlns:a16="http://schemas.microsoft.com/office/drawing/2014/main" id="{D62DC5AF-CCFA-490B-BE1F-15BFA24843D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54213A2F-2135-4E1B-8347-E4F851AD6F41}"/>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Known in this observed shift: three agents used private notes. Reported: Maya believes the sheet is universal. Unknown: usage across other shifts. Known from Luis: production access is pending, subject to confirmation by Priya. Next test: observe another shift and compare category sources. Avoid rewriting the statement as nobody uses the sheet.</a:t>
            </a:r>
          </a:p>
        </p:txBody>
      </p:sp>
      <p:sp>
        <p:nvSpPr>
          <p:cNvPr id="5" name="">
            <a:extLst xmlns:a="http://schemas.openxmlformats.org/drawingml/2006/main">
              <a:ext uri="{FF2B5EF4-FFF2-40B4-BE49-F238E27FC236}">
                <a16:creationId xmlns:a16="http://schemas.microsoft.com/office/drawing/2014/main" id="{3ADF71B9-41D2-4170-A313-905E2AF2AEF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103689169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52B001-39EC-44C4-A135-E82B7BBF984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4C2B2A3F-F2AF-44B6-B4EE-579EC360EAC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Known, assumed, and unknown</a:t>
            </a:r>
          </a:p>
        </p:txBody>
      </p:sp>
      <p:sp>
        <p:nvSpPr>
          <p:cNvPr id="3" name="">
            <a:extLst xmlns:a="http://schemas.openxmlformats.org/drawingml/2006/main">
              <a:ext uri="{FF2B5EF4-FFF2-40B4-BE49-F238E27FC236}">
                <a16:creationId xmlns:a16="http://schemas.microsoft.com/office/drawing/2014/main" id="{C18ECE38-47A6-4ED7-9A15-F08C96E23F3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8459B3ED-6770-4ECE-96A9-D182F1B7C96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does one observed shift establish?</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The behavior observed in that shift</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All agents always act that way</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The manager is dishonest</a:t>
            </a:r>
          </a:p>
        </p:txBody>
      </p:sp>
      <p:sp>
        <p:nvSpPr>
          <p:cNvPr id="5" name="">
            <a:extLst xmlns:a="http://schemas.openxmlformats.org/drawingml/2006/main">
              <a:ext uri="{FF2B5EF4-FFF2-40B4-BE49-F238E27FC236}">
                <a16:creationId xmlns:a16="http://schemas.microsoft.com/office/drawing/2014/main" id="{18BC0454-8CC6-472D-9ABC-E619FE3F5EC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65178268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7698CF-2A5B-4F48-8713-5AB404EC6F1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CA5A1541-4A26-4936-8172-302FD463AC9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verified Site Map</a:t>
            </a:r>
          </a:p>
        </p:txBody>
      </p:sp>
      <p:sp>
        <p:nvSpPr>
          <p:cNvPr id="3" name="">
            <a:extLst xmlns:a="http://schemas.openxmlformats.org/drawingml/2006/main">
              <a:ext uri="{FF2B5EF4-FFF2-40B4-BE49-F238E27FC236}">
                <a16:creationId xmlns:a16="http://schemas.microsoft.com/office/drawing/2014/main" id="{69E14DAC-2CFA-4A7D-BBE3-5E4872F178E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D440F8A6-2215-4D1C-93E6-9CC1A512D97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Site Map joins decision, people, process, technology, data, constraints, incentives, and history. Recon creates version zero. Immerse checks it and produces version one. Include verification status rather than filling gaps with plausible detail. Incentives deserve explicit attention: automation may remove visible work while increasing accountability or perceived job risk. The map is a decision aid, so emphasize dependencies that affect the proposed experiment and who can resolve them.</a:t>
            </a:r>
          </a:p>
        </p:txBody>
      </p:sp>
      <p:sp>
        <p:nvSpPr>
          <p:cNvPr id="5" name="">
            <a:extLst xmlns:a="http://schemas.openxmlformats.org/drawingml/2006/main">
              <a:ext uri="{FF2B5EF4-FFF2-40B4-BE49-F238E27FC236}">
                <a16:creationId xmlns:a16="http://schemas.microsoft.com/office/drawing/2014/main" id="{A6DA52F7-9CA8-4A74-A665-3EEAB199817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97322338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D54B69-B331-41D2-8FDE-F2B529E80D9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2850A203-A168-4F75-B1C3-1B5FB1807ED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verified Site Map</a:t>
            </a:r>
          </a:p>
        </p:txBody>
      </p:sp>
      <p:sp>
        <p:nvSpPr>
          <p:cNvPr id="3" name="">
            <a:extLst xmlns:a="http://schemas.openxmlformats.org/drawingml/2006/main">
              <a:ext uri="{FF2B5EF4-FFF2-40B4-BE49-F238E27FC236}">
                <a16:creationId xmlns:a16="http://schemas.microsoft.com/office/drawing/2014/main" id="{2330C611-0053-4193-99EB-DD71C384045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C6D4D76C-53FB-4AE5-B776-ABEB0E9CBA0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Agents fear that faster triage will become an individual performance target. Maya wants reliable routing. Priya needs a data boundary. Luis needs a documented fallback. These interests shape adoption even if the same software works for everyone.</a:t>
            </a:r>
          </a:p>
        </p:txBody>
      </p:sp>
      <p:sp>
        <p:nvSpPr>
          <p:cNvPr id="5" name="">
            <a:extLst xmlns:a="http://schemas.openxmlformats.org/drawingml/2006/main">
              <a:ext uri="{FF2B5EF4-FFF2-40B4-BE49-F238E27FC236}">
                <a16:creationId xmlns:a16="http://schemas.microsoft.com/office/drawing/2014/main" id="{2DFE743D-6B4F-41EC-B3DC-073D9C3E984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30075837"/>
      </p:ext>
    </p:extLst>
  </p:cSld>
</p:sld>
</file>

<file path=ppt/slides/slide3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595372-F42B-4D7B-A036-4B0691CDB6E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6F073D89-3FE6-4FB8-A6C2-135FA62A318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verified Site Map</a:t>
            </a:r>
          </a:p>
        </p:txBody>
      </p:sp>
      <p:sp>
        <p:nvSpPr>
          <p:cNvPr id="3" name="">
            <a:extLst xmlns:a="http://schemas.openxmlformats.org/drawingml/2006/main">
              <a:ext uri="{FF2B5EF4-FFF2-40B4-BE49-F238E27FC236}">
                <a16:creationId xmlns:a16="http://schemas.microsoft.com/office/drawing/2014/main" id="{A3B9DD12-E836-4BC8-A156-B4CE7C1C22B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72328033-ED2E-40A2-985C-CF00B0B69C1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Complete all eight Site Map fields. Leave unresolved facts explicitly unknown and attach a next action.</a:t>
            </a:r>
          </a:p>
        </p:txBody>
      </p:sp>
      <p:sp>
        <p:nvSpPr>
          <p:cNvPr id="5" name="">
            <a:extLst xmlns:a="http://schemas.openxmlformats.org/drawingml/2006/main">
              <a:ext uri="{FF2B5EF4-FFF2-40B4-BE49-F238E27FC236}">
                <a16:creationId xmlns:a16="http://schemas.microsoft.com/office/drawing/2014/main" id="{D5945CE9-0457-4B84-9464-A2E7014C820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40899219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694B6D-B155-46AA-80B0-6AEA30C99B1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4AC05202-0E53-4920-83A3-4A2DF7DCA22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verified Site Map</a:t>
            </a:r>
          </a:p>
        </p:txBody>
      </p:sp>
      <p:sp>
        <p:nvSpPr>
          <p:cNvPr id="3" name="">
            <a:extLst xmlns:a="http://schemas.openxmlformats.org/drawingml/2006/main">
              <a:ext uri="{FF2B5EF4-FFF2-40B4-BE49-F238E27FC236}">
                <a16:creationId xmlns:a16="http://schemas.microsoft.com/office/drawing/2014/main" id="{B207A82B-AC2C-4D0A-A9B9-BB3EB1AC3F8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66E5B128-12C9-4B2E-92F4-F84B3DE983E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completed map names Maya as workflow owner, Priya as access approver, and Luis as API maintainer. It records synthetic data as the course boundary, human approval as a fixed experimental condition, private notes as an observed behavior, and production permissions as unresolved. The next action is an operator review of the frame before any production integration.</a:t>
            </a:r>
          </a:p>
        </p:txBody>
      </p:sp>
      <p:sp>
        <p:nvSpPr>
          <p:cNvPr id="5" name="">
            <a:extLst xmlns:a="http://schemas.openxmlformats.org/drawingml/2006/main">
              <a:ext uri="{FF2B5EF4-FFF2-40B4-BE49-F238E27FC236}">
                <a16:creationId xmlns:a16="http://schemas.microsoft.com/office/drawing/2014/main" id="{6DC50A53-8459-4DB5-917D-5E3095A9F10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195610515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23B49F-E44C-4DF8-9A79-607C7031A60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 and Immerse</a:t>
            </a:r>
          </a:p>
        </p:txBody>
      </p:sp>
      <p:sp>
        <p:nvSpPr>
          <p:cNvPr id="2" name="">
            <a:extLst xmlns:a="http://schemas.openxmlformats.org/drawingml/2006/main">
              <a:ext uri="{FF2B5EF4-FFF2-40B4-BE49-F238E27FC236}">
                <a16:creationId xmlns:a16="http://schemas.microsoft.com/office/drawing/2014/main" id="{562D5B88-3679-4D14-A0FD-2285A647F42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verified Site Map</a:t>
            </a:r>
          </a:p>
        </p:txBody>
      </p:sp>
      <p:sp>
        <p:nvSpPr>
          <p:cNvPr id="3" name="">
            <a:extLst xmlns:a="http://schemas.openxmlformats.org/drawingml/2006/main">
              <a:ext uri="{FF2B5EF4-FFF2-40B4-BE49-F238E27FC236}">
                <a16:creationId xmlns:a16="http://schemas.microsoft.com/office/drawing/2014/main" id="{83D27A40-8483-4EBA-8F66-07A4F5F736C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06EA5F36-9658-41D8-97F5-F00D8BD2E5B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belongs in an unresolved field?</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A plausible invented answer</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Nothing, so the map looks complete</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Unknown, owner, and verification action</a:t>
            </a:r>
          </a:p>
        </p:txBody>
      </p:sp>
      <p:sp>
        <p:nvSpPr>
          <p:cNvPr id="5" name="">
            <a:extLst xmlns:a="http://schemas.openxmlformats.org/drawingml/2006/main">
              <a:ext uri="{FF2B5EF4-FFF2-40B4-BE49-F238E27FC236}">
                <a16:creationId xmlns:a16="http://schemas.microsoft.com/office/drawing/2014/main" id="{A8B05C8E-B12D-4E7E-846F-FCB76B46E25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4614729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773CB4-56E9-4DF0-9682-9227503B93B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04F6028F-0C5D-4A77-8163-0D2E510BEC0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outcome line</a:t>
            </a:r>
          </a:p>
        </p:txBody>
      </p:sp>
      <p:sp>
        <p:nvSpPr>
          <p:cNvPr id="3" name="">
            <a:extLst xmlns:a="http://schemas.openxmlformats.org/drawingml/2006/main">
              <a:ext uri="{FF2B5EF4-FFF2-40B4-BE49-F238E27FC236}">
                <a16:creationId xmlns:a16="http://schemas.microsoft.com/office/drawing/2014/main" id="{B9E691A1-3401-49CA-9E59-9EE92477FD5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C7714733-F74E-43C4-A22B-310AEC703574}"/>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Frame Card outcome names a user, a workflow, its current condition, a desired condition, a metric, and constraints. Co-author it with the operator. Use a measure the operator recognizes and define its denominator. Separate desired outcome from the technology proposed to achieve it. A frame that says deploy AI specifies a solution. A frame that says reduce review time while preserving routing quality leaves room to choose the simplest useful intervention.</a:t>
            </a:r>
          </a:p>
        </p:txBody>
      </p:sp>
      <p:sp>
        <p:nvSpPr>
          <p:cNvPr id="5" name="">
            <a:extLst xmlns:a="http://schemas.openxmlformats.org/drawingml/2006/main">
              <a:ext uri="{FF2B5EF4-FFF2-40B4-BE49-F238E27FC236}">
                <a16:creationId xmlns:a16="http://schemas.microsoft.com/office/drawing/2014/main" id="{25E55EB3-6A36-40EC-BCCF-D58E09BAE2E0}"/>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11631780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534753A-1E4F-4DD0-A611-3E0905CFA66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9A05D989-6307-4C7E-BDD5-F664BF53B66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outcome line</a:t>
            </a:r>
          </a:p>
        </p:txBody>
      </p:sp>
      <p:sp>
        <p:nvSpPr>
          <p:cNvPr id="3" name="">
            <a:extLst xmlns:a="http://schemas.openxmlformats.org/drawingml/2006/main">
              <a:ext uri="{FF2B5EF4-FFF2-40B4-BE49-F238E27FC236}">
                <a16:creationId xmlns:a16="http://schemas.microsoft.com/office/drawing/2014/main" id="{97CFA73C-C239-4CA6-B0AC-BF3130EAA50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88B5014D-3043-48B0-B30E-159ACE4E5F81}"/>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fictional baseline is a median of 20 minutes across twelve simulated reviews. The team proposes a median no greater than 14 minutes for an equivalent assisted sample, with at most one misroute per twelve decisions. These are exercise thresholds agreed before reading results.</a:t>
            </a:r>
          </a:p>
        </p:txBody>
      </p:sp>
      <p:sp>
        <p:nvSpPr>
          <p:cNvPr id="5" name="">
            <a:extLst xmlns:a="http://schemas.openxmlformats.org/drawingml/2006/main">
              <a:ext uri="{FF2B5EF4-FFF2-40B4-BE49-F238E27FC236}">
                <a16:creationId xmlns:a16="http://schemas.microsoft.com/office/drawing/2014/main" id="{D4C4D4FA-D3AC-410C-81A7-3FD33868A23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083787009"/>
      </p:ext>
    </p:extLst>
  </p:cSld>
</p:sld>
</file>

<file path=ppt/slides/slide4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B367F7-B76E-43A2-AA6E-CBCA06082FF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38D75BC1-7B25-4B62-9D61-40A38B16E9E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outcome line</a:t>
            </a:r>
          </a:p>
        </p:txBody>
      </p:sp>
      <p:sp>
        <p:nvSpPr>
          <p:cNvPr id="3" name="">
            <a:extLst xmlns:a="http://schemas.openxmlformats.org/drawingml/2006/main">
              <a:ext uri="{FF2B5EF4-FFF2-40B4-BE49-F238E27FC236}">
                <a16:creationId xmlns:a16="http://schemas.microsoft.com/office/drawing/2014/main" id="{080E8398-767D-425C-A719-52266D24850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DBCE8FB5-CF2E-454B-915A-D5087B39EAA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Write the outcome line and define review time, sample size, and routing error.</a:t>
            </a:r>
          </a:p>
        </p:txBody>
      </p:sp>
      <p:sp>
        <p:nvSpPr>
          <p:cNvPr id="5" name="">
            <a:extLst xmlns:a="http://schemas.openxmlformats.org/drawingml/2006/main">
              <a:ext uri="{FF2B5EF4-FFF2-40B4-BE49-F238E27FC236}">
                <a16:creationId xmlns:a16="http://schemas.microsoft.com/office/drawing/2014/main" id="{48B159E0-1D92-4B35-8026-8E4EC565BFB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76560316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E33AF3-9C28-4A30-B2EE-4E9935F3019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A60682D5-5BC0-4196-ABCC-E6C79C375846}"/>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outcome line</a:t>
            </a:r>
          </a:p>
        </p:txBody>
      </p:sp>
      <p:sp>
        <p:nvSpPr>
          <p:cNvPr id="3" name="">
            <a:extLst xmlns:a="http://schemas.openxmlformats.org/drawingml/2006/main">
              <a:ext uri="{FF2B5EF4-FFF2-40B4-BE49-F238E27FC236}">
                <a16:creationId xmlns:a16="http://schemas.microsoft.com/office/drawing/2014/main" id="{414444B6-0EF4-4F13-8ED8-46D08F434AA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804E0F08-C8FC-44DB-AAB3-DA9B468DAAE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For support agents, improve ticket review from a median of 20 to at most 14 minutes, measured on twelve comparable simulated tasks, while keeping human approval and no more than one wrong queue. Review time starts when the reviewer opens the ticket and ends at a saved decision. Wrong queue means disagreement with the case reference label after adjudication.</a:t>
            </a:r>
          </a:p>
        </p:txBody>
      </p:sp>
      <p:sp>
        <p:nvSpPr>
          <p:cNvPr id="5" name="">
            <a:extLst xmlns:a="http://schemas.openxmlformats.org/drawingml/2006/main">
              <a:ext uri="{FF2B5EF4-FFF2-40B4-BE49-F238E27FC236}">
                <a16:creationId xmlns:a16="http://schemas.microsoft.com/office/drawing/2014/main" id="{0895DAFE-D57B-4602-B196-97A94270A0C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18536903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73346A-D88B-45B7-985E-79EFB25D6EE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50ADA99D-8598-4A3C-A6D7-F6FE3E4F6FB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outcome line</a:t>
            </a:r>
          </a:p>
        </p:txBody>
      </p:sp>
      <p:sp>
        <p:nvSpPr>
          <p:cNvPr id="3" name="">
            <a:extLst xmlns:a="http://schemas.openxmlformats.org/drawingml/2006/main">
              <a:ext uri="{FF2B5EF4-FFF2-40B4-BE49-F238E27FC236}">
                <a16:creationId xmlns:a16="http://schemas.microsoft.com/office/drawing/2014/main" id="{CCD5CFE6-EEF3-4CA9-BC3F-37B05BF1922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F2ACF7D3-BB07-4B17-BAAD-EA825F5FE55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Which frame preserves solution choice?</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Deploy an AI agent</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Reduce defined review time under quality constraints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Use the newest model</a:t>
            </a:r>
          </a:p>
        </p:txBody>
      </p:sp>
      <p:sp>
        <p:nvSpPr>
          <p:cNvPr id="5" name="">
            <a:extLst xmlns:a="http://schemas.openxmlformats.org/drawingml/2006/main">
              <a:ext uri="{FF2B5EF4-FFF2-40B4-BE49-F238E27FC236}">
                <a16:creationId xmlns:a16="http://schemas.microsoft.com/office/drawing/2014/main" id="{A269A18B-B7C6-47C8-8FAA-E4B7F814D0D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50951793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157FCA-7F0D-440C-A10F-E3E1BB8ECBC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53540D76-EA6A-4BD2-B3DC-7E919EA4F79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bet and change-of-mind evidence</a:t>
            </a:r>
          </a:p>
        </p:txBody>
      </p:sp>
      <p:sp>
        <p:nvSpPr>
          <p:cNvPr id="3" name="">
            <a:extLst xmlns:a="http://schemas.openxmlformats.org/drawingml/2006/main">
              <a:ext uri="{FF2B5EF4-FFF2-40B4-BE49-F238E27FC236}">
                <a16:creationId xmlns:a16="http://schemas.microsoft.com/office/drawing/2014/main" id="{16A18B68-2442-4F56-BEDF-8625E48CBF4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923A9D33-D243-49C9-B781-DE94E2C1EFA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bet connects a hypothesis to the smallest action and evidence that would change your mind. State it before acting. A falsifiable bet names the uncertainty rather than promising a win. Define stop conditions as well as desired performance. Practical stop conditions may include unsafe actions, unusable data, insufficient authorization, or user rejection. Record who can make the gate decision and what happens when evidence is mixed.</a:t>
            </a:r>
          </a:p>
        </p:txBody>
      </p:sp>
      <p:sp>
        <p:nvSpPr>
          <p:cNvPr id="5" name="">
            <a:extLst xmlns:a="http://schemas.openxmlformats.org/drawingml/2006/main">
              <a:ext uri="{FF2B5EF4-FFF2-40B4-BE49-F238E27FC236}">
                <a16:creationId xmlns:a16="http://schemas.microsoft.com/office/drawing/2014/main" id="{31E5CA9C-1D76-4668-AFC7-87F85E4BEE3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603167084"/>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B22DC6-DF57-40F0-BC9B-6E7C24D5E01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DD038272-2541-4EA9-9629-6F871D03465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bet and change-of-mind evidence</a:t>
            </a:r>
          </a:p>
        </p:txBody>
      </p:sp>
      <p:sp>
        <p:nvSpPr>
          <p:cNvPr id="3" name="">
            <a:extLst xmlns:a="http://schemas.openxmlformats.org/drawingml/2006/main">
              <a:ext uri="{FF2B5EF4-FFF2-40B4-BE49-F238E27FC236}">
                <a16:creationId xmlns:a16="http://schemas.microsoft.com/office/drawing/2014/main" id="{9729D8C6-4208-4D65-BFBB-0E340A3A9CB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5C7917B7-CE85-4F8E-9062-4DDD1DBDAA8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hypothesis is that repeated category lookup causes avoidable review effort. A routing suggestion tests that mechanism. An automatic-reply generator changes a different part of the workflow and introduces additional risk.</a:t>
            </a:r>
          </a:p>
        </p:txBody>
      </p:sp>
      <p:sp>
        <p:nvSpPr>
          <p:cNvPr id="5" name="">
            <a:extLst xmlns:a="http://schemas.openxmlformats.org/drawingml/2006/main">
              <a:ext uri="{FF2B5EF4-FFF2-40B4-BE49-F238E27FC236}">
                <a16:creationId xmlns:a16="http://schemas.microsoft.com/office/drawing/2014/main" id="{919AB2A5-B0FD-4427-A163-7691952AB33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997056404"/>
      </p:ext>
    </p:extLst>
  </p:cSld>
</p:sld>
</file>

<file path=ppt/slides/slide4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0E169F-F88F-4AAE-88F3-1ADE1211A8F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5084DDC1-DFFF-44BE-8585-859AE9148E1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bet and change-of-mind evidence</a:t>
            </a:r>
          </a:p>
        </p:txBody>
      </p:sp>
      <p:sp>
        <p:nvSpPr>
          <p:cNvPr id="3" name="">
            <a:extLst xmlns:a="http://schemas.openxmlformats.org/drawingml/2006/main">
              <a:ext uri="{FF2B5EF4-FFF2-40B4-BE49-F238E27FC236}">
                <a16:creationId xmlns:a16="http://schemas.microsoft.com/office/drawing/2014/main" id="{E3B7F1AF-6273-49EC-8755-70605CC8337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7AF36A46-F84F-47A5-9006-5FBB31178C9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Write a bet, a smallest action, and two pieces of evidence that would change your decision.</a:t>
            </a:r>
          </a:p>
        </p:txBody>
      </p:sp>
      <p:sp>
        <p:nvSpPr>
          <p:cNvPr id="5" name="">
            <a:extLst xmlns:a="http://schemas.openxmlformats.org/drawingml/2006/main">
              <a:ext uri="{FF2B5EF4-FFF2-40B4-BE49-F238E27FC236}">
                <a16:creationId xmlns:a16="http://schemas.microsoft.com/office/drawing/2014/main" id="{3CD9C997-4E96-4C7A-98B6-7A457DD4435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49566248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0CBC67-EF6D-40D1-9824-2744F8DE8AA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02F86F17-D2D5-447B-9644-FC698F81A2A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bet and change-of-mind evidence</a:t>
            </a:r>
          </a:p>
        </p:txBody>
      </p:sp>
      <p:sp>
        <p:nvSpPr>
          <p:cNvPr id="3" name="">
            <a:extLst xmlns:a="http://schemas.openxmlformats.org/drawingml/2006/main">
              <a:ext uri="{FF2B5EF4-FFF2-40B4-BE49-F238E27FC236}">
                <a16:creationId xmlns:a16="http://schemas.microsoft.com/office/drawing/2014/main" id="{605CAE86-3849-4802-B9E1-35F38CA2376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CCB9013F-35FC-4B40-AE69-41C65F3842B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If category lookup dominates effort, a reviewable suggestion should reduce defined review time. Test one ticket category with twelve simulated tasks. Change direction if the suggestion creates more checking work or breaches the agreed error limit. Stop immediately if it sends a message without approval. A failed hypothesis can still be a successful learning experiment.</a:t>
            </a:r>
          </a:p>
        </p:txBody>
      </p:sp>
      <p:sp>
        <p:nvSpPr>
          <p:cNvPr id="5" name="">
            <a:extLst xmlns:a="http://schemas.openxmlformats.org/drawingml/2006/main">
              <a:ext uri="{FF2B5EF4-FFF2-40B4-BE49-F238E27FC236}">
                <a16:creationId xmlns:a16="http://schemas.microsoft.com/office/drawing/2014/main" id="{0DACDFC7-231D-4A03-9EA0-336B4FCB4C6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50481533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E44593-4FC4-4DE0-8D0E-CD5D1E1B396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553FC98B-FE30-4280-8810-DF69564641A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bet and change-of-mind evidence</a:t>
            </a:r>
          </a:p>
        </p:txBody>
      </p:sp>
      <p:sp>
        <p:nvSpPr>
          <p:cNvPr id="3" name="">
            <a:extLst xmlns:a="http://schemas.openxmlformats.org/drawingml/2006/main">
              <a:ext uri="{FF2B5EF4-FFF2-40B4-BE49-F238E27FC236}">
                <a16:creationId xmlns:a16="http://schemas.microsoft.com/office/drawing/2014/main" id="{E1671D62-17A8-4115-AD9A-8DE4D8FB34E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8E81BD8E-6686-4125-9918-4B2D77498F4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When should you define disconfirming evidence?</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Before the experiment</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After seeing the results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Only if the sponsor asks</a:t>
            </a:r>
          </a:p>
        </p:txBody>
      </p:sp>
      <p:sp>
        <p:nvSpPr>
          <p:cNvPr id="5" name="">
            <a:extLst xmlns:a="http://schemas.openxmlformats.org/drawingml/2006/main">
              <a:ext uri="{FF2B5EF4-FFF2-40B4-BE49-F238E27FC236}">
                <a16:creationId xmlns:a16="http://schemas.microsoft.com/office/drawing/2014/main" id="{2C07E807-C1EC-4DED-ABCE-4102D4138C1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84421974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79BFF8-B096-4E95-9918-78B21F17F27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B1916E37-EF59-457A-9CE2-2935CD285C56}"/>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Metrics and guardrails</a:t>
            </a:r>
          </a:p>
        </p:txBody>
      </p:sp>
      <p:sp>
        <p:nvSpPr>
          <p:cNvPr id="3" name="">
            <a:extLst xmlns:a="http://schemas.openxmlformats.org/drawingml/2006/main">
              <a:ext uri="{FF2B5EF4-FFF2-40B4-BE49-F238E27FC236}">
                <a16:creationId xmlns:a16="http://schemas.microsoft.com/office/drawing/2014/main" id="{960D2A74-89C7-448F-A800-ABDEC8EEA0D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64CBB54A-F8A3-47D4-B269-833B83E3B7F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An outcome measure needs companion guardrails. Review speed alone can reward careless routing. Define quality, exceptions, coverage, and workload as appropriate. Keep the analysis unit consistent and compare similar tasks. A small synthetic sample supports a course decision, not a population estimate. Calculate improvement transparently and state whether it represents capacity, cost, or another benefit. Time released becomes cash savings only through an additional organizational mechanism.</a:t>
            </a:r>
          </a:p>
        </p:txBody>
      </p:sp>
      <p:sp>
        <p:nvSpPr>
          <p:cNvPr id="5" name="">
            <a:extLst xmlns:a="http://schemas.openxmlformats.org/drawingml/2006/main">
              <a:ext uri="{FF2B5EF4-FFF2-40B4-BE49-F238E27FC236}">
                <a16:creationId xmlns:a16="http://schemas.microsoft.com/office/drawing/2014/main" id="{BCDAEE07-D52E-4C52-9CA4-2E7991C95C6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539362328"/>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A30FAB-BB29-45F2-80E0-9B75DF12019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5D8F0D37-9E51-4B54-AE1A-F97C9BE2A94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Metrics and guardrails</a:t>
            </a:r>
          </a:p>
        </p:txBody>
      </p:sp>
      <p:sp>
        <p:nvSpPr>
          <p:cNvPr id="3" name="">
            <a:extLst xmlns:a="http://schemas.openxmlformats.org/drawingml/2006/main">
              <a:ext uri="{FF2B5EF4-FFF2-40B4-BE49-F238E27FC236}">
                <a16:creationId xmlns:a16="http://schemas.microsoft.com/office/drawing/2014/main" id="{D4EF023A-9B12-45C0-9791-CB6702A608A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470505FD-1881-4CFF-BDB2-0E150B1FC1E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 change from 20 to 12 minutes is eight minutes less per review and a 40 percent reduction in the sample median. It does not establish a 40 percent reduction in staffing cost. Two wrong queues in twelve tasks would violate the case quality threshold.</a:t>
            </a:r>
          </a:p>
        </p:txBody>
      </p:sp>
      <p:sp>
        <p:nvSpPr>
          <p:cNvPr id="5" name="">
            <a:extLst xmlns:a="http://schemas.openxmlformats.org/drawingml/2006/main">
              <a:ext uri="{FF2B5EF4-FFF2-40B4-BE49-F238E27FC236}">
                <a16:creationId xmlns:a16="http://schemas.microsoft.com/office/drawing/2014/main" id="{02A7F82B-A076-4845-B73E-EDD4158CD11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467825289"/>
      </p:ext>
    </p:extLst>
  </p:cSld>
</p:sld>
</file>

<file path=ppt/slides/slide5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E541E4-73FD-4C8A-95C1-D32B7B53F92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9DE02F25-EEF6-4123-875D-65CD9095031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Metrics and guardrails</a:t>
            </a:r>
          </a:p>
        </p:txBody>
      </p:sp>
      <p:sp>
        <p:nvSpPr>
          <p:cNvPr id="3" name="">
            <a:extLst xmlns:a="http://schemas.openxmlformats.org/drawingml/2006/main">
              <a:ext uri="{FF2B5EF4-FFF2-40B4-BE49-F238E27FC236}">
                <a16:creationId xmlns:a16="http://schemas.microsoft.com/office/drawing/2014/main" id="{2B018636-9F3D-47D0-ACB8-04D9326FAA9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A1439DCD-B3F7-4AFA-9CF2-801F1A86494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Calculate relative improvement and write one supported claim and one claim the evidence cannot support.</a:t>
            </a:r>
          </a:p>
        </p:txBody>
      </p:sp>
      <p:sp>
        <p:nvSpPr>
          <p:cNvPr id="5" name="">
            <a:extLst xmlns:a="http://schemas.openxmlformats.org/drawingml/2006/main">
              <a:ext uri="{FF2B5EF4-FFF2-40B4-BE49-F238E27FC236}">
                <a16:creationId xmlns:a16="http://schemas.microsoft.com/office/drawing/2014/main" id="{9214B4C2-BB3C-4F34-96E8-470CA9903D99}"/>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14890019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C29F39-8E36-4F46-8AB5-87A5764F313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09733A6B-800F-4ACC-A05A-47666B7BFD7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Metrics and guardrails</a:t>
            </a:r>
          </a:p>
        </p:txBody>
      </p:sp>
      <p:sp>
        <p:nvSpPr>
          <p:cNvPr id="3" name="">
            <a:extLst xmlns:a="http://schemas.openxmlformats.org/drawingml/2006/main">
              <a:ext uri="{FF2B5EF4-FFF2-40B4-BE49-F238E27FC236}">
                <a16:creationId xmlns:a16="http://schemas.microsoft.com/office/drawing/2014/main" id="{FBBC17E2-4D81-4D58-8395-FCE1124DE83C}"/>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A1BB5AD9-2DF5-4FA2-8830-0865C02D849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calculation is twenty minus twelve, divided by twenty, which equals forty percent. Supported: median review time fell in this synthetic comparison. Unsupported: payroll fell by forty percent. Add sample size and error rate to the report. If time falls but errors exceed the guardrail, iterate rather than land.</a:t>
            </a:r>
          </a:p>
        </p:txBody>
      </p:sp>
      <p:sp>
        <p:nvSpPr>
          <p:cNvPr id="5" name="">
            <a:extLst xmlns:a="http://schemas.openxmlformats.org/drawingml/2006/main">
              <a:ext uri="{FF2B5EF4-FFF2-40B4-BE49-F238E27FC236}">
                <a16:creationId xmlns:a16="http://schemas.microsoft.com/office/drawing/2014/main" id="{4FCBE4E9-7C8D-4FF4-B64D-8C8E2BD4FB5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175253298"/>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050BF8-ADD5-43F5-9644-E37022C4848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2A850BFA-D98F-4C97-8485-292857700B5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Metrics and guardrails</a:t>
            </a:r>
          </a:p>
        </p:txBody>
      </p:sp>
      <p:sp>
        <p:nvSpPr>
          <p:cNvPr id="3" name="">
            <a:extLst xmlns:a="http://schemas.openxmlformats.org/drawingml/2006/main">
              <a:ext uri="{FF2B5EF4-FFF2-40B4-BE49-F238E27FC236}">
                <a16:creationId xmlns:a16="http://schemas.microsoft.com/office/drawing/2014/main" id="{35D569A9-EA8D-43DB-9007-951C5AA00B7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26BE2188-2316-4AFB-89DB-F9FE6C1D8EB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does released review time establish directly?</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A guaranteed reduction in payroll</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Time capacity in the measured scope</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Universal model accuracy</a:t>
            </a:r>
          </a:p>
        </p:txBody>
      </p:sp>
      <p:sp>
        <p:nvSpPr>
          <p:cNvPr id="5" name="">
            <a:extLst xmlns:a="http://schemas.openxmlformats.org/drawingml/2006/main">
              <a:ext uri="{FF2B5EF4-FFF2-40B4-BE49-F238E27FC236}">
                <a16:creationId xmlns:a16="http://schemas.microsoft.com/office/drawing/2014/main" id="{F6F3CFF3-33D4-45F6-9D10-455F02188F8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608897059"/>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C37369-A1F4-454B-B633-C79EB31BF56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05214911-73D9-42AF-9C96-F62F320EE96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Operator agreement and scope</a:t>
            </a:r>
          </a:p>
        </p:txBody>
      </p:sp>
      <p:sp>
        <p:nvSpPr>
          <p:cNvPr id="3" name="">
            <a:extLst xmlns:a="http://schemas.openxmlformats.org/drawingml/2006/main">
              <a:ext uri="{FF2B5EF4-FFF2-40B4-BE49-F238E27FC236}">
                <a16:creationId xmlns:a16="http://schemas.microsoft.com/office/drawing/2014/main" id="{2362E1BA-5586-4F2E-AF15-936CAD25316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FA58D8F8-4039-4EE2-957D-0283C8E0B58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operator confirms the frame in their own words. Review the workflow boundary, measurement definition, fixed constraints, proposed experiment, and decision authority. Disagreement is useful evidence. Record exclusions so nobody mistakes a local test for a production commitment. Keep the initial frame version when you revise it. If conditions change before acting, document the change and obtain the relevant agreement within the simulated engagement.</a:t>
            </a:r>
          </a:p>
        </p:txBody>
      </p:sp>
      <p:sp>
        <p:nvSpPr>
          <p:cNvPr id="5" name="">
            <a:extLst xmlns:a="http://schemas.openxmlformats.org/drawingml/2006/main">
              <a:ext uri="{FF2B5EF4-FFF2-40B4-BE49-F238E27FC236}">
                <a16:creationId xmlns:a16="http://schemas.microsoft.com/office/drawing/2014/main" id="{DB3C93DF-F92B-4AF6-84D7-81F484C29DE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724571900"/>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8A3625-643A-47B4-B4D0-A5FA923652F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D98EB7C3-8E33-469A-8C22-2465A5463B0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Operator agreement and scope</a:t>
            </a:r>
          </a:p>
        </p:txBody>
      </p:sp>
      <p:sp>
        <p:nvSpPr>
          <p:cNvPr id="3" name="">
            <a:extLst xmlns:a="http://schemas.openxmlformats.org/drawingml/2006/main">
              <a:ext uri="{FF2B5EF4-FFF2-40B4-BE49-F238E27FC236}">
                <a16:creationId xmlns:a16="http://schemas.microsoft.com/office/drawing/2014/main" id="{B36D80B4-7310-46EC-8B57-93CD2880922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E93D6990-5AC0-4BC1-B4BD-E67CF33D567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Maya approves assisted routing for access tickets. Priya approves only synthetic data. The sponsor still expects automatic replies. Your decision record must expose this difference before anyone calls the experiment a customer deployment.</a:t>
            </a:r>
          </a:p>
        </p:txBody>
      </p:sp>
      <p:sp>
        <p:nvSpPr>
          <p:cNvPr id="5" name="">
            <a:extLst xmlns:a="http://schemas.openxmlformats.org/drawingml/2006/main">
              <a:ext uri="{FF2B5EF4-FFF2-40B4-BE49-F238E27FC236}">
                <a16:creationId xmlns:a16="http://schemas.microsoft.com/office/drawing/2014/main" id="{3BD70DE8-E955-4552-ACCC-95C34327F7A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813497224"/>
      </p:ext>
    </p:extLst>
  </p:cSld>
</p:sld>
</file>

<file path=ppt/slides/slide5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293253-CFEB-4920-88A0-EC9B711397D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B522EAB2-ACF0-4B3E-925B-D5205C55D6B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Operator agreement and scope</a:t>
            </a:r>
          </a:p>
        </p:txBody>
      </p:sp>
      <p:sp>
        <p:nvSpPr>
          <p:cNvPr id="3" name="">
            <a:extLst xmlns:a="http://schemas.openxmlformats.org/drawingml/2006/main">
              <a:ext uri="{FF2B5EF4-FFF2-40B4-BE49-F238E27FC236}">
                <a16:creationId xmlns:a16="http://schemas.microsoft.com/office/drawing/2014/main" id="{C882D314-CBB9-45B9-A87A-721C20E6929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9F1B8159-BFD0-4A7C-9EA1-3CD9888C245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Write a scope note naming included work, excluded work, owners, and the next gate.</a:t>
            </a:r>
          </a:p>
        </p:txBody>
      </p:sp>
      <p:sp>
        <p:nvSpPr>
          <p:cNvPr id="5" name="">
            <a:extLst xmlns:a="http://schemas.openxmlformats.org/drawingml/2006/main">
              <a:ext uri="{FF2B5EF4-FFF2-40B4-BE49-F238E27FC236}">
                <a16:creationId xmlns:a16="http://schemas.microsoft.com/office/drawing/2014/main" id="{2E5BBB47-5D05-416C-991F-55D4334B8D6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24618036"/>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E3E6CC-8165-4D7D-A4ED-25B00B55F3E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2D1D27A0-973E-4D85-88BE-3D962A9321C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Operator agreement and scope</a:t>
            </a:r>
          </a:p>
        </p:txBody>
      </p:sp>
      <p:sp>
        <p:nvSpPr>
          <p:cNvPr id="3" name="">
            <a:extLst xmlns:a="http://schemas.openxmlformats.org/drawingml/2006/main">
              <a:ext uri="{FF2B5EF4-FFF2-40B4-BE49-F238E27FC236}">
                <a16:creationId xmlns:a16="http://schemas.microsoft.com/office/drawing/2014/main" id="{2342AD5D-B89B-4472-9FC0-1DF28A5D8E5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E2BDAEEA-D294-40FC-8870-01212E93895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Included: synthetic access-ticket routing, reviewer approval, and event logging. Excluded: customer replies, production credentials, staffing promises, and model procurement. Maya reviews workflow usefulness. Priya retains authority over future data access. Luis checks integration fit. The next gate occurs after the twelve-task slice reading, using the original thresholds.</a:t>
            </a:r>
          </a:p>
        </p:txBody>
      </p:sp>
      <p:sp>
        <p:nvSpPr>
          <p:cNvPr id="5" name="">
            <a:extLst xmlns:a="http://schemas.openxmlformats.org/drawingml/2006/main">
              <a:ext uri="{FF2B5EF4-FFF2-40B4-BE49-F238E27FC236}">
                <a16:creationId xmlns:a16="http://schemas.microsoft.com/office/drawing/2014/main" id="{6AA9A8F4-C80D-405E-9EE5-F21A9C1993B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461888596"/>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CA6E9DA-B9A1-4B0D-9642-E99AF68D25A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Frame the decision</a:t>
            </a:r>
          </a:p>
        </p:txBody>
      </p:sp>
      <p:sp>
        <p:nvSpPr>
          <p:cNvPr id="2" name="">
            <a:extLst xmlns:a="http://schemas.openxmlformats.org/drawingml/2006/main">
              <a:ext uri="{FF2B5EF4-FFF2-40B4-BE49-F238E27FC236}">
                <a16:creationId xmlns:a16="http://schemas.microsoft.com/office/drawing/2014/main" id="{AD678F43-D46A-461A-B223-4AB28D4B70D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Operator agreement and scope</a:t>
            </a:r>
          </a:p>
        </p:txBody>
      </p:sp>
      <p:sp>
        <p:nvSpPr>
          <p:cNvPr id="3" name="">
            <a:extLst xmlns:a="http://schemas.openxmlformats.org/drawingml/2006/main">
              <a:ext uri="{FF2B5EF4-FFF2-40B4-BE49-F238E27FC236}">
                <a16:creationId xmlns:a16="http://schemas.microsoft.com/office/drawing/2014/main" id="{28E7CC59-A9C9-43C6-A4D5-FE9DAE47F8D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F3103955-C57E-4D79-AB0D-80E52418C85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should happen to conflicting expectations?</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Resolve or expose them before execution</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Hide them in technical notes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Promise both outcomes</a:t>
            </a:r>
          </a:p>
        </p:txBody>
      </p:sp>
      <p:sp>
        <p:nvSpPr>
          <p:cNvPr id="5" name="">
            <a:extLst xmlns:a="http://schemas.openxmlformats.org/drawingml/2006/main">
              <a:ext uri="{FF2B5EF4-FFF2-40B4-BE49-F238E27FC236}">
                <a16:creationId xmlns:a16="http://schemas.microsoft.com/office/drawing/2014/main" id="{AE596CCA-1B08-4BE9-9CFA-6248E7E00C4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694545663"/>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1EF8B3-95D5-4C04-92CB-5C20F7C7557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74BFF831-A80A-4450-BA1F-F180D957076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complete path to value</a:t>
            </a:r>
          </a:p>
        </p:txBody>
      </p:sp>
      <p:sp>
        <p:nvSpPr>
          <p:cNvPr id="3" name="">
            <a:extLst xmlns:a="http://schemas.openxmlformats.org/drawingml/2006/main">
              <a:ext uri="{FF2B5EF4-FFF2-40B4-BE49-F238E27FC236}">
                <a16:creationId xmlns:a16="http://schemas.microsoft.com/office/drawing/2014/main" id="{BBC58321-8782-4975-A367-4EC0CB58880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60A92BC3-C8D0-49CB-8BFF-814ED30D6DD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 thin slice crosses the whole path from real-shaped input to usable output while keeping scope small. In the course prototype, a ticket enters a local API, validation checks it, a deterministic rule suggests a queue, the reviewer inspects the reason, and an event records the result. We start with rules to establish an understandable baseline. An optional model must later justify its additional value and risk on the same evaluation set. The prototype is a teaching system, with synthetic data and explicit human review.</a:t>
            </a:r>
          </a:p>
        </p:txBody>
      </p:sp>
      <p:sp>
        <p:nvSpPr>
          <p:cNvPr id="5" name="">
            <a:extLst xmlns:a="http://schemas.openxmlformats.org/drawingml/2006/main">
              <a:ext uri="{FF2B5EF4-FFF2-40B4-BE49-F238E27FC236}">
                <a16:creationId xmlns:a16="http://schemas.microsoft.com/office/drawing/2014/main" id="{770184D6-79A9-4F12-98E6-33023E208E2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771205030"/>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E025B6-C8BB-48C6-B6B8-E81CA6EE387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2DFB29F0-024C-4333-B8BB-B2DFC972F96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complete path to value</a:t>
            </a:r>
          </a:p>
        </p:txBody>
      </p:sp>
      <p:sp>
        <p:nvSpPr>
          <p:cNvPr id="3" name="">
            <a:extLst xmlns:a="http://schemas.openxmlformats.org/drawingml/2006/main">
              <a:ext uri="{FF2B5EF4-FFF2-40B4-BE49-F238E27FC236}">
                <a16:creationId xmlns:a16="http://schemas.microsoft.com/office/drawing/2014/main" id="{28F0FB8A-6F78-4FEA-B4EE-AEF93D09990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EF43BB90-CC33-495F-B9A0-4897DE44CD4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An architecture diagram with five services tests no operating assumption by itself. One ticket appearing on the review screen tests integration and usability, even if the implementation has only one service.</a:t>
            </a:r>
          </a:p>
        </p:txBody>
      </p:sp>
      <p:sp>
        <p:nvSpPr>
          <p:cNvPr id="5" name="">
            <a:extLst xmlns:a="http://schemas.openxmlformats.org/drawingml/2006/main">
              <a:ext uri="{FF2B5EF4-FFF2-40B4-BE49-F238E27FC236}">
                <a16:creationId xmlns:a16="http://schemas.microsoft.com/office/drawing/2014/main" id="{D50A6746-616D-45CA-BDBC-669E68ACEE8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104812561"/>
      </p:ext>
    </p:extLst>
  </p:cSld>
</p:sld>
</file>

<file path=ppt/slides/slide6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3F64E8-3758-464F-A026-F16417D68F6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FB309EE1-0809-470D-AFAB-93A8580A7C2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complete path to value</a:t>
            </a:r>
          </a:p>
        </p:txBody>
      </p:sp>
      <p:sp>
        <p:nvSpPr>
          <p:cNvPr id="3" name="">
            <a:extLst xmlns:a="http://schemas.openxmlformats.org/drawingml/2006/main">
              <a:ext uri="{FF2B5EF4-FFF2-40B4-BE49-F238E27FC236}">
                <a16:creationId xmlns:a16="http://schemas.microsoft.com/office/drawing/2014/main" id="{D0A1A364-A558-442F-B176-CAB21635CAF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DC535F5E-B552-43E1-9164-B63CA8F74C9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Run the lab with Docker Compose. Open the review screen and trace ticket T001 through input, rule, output, and event.</a:t>
            </a:r>
          </a:p>
        </p:txBody>
      </p:sp>
      <p:sp>
        <p:nvSpPr>
          <p:cNvPr id="5" name="">
            <a:extLst xmlns:a="http://schemas.openxmlformats.org/drawingml/2006/main">
              <a:ext uri="{FF2B5EF4-FFF2-40B4-BE49-F238E27FC236}">
                <a16:creationId xmlns:a16="http://schemas.microsoft.com/office/drawing/2014/main" id="{D9F910F1-C3D7-43AA-A9AF-8CCF98153C4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672976670"/>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04715F-1E8C-4F76-BE24-753164C3B88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8C0E4426-071D-47E7-98F7-1612A214BFF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complete path to value</a:t>
            </a:r>
          </a:p>
        </p:txBody>
      </p:sp>
      <p:sp>
        <p:nvSpPr>
          <p:cNvPr id="3" name="">
            <a:extLst xmlns:a="http://schemas.openxmlformats.org/drawingml/2006/main">
              <a:ext uri="{FF2B5EF4-FFF2-40B4-BE49-F238E27FC236}">
                <a16:creationId xmlns:a16="http://schemas.microsoft.com/office/drawing/2014/main" id="{2A59AFBC-CC31-4041-8988-F28B8FF0294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0D02B891-3463-4C0F-989B-DDFCCB0CD6A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complete path uses POST /api/triage, returns a suggestion with human_review_required set to true, and writes a suggestion event. Saving an accepted or overridden decision produces a separate event. Inspect both rather than treating generation as adoption. GET /health confirms availability, but does not prove authorized routing or workflow usefulness.</a:t>
            </a:r>
          </a:p>
        </p:txBody>
      </p:sp>
      <p:sp>
        <p:nvSpPr>
          <p:cNvPr id="5" name="">
            <a:extLst xmlns:a="http://schemas.openxmlformats.org/drawingml/2006/main">
              <a:ext uri="{FF2B5EF4-FFF2-40B4-BE49-F238E27FC236}">
                <a16:creationId xmlns:a16="http://schemas.microsoft.com/office/drawing/2014/main" id="{C858210C-E632-437A-8897-A349E0E4164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2806852"/>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7AFDC2-E80B-488A-95E4-CEBDCB258EA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0DE3A67B-5882-4DD0-A99A-A2C15DB0586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complete path to value</a:t>
            </a:r>
          </a:p>
        </p:txBody>
      </p:sp>
      <p:sp>
        <p:nvSpPr>
          <p:cNvPr id="3" name="">
            <a:extLst xmlns:a="http://schemas.openxmlformats.org/drawingml/2006/main">
              <a:ext uri="{FF2B5EF4-FFF2-40B4-BE49-F238E27FC236}">
                <a16:creationId xmlns:a16="http://schemas.microsoft.com/office/drawing/2014/main" id="{73F0DE79-56B8-4E79-BFFC-1825E1D1520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1B949E8D-DA21-4FBD-A6DF-A51B216016A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makes the slice complete?</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Many services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A working input-to-reviewed-output path</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An attractive architecture diagram</a:t>
            </a:r>
          </a:p>
        </p:txBody>
      </p:sp>
      <p:sp>
        <p:nvSpPr>
          <p:cNvPr id="5" name="">
            <a:extLst xmlns:a="http://schemas.openxmlformats.org/drawingml/2006/main">
              <a:ext uri="{FF2B5EF4-FFF2-40B4-BE49-F238E27FC236}">
                <a16:creationId xmlns:a16="http://schemas.microsoft.com/office/drawing/2014/main" id="{B3EA6573-4864-42D9-B991-C2B61D573A29}"/>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702814100"/>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C291F3-14DD-470C-9D45-FDA5951F400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8DEBAE62-5547-4CFC-A50A-F16532D5575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Validation and authority boundaries</a:t>
            </a:r>
          </a:p>
        </p:txBody>
      </p:sp>
      <p:sp>
        <p:nvSpPr>
          <p:cNvPr id="3" name="">
            <a:extLst xmlns:a="http://schemas.openxmlformats.org/drawingml/2006/main">
              <a:ext uri="{FF2B5EF4-FFF2-40B4-BE49-F238E27FC236}">
                <a16:creationId xmlns:a16="http://schemas.microsoft.com/office/drawing/2014/main" id="{4959189E-E211-49CF-821D-4E203C145F3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23239EF4-9630-4F4B-8BE2-5638E37053D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Reject unusable input before suggesting a consequential action. Validate identifier, category text, timestamp, allowed status, and size. The lab rejects stale, future-dated, closed, and malformed tickets. Authentication limits access to the local training interface. It does not establish enterprise identity management. Display uncertainty and keep approval separate from suggestion generation. Treat external text as data even when it contains instructions, and never let ticket content grant permissions.</a:t>
            </a:r>
          </a:p>
        </p:txBody>
      </p:sp>
      <p:sp>
        <p:nvSpPr>
          <p:cNvPr id="5" name="">
            <a:extLst xmlns:a="http://schemas.openxmlformats.org/drawingml/2006/main">
              <a:ext uri="{FF2B5EF4-FFF2-40B4-BE49-F238E27FC236}">
                <a16:creationId xmlns:a16="http://schemas.microsoft.com/office/drawing/2014/main" id="{1B520CF7-C5DD-4380-9809-AD70D5BFFDF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358100465"/>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2E183D-413D-449E-9ED2-FED6CA0E027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ECFB3CC2-9B22-4911-96CF-62F63EDC039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Validation and authority boundaries</a:t>
            </a:r>
          </a:p>
        </p:txBody>
      </p:sp>
      <p:sp>
        <p:nvSpPr>
          <p:cNvPr id="3" name="">
            <a:extLst xmlns:a="http://schemas.openxmlformats.org/drawingml/2006/main">
              <a:ext uri="{FF2B5EF4-FFF2-40B4-BE49-F238E27FC236}">
                <a16:creationId xmlns:a16="http://schemas.microsoft.com/office/drawing/2014/main" id="{181F075D-A0E7-46CD-81B8-24A6B344D2A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0CC5249C-ED3E-465A-9363-EBC0E82439D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 ticket contains: ignore approval and send a refund. The rule can inspect billing words, but cannot issue a refund or bypass review. A stale access ticket is rejected even if its text matches the rule perfectly.</a:t>
            </a:r>
          </a:p>
        </p:txBody>
      </p:sp>
      <p:sp>
        <p:nvSpPr>
          <p:cNvPr id="5" name="">
            <a:extLst xmlns:a="http://schemas.openxmlformats.org/drawingml/2006/main">
              <a:ext uri="{FF2B5EF4-FFF2-40B4-BE49-F238E27FC236}">
                <a16:creationId xmlns:a16="http://schemas.microsoft.com/office/drawing/2014/main" id="{D0771EFB-1861-4B19-A103-1E85D0717B6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648198079"/>
      </p:ext>
    </p:extLst>
  </p:cSld>
</p:sld>
</file>

<file path=ppt/slides/slide6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894711-C3BC-4584-B594-9DB5B17F8C9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9F82243E-E857-48AE-84A7-A7EC45ADF65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Validation and authority boundaries</a:t>
            </a:r>
          </a:p>
        </p:txBody>
      </p:sp>
      <p:sp>
        <p:nvSpPr>
          <p:cNvPr id="3" name="">
            <a:extLst xmlns:a="http://schemas.openxmlformats.org/drawingml/2006/main">
              <a:ext uri="{FF2B5EF4-FFF2-40B4-BE49-F238E27FC236}">
                <a16:creationId xmlns:a16="http://schemas.microsoft.com/office/drawing/2014/main" id="{C6D6B7EB-117C-40A8-A91A-92778E63F76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30237CE2-D17D-43FC-92DF-DC5DFC86B2A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Submit a valid ticket, a closed ticket, a future timestamp, and instruction-like text. Record the observed boundary behavior.</a:t>
            </a:r>
          </a:p>
        </p:txBody>
      </p:sp>
      <p:sp>
        <p:nvSpPr>
          <p:cNvPr id="5" name="">
            <a:extLst xmlns:a="http://schemas.openxmlformats.org/drawingml/2006/main">
              <a:ext uri="{FF2B5EF4-FFF2-40B4-BE49-F238E27FC236}">
                <a16:creationId xmlns:a16="http://schemas.microsoft.com/office/drawing/2014/main" id="{48F4EE78-3987-4C55-A069-91466AE4C8F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871101234"/>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913B45-3CAC-4612-B7BD-BE917401D91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62146654-4517-4FD2-934A-0CA40E4073B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Validation and authority boundaries</a:t>
            </a:r>
          </a:p>
        </p:txBody>
      </p:sp>
      <p:sp>
        <p:nvSpPr>
          <p:cNvPr id="3" name="">
            <a:extLst xmlns:a="http://schemas.openxmlformats.org/drawingml/2006/main">
              <a:ext uri="{FF2B5EF4-FFF2-40B4-BE49-F238E27FC236}">
                <a16:creationId xmlns:a16="http://schemas.microsoft.com/office/drawing/2014/main" id="{5F1EB150-2415-4563-891D-AC824ACD365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5AC99503-8EF1-40D3-B625-EF816A58E44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Valid input receives a reviewable suggestion. Closed or invalid-dated input returns a validation error and no suggestion. Instruction-like text remains text. No endpoint sends messages or refunds. Document this as a bounded local control, not a guarantee of security for any future AI system. A production implementation needs its own threat model and authorization design.</a:t>
            </a:r>
          </a:p>
        </p:txBody>
      </p:sp>
      <p:sp>
        <p:nvSpPr>
          <p:cNvPr id="5" name="">
            <a:extLst xmlns:a="http://schemas.openxmlformats.org/drawingml/2006/main">
              <a:ext uri="{FF2B5EF4-FFF2-40B4-BE49-F238E27FC236}">
                <a16:creationId xmlns:a16="http://schemas.microsoft.com/office/drawing/2014/main" id="{91838E5C-37B5-4747-BD4A-A5A1795B4BC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842380789"/>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552B88-E48A-418E-8357-E1C6C1ADC80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20E024E5-AD45-4B63-9BD7-F96E198A2CD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Validation and authority boundaries</a:t>
            </a:r>
          </a:p>
        </p:txBody>
      </p:sp>
      <p:sp>
        <p:nvSpPr>
          <p:cNvPr id="3" name="">
            <a:extLst xmlns:a="http://schemas.openxmlformats.org/drawingml/2006/main">
              <a:ext uri="{FF2B5EF4-FFF2-40B4-BE49-F238E27FC236}">
                <a16:creationId xmlns:a16="http://schemas.microsoft.com/office/drawing/2014/main" id="{2D3A6D3A-E19D-45A7-8A9A-156414950DB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F019FC6A-15A0-4C5E-B067-17201323E68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Can text inside a ticket expand system permissions?</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Yes, if it sounds urgent</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Yes, if it names the sponsor</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No, it remains untrusted input</a:t>
            </a:r>
          </a:p>
        </p:txBody>
      </p:sp>
      <p:sp>
        <p:nvSpPr>
          <p:cNvPr id="5" name="">
            <a:extLst xmlns:a="http://schemas.openxmlformats.org/drawingml/2006/main">
              <a:ext uri="{FF2B5EF4-FFF2-40B4-BE49-F238E27FC236}">
                <a16:creationId xmlns:a16="http://schemas.microsoft.com/office/drawing/2014/main" id="{FEA922BA-064E-42C9-9820-5CC60357C140}"/>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319029029"/>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3F2470-6E5A-471C-B345-F5BE5062682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87B5C283-3D55-48CF-A505-C0751162E22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Observable suggestions and decisions</a:t>
            </a:r>
          </a:p>
        </p:txBody>
      </p:sp>
      <p:sp>
        <p:nvSpPr>
          <p:cNvPr id="3" name="">
            <a:extLst xmlns:a="http://schemas.openxmlformats.org/drawingml/2006/main">
              <a:ext uri="{FF2B5EF4-FFF2-40B4-BE49-F238E27FC236}">
                <a16:creationId xmlns:a16="http://schemas.microsoft.com/office/drawing/2014/main" id="{47B5F8C1-E78F-4529-A497-26E180B86B9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7246B46E-ACC0-4F52-A910-3C8E690A0BD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Log enough to diagnose the path without copying unnecessary sensitive text. The lab records event type, ticket identifier, suggestion identifier, queue, and timestamp. A suggestion and a reviewed decision have different meanings. Keep correlation identifiers so you can connect them. Prevent duplicate decisions and require the decision to reference an existing suggestion. Metrics should count events honestly and retain their denominator. More suggestions do not necessarily mean more operating value.</a:t>
            </a:r>
          </a:p>
        </p:txBody>
      </p:sp>
      <p:sp>
        <p:nvSpPr>
          <p:cNvPr id="5" name="">
            <a:extLst xmlns:a="http://schemas.openxmlformats.org/drawingml/2006/main">
              <a:ext uri="{FF2B5EF4-FFF2-40B4-BE49-F238E27FC236}">
                <a16:creationId xmlns:a16="http://schemas.microsoft.com/office/drawing/2014/main" id="{A010C33B-00B9-46CF-888A-8825336A00F9}"/>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48769512"/>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9F5CA6-880C-4BAC-96CF-4E8B10AA550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A26E9E69-078C-406A-82D3-16FC85F66A6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Observable suggestions and decisions</a:t>
            </a:r>
          </a:p>
        </p:txBody>
      </p:sp>
      <p:sp>
        <p:nvSpPr>
          <p:cNvPr id="3" name="">
            <a:extLst xmlns:a="http://schemas.openxmlformats.org/drawingml/2006/main">
              <a:ext uri="{FF2B5EF4-FFF2-40B4-BE49-F238E27FC236}">
                <a16:creationId xmlns:a16="http://schemas.microsoft.com/office/drawing/2014/main" id="{BF380ECD-7E0C-4D86-8105-ABEC7FABAB7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0A23640C-C3C2-478E-B4B6-239F3E6C237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Ten suggestions exist, but only four decisions were saved. Reporting ten successful reviews hides six incomplete interactions. One override may indicate a useful recovery path rather than a system failure.</a:t>
            </a:r>
          </a:p>
        </p:txBody>
      </p:sp>
      <p:sp>
        <p:nvSpPr>
          <p:cNvPr id="5" name="">
            <a:extLst xmlns:a="http://schemas.openxmlformats.org/drawingml/2006/main">
              <a:ext uri="{FF2B5EF4-FFF2-40B4-BE49-F238E27FC236}">
                <a16:creationId xmlns:a16="http://schemas.microsoft.com/office/drawing/2014/main" id="{4DCCA0D3-3DFF-47D7-8A4E-0E029060D8D0}"/>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609066435"/>
      </p:ext>
    </p:extLst>
  </p:cSld>
</p:sld>
</file>

<file path=ppt/slides/slide7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BC1AE7-C985-4629-8B3C-A56ADDACFA6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49D3E80F-BF1D-44A3-82E4-60EDB0A5615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Observable suggestions and decisions</a:t>
            </a:r>
          </a:p>
        </p:txBody>
      </p:sp>
      <p:sp>
        <p:nvSpPr>
          <p:cNvPr id="3" name="">
            <a:extLst xmlns:a="http://schemas.openxmlformats.org/drawingml/2006/main">
              <a:ext uri="{FF2B5EF4-FFF2-40B4-BE49-F238E27FC236}">
                <a16:creationId xmlns:a16="http://schemas.microsoft.com/office/drawing/2014/main" id="{8F5E4B21-99A6-4A7E-81AD-489D415EAA1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7744466D-3DB3-45E3-9B22-5F276D64C73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Generate a suggestion, override its queue, save the decision, then attempt a duplicate save. Inspect events.</a:t>
            </a:r>
          </a:p>
        </p:txBody>
      </p:sp>
      <p:sp>
        <p:nvSpPr>
          <p:cNvPr id="5" name="">
            <a:extLst xmlns:a="http://schemas.openxmlformats.org/drawingml/2006/main">
              <a:ext uri="{FF2B5EF4-FFF2-40B4-BE49-F238E27FC236}">
                <a16:creationId xmlns:a16="http://schemas.microsoft.com/office/drawing/2014/main" id="{7DB67AF5-BA87-4800-8010-5DB954D4000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770585225"/>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2627CC-555D-4FF1-8F42-C5EB45B0A64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D9944D75-3DC7-4413-9E38-1879A6678E4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Observable suggestions and decisions</a:t>
            </a:r>
          </a:p>
        </p:txBody>
      </p:sp>
      <p:sp>
        <p:nvSpPr>
          <p:cNvPr id="3" name="">
            <a:extLst xmlns:a="http://schemas.openxmlformats.org/drawingml/2006/main">
              <a:ext uri="{FF2B5EF4-FFF2-40B4-BE49-F238E27FC236}">
                <a16:creationId xmlns:a16="http://schemas.microsoft.com/office/drawing/2014/main" id="{2B5516EF-19DA-4D8E-8B7F-ADC573B517E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DA554D25-66BC-421F-A932-B6915A43440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log should contain one suggestion and one decision with the same suggestion identifier. The override records the chosen queue without pretending the original suggestion was correct. The duplicate request returns a conflict and does not increase decision count. Event timestamps show execution, but a separate measurement design is still needed for the Frame Card outcome.</a:t>
            </a:r>
          </a:p>
        </p:txBody>
      </p:sp>
      <p:sp>
        <p:nvSpPr>
          <p:cNvPr id="5" name="">
            <a:extLst xmlns:a="http://schemas.openxmlformats.org/drawingml/2006/main">
              <a:ext uri="{FF2B5EF4-FFF2-40B4-BE49-F238E27FC236}">
                <a16:creationId xmlns:a16="http://schemas.microsoft.com/office/drawing/2014/main" id="{B295F850-117E-41E9-B26A-41476E523CC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1691415889"/>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B7EDF3-AE28-439D-AAB1-404034166E1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775E1504-ECEE-46D4-8198-2454E50220E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Observable suggestions and decisions</a:t>
            </a:r>
          </a:p>
        </p:txBody>
      </p:sp>
      <p:sp>
        <p:nvSpPr>
          <p:cNvPr id="3" name="">
            <a:extLst xmlns:a="http://schemas.openxmlformats.org/drawingml/2006/main">
              <a:ext uri="{FF2B5EF4-FFF2-40B4-BE49-F238E27FC236}">
                <a16:creationId xmlns:a16="http://schemas.microsoft.com/office/drawing/2014/main" id="{4AFB1BB9-1CEE-47B8-A34A-BA0B75A29FB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6A37A28E-5DCA-475F-A459-6A4C1A527F24}"/>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Which event proves a reviewer recorded a choice?</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Suggestion created</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Decision saved</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Health check passed</a:t>
            </a:r>
          </a:p>
        </p:txBody>
      </p:sp>
      <p:sp>
        <p:nvSpPr>
          <p:cNvPr id="5" name="">
            <a:extLst xmlns:a="http://schemas.openxmlformats.org/drawingml/2006/main">
              <a:ext uri="{FF2B5EF4-FFF2-40B4-BE49-F238E27FC236}">
                <a16:creationId xmlns:a16="http://schemas.microsoft.com/office/drawing/2014/main" id="{6FF17C44-11C0-484A-9BFE-2AB82485AAB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246160269"/>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17FEF7-A1D5-4017-90DD-1E34626EED2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30A18F1E-3E04-4F9E-880C-EF717833352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Prediction before execution</a:t>
            </a:r>
          </a:p>
        </p:txBody>
      </p:sp>
      <p:sp>
        <p:nvSpPr>
          <p:cNvPr id="3" name="">
            <a:extLst xmlns:a="http://schemas.openxmlformats.org/drawingml/2006/main">
              <a:ext uri="{FF2B5EF4-FFF2-40B4-BE49-F238E27FC236}">
                <a16:creationId xmlns:a16="http://schemas.microsoft.com/office/drawing/2014/main" id="{6A5A744E-5942-4BB6-B197-EC2C8ABEC2B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B354150F-F44C-4089-BC08-6F25EEBCD12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Before the slice runs, write the result you expect, the metric, the date, and the evidence that would change your view. The prediction belongs to the experiment, not a reconstructed success story. Establish a comparison baseline with the same task definition. Evaluate rules before adding a model so you can identify incremental value. For this lab, functional tests establish behavior. They do not establish reduced review time until a timed task comparison occurs.</a:t>
            </a:r>
          </a:p>
        </p:txBody>
      </p:sp>
      <p:sp>
        <p:nvSpPr>
          <p:cNvPr id="5" name="">
            <a:extLst xmlns:a="http://schemas.openxmlformats.org/drawingml/2006/main">
              <a:ext uri="{FF2B5EF4-FFF2-40B4-BE49-F238E27FC236}">
                <a16:creationId xmlns:a16="http://schemas.microsoft.com/office/drawing/2014/main" id="{47A7BD4B-4432-4D06-A3A7-6283F7E8A61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30310738"/>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6805B6-909C-42B4-8311-083D3C5C810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302FA3AE-F438-47A0-BD3C-24E7195A4AD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Prediction before execution</a:t>
            </a:r>
          </a:p>
        </p:txBody>
      </p:sp>
      <p:sp>
        <p:nvSpPr>
          <p:cNvPr id="3" name="">
            <a:extLst xmlns:a="http://schemas.openxmlformats.org/drawingml/2006/main">
              <a:ext uri="{FF2B5EF4-FFF2-40B4-BE49-F238E27FC236}">
                <a16:creationId xmlns:a16="http://schemas.microsoft.com/office/drawing/2014/main" id="{D5C3CB5C-E693-48CE-885F-AFB6DC274E6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5C6BCF7E-76BB-4D68-A34D-17246B83618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You predict at most 14 minutes median review time and no more than one misroute in twelve equivalent tasks. The lab test suite passes, but the team has not timed any reviewers. These two evidence sets answer different questions.</a:t>
            </a:r>
          </a:p>
        </p:txBody>
      </p:sp>
      <p:sp>
        <p:nvSpPr>
          <p:cNvPr id="5" name="">
            <a:extLst xmlns:a="http://schemas.openxmlformats.org/drawingml/2006/main">
              <a:ext uri="{FF2B5EF4-FFF2-40B4-BE49-F238E27FC236}">
                <a16:creationId xmlns:a16="http://schemas.microsoft.com/office/drawing/2014/main" id="{2017987B-649A-4FA8-9B62-E8BA2CE6765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075936107"/>
      </p:ext>
    </p:extLst>
  </p:cSld>
</p:sld>
</file>

<file path=ppt/slides/slide7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C363A4-79A8-4461-8C2E-522BA506EF5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34F521F0-7D3A-4F1F-A58F-A10368478FD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Prediction before execution</a:t>
            </a:r>
          </a:p>
        </p:txBody>
      </p:sp>
      <p:sp>
        <p:nvSpPr>
          <p:cNvPr id="3" name="">
            <a:extLst xmlns:a="http://schemas.openxmlformats.org/drawingml/2006/main">
              <a:ext uri="{FF2B5EF4-FFF2-40B4-BE49-F238E27FC236}">
                <a16:creationId xmlns:a16="http://schemas.microsoft.com/office/drawing/2014/main" id="{08B05CF8-9CF1-4D88-8CEA-FD5F8F37732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948F719A-02EA-4709-8F28-FD8226BD0B0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Write the prediction, run the tests, and state exactly what a passing result establishes.</a:t>
            </a:r>
          </a:p>
        </p:txBody>
      </p:sp>
      <p:sp>
        <p:nvSpPr>
          <p:cNvPr id="5" name="">
            <a:extLst xmlns:a="http://schemas.openxmlformats.org/drawingml/2006/main">
              <a:ext uri="{FF2B5EF4-FFF2-40B4-BE49-F238E27FC236}">
                <a16:creationId xmlns:a16="http://schemas.microsoft.com/office/drawing/2014/main" id="{C32A77D7-C057-4075-8339-8C2216A8CCD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883485975"/>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563B9C-BC98-48A1-88D8-B76AFAC3EDA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BF56F064-79BE-4892-AB88-600EB398F91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Prediction before execution</a:t>
            </a:r>
          </a:p>
        </p:txBody>
      </p:sp>
      <p:sp>
        <p:nvSpPr>
          <p:cNvPr id="3" name="">
            <a:extLst xmlns:a="http://schemas.openxmlformats.org/drawingml/2006/main">
              <a:ext uri="{FF2B5EF4-FFF2-40B4-BE49-F238E27FC236}">
                <a16:creationId xmlns:a16="http://schemas.microsoft.com/office/drawing/2014/main" id="{6F619010-6B9D-4C41-B122-1ACAE99D2FD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B719C32D-43DE-487C-A246-9E5CB6D88F5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Passing tests establish the specified local API, validation, rule, audit, and approval behavior. They do not establish operator trust, adoption, latency in a customer environment, or a causal productivity gain. Keep the performance prediction open until measured. An optional model comparison should reuse the labeled evaluation set and include cost, errors, fallback, and review effort.</a:t>
            </a:r>
          </a:p>
        </p:txBody>
      </p:sp>
      <p:sp>
        <p:nvSpPr>
          <p:cNvPr id="5" name="">
            <a:extLst xmlns:a="http://schemas.openxmlformats.org/drawingml/2006/main">
              <a:ext uri="{FF2B5EF4-FFF2-40B4-BE49-F238E27FC236}">
                <a16:creationId xmlns:a16="http://schemas.microsoft.com/office/drawing/2014/main" id="{1347645A-7067-401B-B00A-18B45EA9283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1067455537"/>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A5BAB0-36B6-4434-95AB-290C0FD434B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Engineer the thin slice</a:t>
            </a:r>
          </a:p>
        </p:txBody>
      </p:sp>
      <p:sp>
        <p:nvSpPr>
          <p:cNvPr id="2" name="">
            <a:extLst xmlns:a="http://schemas.openxmlformats.org/drawingml/2006/main">
              <a:ext uri="{FF2B5EF4-FFF2-40B4-BE49-F238E27FC236}">
                <a16:creationId xmlns:a16="http://schemas.microsoft.com/office/drawing/2014/main" id="{D7CEA41F-92F3-44ED-9D10-D2F5D895190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Prediction before execution</a:t>
            </a:r>
          </a:p>
        </p:txBody>
      </p:sp>
      <p:sp>
        <p:nvSpPr>
          <p:cNvPr id="3" name="">
            <a:extLst xmlns:a="http://schemas.openxmlformats.org/drawingml/2006/main">
              <a:ext uri="{FF2B5EF4-FFF2-40B4-BE49-F238E27FC236}">
                <a16:creationId xmlns:a16="http://schemas.microsoft.com/office/drawing/2014/main" id="{67EE5C50-0CA5-4F57-B259-FB7043926D0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57209021-CC4C-409C-981D-35A21A38A84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Does a passing functional test prove the outcome metric improved?</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Yes, automatically</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Only with a modern model</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No, outcome measurement is separate</a:t>
            </a:r>
          </a:p>
        </p:txBody>
      </p:sp>
      <p:sp>
        <p:nvSpPr>
          <p:cNvPr id="5" name="">
            <a:extLst xmlns:a="http://schemas.openxmlformats.org/drawingml/2006/main">
              <a:ext uri="{FF2B5EF4-FFF2-40B4-BE49-F238E27FC236}">
                <a16:creationId xmlns:a16="http://schemas.microsoft.com/office/drawing/2014/main" id="{6B817F93-D721-4B40-B8C4-0F6AB31DB8B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32562378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9CE740-B143-404C-A98A-E0E3ADF8B0C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BC719DCB-DFA7-4B57-9E8F-7F628DAC9A7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first reading</a:t>
            </a:r>
          </a:p>
        </p:txBody>
      </p:sp>
      <p:sp>
        <p:nvSpPr>
          <p:cNvPr id="3" name="">
            <a:extLst xmlns:a="http://schemas.openxmlformats.org/drawingml/2006/main">
              <a:ext uri="{FF2B5EF4-FFF2-40B4-BE49-F238E27FC236}">
                <a16:creationId xmlns:a16="http://schemas.microsoft.com/office/drawing/2014/main" id="{6F514962-04FE-4D5B-9A23-C87619ED8E0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DD5A3596-9661-433D-B62A-4E8F2810C0D4}"/>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Sense compares reality with the written prediction. The first reading occurs after the thin slice and asks whether the critical assumption holds. Use the metric definition and thresholds agreed before the experiment. Include failures, exclusions, and exceptions. An improvement on a selected subset may disappear when failed tasks are restored. Write the result in a delta log: predicted, observed, model update, and decision.</a:t>
            </a:r>
          </a:p>
        </p:txBody>
      </p:sp>
      <p:sp>
        <p:nvSpPr>
          <p:cNvPr id="5" name="">
            <a:extLst xmlns:a="http://schemas.openxmlformats.org/drawingml/2006/main">
              <a:ext uri="{FF2B5EF4-FFF2-40B4-BE49-F238E27FC236}">
                <a16:creationId xmlns:a16="http://schemas.microsoft.com/office/drawing/2014/main" id="{0DF11806-02E6-48F8-8371-1FD13B12F6F9}"/>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868784262"/>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10DB21-F77F-48F3-BC0F-D70226E96C7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B546F1D7-D4E1-4E64-B58F-3316659CCE1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first reading</a:t>
            </a:r>
          </a:p>
        </p:txBody>
      </p:sp>
      <p:sp>
        <p:nvSpPr>
          <p:cNvPr id="3" name="">
            <a:extLst xmlns:a="http://schemas.openxmlformats.org/drawingml/2006/main">
              <a:ext uri="{FF2B5EF4-FFF2-40B4-BE49-F238E27FC236}">
                <a16:creationId xmlns:a16="http://schemas.microsoft.com/office/drawing/2014/main" id="{5F201589-8B31-494A-AEA7-A1A00313424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14531C55-904D-48E4-AECA-ABA04904AFB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twelve-task assisted sample has a median of 12 minutes and one wrong queue. It meets the fictional speed and quality thresholds. Two additional unusable tickets were rejected before review and must be reported as exclusions.</a:t>
            </a:r>
          </a:p>
        </p:txBody>
      </p:sp>
      <p:sp>
        <p:nvSpPr>
          <p:cNvPr id="5" name="">
            <a:extLst xmlns:a="http://schemas.openxmlformats.org/drawingml/2006/main">
              <a:ext uri="{FF2B5EF4-FFF2-40B4-BE49-F238E27FC236}">
                <a16:creationId xmlns:a16="http://schemas.microsoft.com/office/drawing/2014/main" id="{C418E0CD-A702-4C5F-90FC-9E8D9C0BC48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041220483"/>
      </p:ext>
    </p:extLst>
  </p:cSld>
</p:sld>
</file>

<file path=ppt/slides/slide8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51FBB0-FF96-4269-971F-B25933E908F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D8D03CE8-238C-4122-80F2-98398568506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first reading</a:t>
            </a:r>
          </a:p>
        </p:txBody>
      </p:sp>
      <p:sp>
        <p:nvSpPr>
          <p:cNvPr id="3" name="">
            <a:extLst xmlns:a="http://schemas.openxmlformats.org/drawingml/2006/main">
              <a:ext uri="{FF2B5EF4-FFF2-40B4-BE49-F238E27FC236}">
                <a16:creationId xmlns:a16="http://schemas.microsoft.com/office/drawing/2014/main" id="{7BD53A92-318A-4D1B-AE61-4415C201372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91D902A7-D38B-47C1-8724-F9807A6C9AD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Write a delta entry that includes the sample denominator and excluded records.</a:t>
            </a:r>
          </a:p>
        </p:txBody>
      </p:sp>
      <p:sp>
        <p:nvSpPr>
          <p:cNvPr id="5" name="">
            <a:extLst xmlns:a="http://schemas.openxmlformats.org/drawingml/2006/main">
              <a:ext uri="{FF2B5EF4-FFF2-40B4-BE49-F238E27FC236}">
                <a16:creationId xmlns:a16="http://schemas.microsoft.com/office/drawing/2014/main" id="{DD93B358-02D2-4128-B254-1C0B504F675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52469924"/>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210666-4101-498B-BCCE-B9661A59C5B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10A4A512-4171-425C-A07F-B4648BF6314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first reading</a:t>
            </a:r>
          </a:p>
        </p:txBody>
      </p:sp>
      <p:sp>
        <p:nvSpPr>
          <p:cNvPr id="3" name="">
            <a:extLst xmlns:a="http://schemas.openxmlformats.org/drawingml/2006/main">
              <a:ext uri="{FF2B5EF4-FFF2-40B4-BE49-F238E27FC236}">
                <a16:creationId xmlns:a16="http://schemas.microsoft.com/office/drawing/2014/main" id="{FA25D131-30A8-4ABB-BF97-0EAADB0EEA7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4250FE33-DD3F-4142-87C1-2CE64339B7B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Predicted: median no greater than 14 with at most one misroute. Observed: median 12, one misroute across twelve eligible tasks, plus two rejected inputs. Update: routing assistance is promising within eligible tasks. Decision: prepare a controlled landing only after checklist gaps close. Do not generalize this synthetic result to all support work.</a:t>
            </a:r>
          </a:p>
        </p:txBody>
      </p:sp>
      <p:sp>
        <p:nvSpPr>
          <p:cNvPr id="5" name="">
            <a:extLst xmlns:a="http://schemas.openxmlformats.org/drawingml/2006/main">
              <a:ext uri="{FF2B5EF4-FFF2-40B4-BE49-F238E27FC236}">
                <a16:creationId xmlns:a16="http://schemas.microsoft.com/office/drawing/2014/main" id="{0191D0EA-F171-4B62-B166-092250D31C3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1744186804"/>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5BA71A-5147-4A98-9E15-293DDE51EFC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756A77E2-6819-49DA-97A4-8B485FBC742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first reading</a:t>
            </a:r>
          </a:p>
        </p:txBody>
      </p:sp>
      <p:sp>
        <p:nvSpPr>
          <p:cNvPr id="3" name="">
            <a:extLst xmlns:a="http://schemas.openxmlformats.org/drawingml/2006/main">
              <a:ext uri="{FF2B5EF4-FFF2-40B4-BE49-F238E27FC236}">
                <a16:creationId xmlns:a16="http://schemas.microsoft.com/office/drawing/2014/main" id="{093239C6-DCA1-4956-96EC-5A32D7063CD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EF58126A-80B0-4E31-887D-3B4AF7A10D9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should the report do with rejected inputs?</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Hide them</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Include them as successful reviews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Report their count and exclusion reason</a:t>
            </a:r>
          </a:p>
        </p:txBody>
      </p:sp>
      <p:sp>
        <p:nvSpPr>
          <p:cNvPr id="5" name="">
            <a:extLst xmlns:a="http://schemas.openxmlformats.org/drawingml/2006/main">
              <a:ext uri="{FF2B5EF4-FFF2-40B4-BE49-F238E27FC236}">
                <a16:creationId xmlns:a16="http://schemas.microsoft.com/office/drawing/2014/main" id="{DFA5315E-FBF1-477F-A111-78444A21C31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903868714"/>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4B8E58-9AAB-404F-A1DF-59191877D53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997E44B9-BC9F-4BEC-BB5C-3D08DE5DA63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Land, iterate, pivot, or stop</a:t>
            </a:r>
          </a:p>
        </p:txBody>
      </p:sp>
      <p:sp>
        <p:nvSpPr>
          <p:cNvPr id="3" name="">
            <a:extLst xmlns:a="http://schemas.openxmlformats.org/drawingml/2006/main">
              <a:ext uri="{FF2B5EF4-FFF2-40B4-BE49-F238E27FC236}">
                <a16:creationId xmlns:a16="http://schemas.microsoft.com/office/drawing/2014/main" id="{659C8E52-24CC-4AFE-8A4D-DC556B01290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64EE46C1-56FE-464C-A18D-BA3E71DB90B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gate decision converts evidence into action. Land when the critical assumption holds and remaining operational conditions are satisfied. Iterate when the mechanism remains plausible but a bounded defect needs correction. Pivot when evidence points toward a different problem or intervention. Stop when the approach lacks value or exceeds an unacceptable boundary. Explain the choice using evidence, risk, reversibility, and the next observable test.</a:t>
            </a:r>
          </a:p>
        </p:txBody>
      </p:sp>
      <p:sp>
        <p:nvSpPr>
          <p:cNvPr id="5" name="">
            <a:extLst xmlns:a="http://schemas.openxmlformats.org/drawingml/2006/main">
              <a:ext uri="{FF2B5EF4-FFF2-40B4-BE49-F238E27FC236}">
                <a16:creationId xmlns:a16="http://schemas.microsoft.com/office/drawing/2014/main" id="{292FBD03-5AA3-4370-9FCD-C5F0632560C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086309844"/>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946A8E-3A2D-40B7-B8AD-01C6BFFF327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EF7B8773-1D41-48CD-860D-52FEE6C43AC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Land, iterate, pivot, or stop</a:t>
            </a:r>
          </a:p>
        </p:txBody>
      </p:sp>
      <p:sp>
        <p:nvSpPr>
          <p:cNvPr id="3" name="">
            <a:extLst xmlns:a="http://schemas.openxmlformats.org/drawingml/2006/main">
              <a:ext uri="{FF2B5EF4-FFF2-40B4-BE49-F238E27FC236}">
                <a16:creationId xmlns:a16="http://schemas.microsoft.com/office/drawing/2014/main" id="{6814A155-397A-492F-AC11-1CAF5098E0F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882C5D17-5299-43F2-8939-ADF2D47B3ED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Three variants appear: speed improves but errors double; category assistance has no effect because account lookup dominates; and a prototype sends unauthorized replies. Each failure demands a different decision.</a:t>
            </a:r>
          </a:p>
        </p:txBody>
      </p:sp>
      <p:sp>
        <p:nvSpPr>
          <p:cNvPr id="5" name="">
            <a:extLst xmlns:a="http://schemas.openxmlformats.org/drawingml/2006/main">
              <a:ext uri="{FF2B5EF4-FFF2-40B4-BE49-F238E27FC236}">
                <a16:creationId xmlns:a16="http://schemas.microsoft.com/office/drawing/2014/main" id="{ABE70FD8-83C4-444F-96A2-88446BD8CC0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530055083"/>
      </p:ext>
    </p:extLst>
  </p:cSld>
</p:sld>
</file>

<file path=ppt/slides/slide8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3A0BE7-E9F3-4629-B935-30C0311DD39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D6831450-8C88-4288-8AE6-484947C0493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Land, iterate, pivot, or stop</a:t>
            </a:r>
          </a:p>
        </p:txBody>
      </p:sp>
      <p:sp>
        <p:nvSpPr>
          <p:cNvPr id="3" name="">
            <a:extLst xmlns:a="http://schemas.openxmlformats.org/drawingml/2006/main">
              <a:ext uri="{FF2B5EF4-FFF2-40B4-BE49-F238E27FC236}">
                <a16:creationId xmlns:a16="http://schemas.microsoft.com/office/drawing/2014/main" id="{BCDD0B3B-2E8C-4226-825E-8751D87BC85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152EC86A-F496-454C-8D87-7B7CA1C9BDF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Assign a gate decision to each variant and state the next action.</a:t>
            </a:r>
          </a:p>
        </p:txBody>
      </p:sp>
      <p:sp>
        <p:nvSpPr>
          <p:cNvPr id="5" name="">
            <a:extLst xmlns:a="http://schemas.openxmlformats.org/drawingml/2006/main">
              <a:ext uri="{FF2B5EF4-FFF2-40B4-BE49-F238E27FC236}">
                <a16:creationId xmlns:a16="http://schemas.microsoft.com/office/drawing/2014/main" id="{CD5D8450-3293-486A-AF65-FC746BE52D7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537741816"/>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BF0B1A-217C-4581-B191-28CD51C973E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016649E6-236D-4321-8887-39A13C82331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Land, iterate, pivot, or stop</a:t>
            </a:r>
          </a:p>
        </p:txBody>
      </p:sp>
      <p:sp>
        <p:nvSpPr>
          <p:cNvPr id="3" name="">
            <a:extLst xmlns:a="http://schemas.openxmlformats.org/drawingml/2006/main">
              <a:ext uri="{FF2B5EF4-FFF2-40B4-BE49-F238E27FC236}">
                <a16:creationId xmlns:a16="http://schemas.microsoft.com/office/drawing/2014/main" id="{1963D1DF-0B68-43F2-97D9-DC04AB08751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97394EF8-98F2-49CD-AD49-01F723CABB5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Iterate on excessive routing errors if a specific correction can be tested safely. Pivot toward account lookup when evidence changes the problem mechanism. Stop unauthorized replies and restore the approval boundary before further testing. A stop can be temporary for recovery, but continuing unchanged would ignore the evidence.</a:t>
            </a:r>
          </a:p>
        </p:txBody>
      </p:sp>
      <p:sp>
        <p:nvSpPr>
          <p:cNvPr id="5" name="">
            <a:extLst xmlns:a="http://schemas.openxmlformats.org/drawingml/2006/main">
              <a:ext uri="{FF2B5EF4-FFF2-40B4-BE49-F238E27FC236}">
                <a16:creationId xmlns:a16="http://schemas.microsoft.com/office/drawing/2014/main" id="{9EFF7CA8-14C6-42C9-9184-44E027C0FF9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63194630"/>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7092DA-CD37-4DD9-B3E6-AD6CE20A5C9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77434094-97E9-473A-8029-12FEB665594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Land, iterate, pivot, or stop</a:t>
            </a:r>
          </a:p>
        </p:txBody>
      </p:sp>
      <p:sp>
        <p:nvSpPr>
          <p:cNvPr id="3" name="">
            <a:extLst xmlns:a="http://schemas.openxmlformats.org/drawingml/2006/main">
              <a:ext uri="{FF2B5EF4-FFF2-40B4-BE49-F238E27FC236}">
                <a16:creationId xmlns:a16="http://schemas.microsoft.com/office/drawing/2014/main" id="{B463E2EC-F132-40BF-9FAF-9F129599113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91AA3520-DAD6-4610-9229-46AF27154A0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is the correct response to an unauthorized action?</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Stop the action path and recover the boundary</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Ignore it if speed improved</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Change the metric</a:t>
            </a:r>
          </a:p>
        </p:txBody>
      </p:sp>
      <p:sp>
        <p:nvSpPr>
          <p:cNvPr id="5" name="">
            <a:extLst xmlns:a="http://schemas.openxmlformats.org/drawingml/2006/main">
              <a:ext uri="{FF2B5EF4-FFF2-40B4-BE49-F238E27FC236}">
                <a16:creationId xmlns:a16="http://schemas.microsoft.com/office/drawing/2014/main" id="{9508C9C7-201B-4E86-976F-C075669D372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010093918"/>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0B13D2-7071-4990-90CD-0022855E61A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DD1A53CF-35C6-4F3C-AE8F-31A4F420069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Confounders and honest interpretation</a:t>
            </a:r>
          </a:p>
        </p:txBody>
      </p:sp>
      <p:sp>
        <p:nvSpPr>
          <p:cNvPr id="3" name="">
            <a:extLst xmlns:a="http://schemas.openxmlformats.org/drawingml/2006/main">
              <a:ext uri="{FF2B5EF4-FFF2-40B4-BE49-F238E27FC236}">
                <a16:creationId xmlns:a16="http://schemas.microsoft.com/office/drawing/2014/main" id="{C950662F-7E6E-4BDC-A122-04BDD126DD4C}"/>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5EDB7737-65F3-48AF-B805-96E9E2E372C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 before-and-after difference does not isolate causality. Changes in ticket mix, staffing, reviewer experience, incentives, or measurement can explain part of the result. Preserve task definitions and compare comparable samples. For stronger field evaluation, consider a staged or controlled design suitable for the workflow. In the course, arithmetic is verifiable but synthetic evidence cannot establish effectiveness in a real organization.</a:t>
            </a:r>
          </a:p>
        </p:txBody>
      </p:sp>
      <p:sp>
        <p:nvSpPr>
          <p:cNvPr id="5" name="">
            <a:extLst xmlns:a="http://schemas.openxmlformats.org/drawingml/2006/main">
              <a:ext uri="{FF2B5EF4-FFF2-40B4-BE49-F238E27FC236}">
                <a16:creationId xmlns:a16="http://schemas.microsoft.com/office/drawing/2014/main" id="{AABE78BC-996B-4B19-A8F1-5496DA4CD5A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828496522"/>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79CC2A-0759-420E-9A9A-13E52114A6A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B31251DB-F286-4869-95BC-A9E6B57F71F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Confounders and honest interpretation</a:t>
            </a:r>
          </a:p>
        </p:txBody>
      </p:sp>
      <p:sp>
        <p:nvSpPr>
          <p:cNvPr id="3" name="">
            <a:extLst xmlns:a="http://schemas.openxmlformats.org/drawingml/2006/main">
              <a:ext uri="{FF2B5EF4-FFF2-40B4-BE49-F238E27FC236}">
                <a16:creationId xmlns:a16="http://schemas.microsoft.com/office/drawing/2014/main" id="{80075999-5941-4BD7-B74E-9BD2EE71000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CDF2DCCC-30B7-419E-B095-1BCDC809BEB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assisted group receives only access tickets while the baseline includes complex incidents. The headline improvement looks larger, even though the samples answer different questions.</a:t>
            </a:r>
          </a:p>
        </p:txBody>
      </p:sp>
      <p:sp>
        <p:nvSpPr>
          <p:cNvPr id="5" name="">
            <a:extLst xmlns:a="http://schemas.openxmlformats.org/drawingml/2006/main">
              <a:ext uri="{FF2B5EF4-FFF2-40B4-BE49-F238E27FC236}">
                <a16:creationId xmlns:a16="http://schemas.microsoft.com/office/drawing/2014/main" id="{3BBC682A-031F-49C9-A999-EE37E88943E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489184572"/>
      </p:ext>
    </p:extLst>
  </p:cSld>
</p:sld>
</file>

<file path=ppt/slides/slide9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FEB82A7-C57C-43A3-9F64-0A53C24C139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915A1A22-8520-427C-BC67-0D810079730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Confounders and honest interpretation</a:t>
            </a:r>
          </a:p>
        </p:txBody>
      </p:sp>
      <p:sp>
        <p:nvSpPr>
          <p:cNvPr id="3" name="">
            <a:extLst xmlns:a="http://schemas.openxmlformats.org/drawingml/2006/main">
              <a:ext uri="{FF2B5EF4-FFF2-40B4-BE49-F238E27FC236}">
                <a16:creationId xmlns:a16="http://schemas.microsoft.com/office/drawing/2014/main" id="{3006A8DB-4A69-4EF5-92EC-D3A7FC54387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7D697D47-5998-488C-8DD7-3FA6D458F38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Identify three alternative explanations and revise the comparison plan.</a:t>
            </a:r>
          </a:p>
        </p:txBody>
      </p:sp>
      <p:sp>
        <p:nvSpPr>
          <p:cNvPr id="5" name="">
            <a:extLst xmlns:a="http://schemas.openxmlformats.org/drawingml/2006/main">
              <a:ext uri="{FF2B5EF4-FFF2-40B4-BE49-F238E27FC236}">
                <a16:creationId xmlns:a16="http://schemas.microsoft.com/office/drawing/2014/main" id="{3DAF0AEA-9BF6-4F25-A342-3F48197609D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890595769"/>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FCBEE0-2193-4730-8044-556CFF6777C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E745207A-76A5-419F-9383-A7608EE4433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Confounders and honest interpretation</a:t>
            </a:r>
          </a:p>
        </p:txBody>
      </p:sp>
      <p:sp>
        <p:nvSpPr>
          <p:cNvPr id="3" name="">
            <a:extLst xmlns:a="http://schemas.openxmlformats.org/drawingml/2006/main">
              <a:ext uri="{FF2B5EF4-FFF2-40B4-BE49-F238E27FC236}">
                <a16:creationId xmlns:a16="http://schemas.microsoft.com/office/drawing/2014/main" id="{F2FCBCA1-03AE-49FF-A16C-3B04F8C4D90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0DEDA2E1-3046-490A-8072-8216E9DE5F3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Ticket complexity, reviewer experience, and time definition could explain the difference. Compare the same categories, similar reviewers, and identical start and end events. Report remaining uncertainty. A carefully qualified result is more useful than a precise improvement number with mismatched denominators.</a:t>
            </a:r>
          </a:p>
        </p:txBody>
      </p:sp>
      <p:sp>
        <p:nvSpPr>
          <p:cNvPr id="5" name="">
            <a:extLst xmlns:a="http://schemas.openxmlformats.org/drawingml/2006/main">
              <a:ext uri="{FF2B5EF4-FFF2-40B4-BE49-F238E27FC236}">
                <a16:creationId xmlns:a16="http://schemas.microsoft.com/office/drawing/2014/main" id="{0B74EAAA-1EC1-4C2E-937D-1976D836F68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54004445"/>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82431E-F13C-4AEA-8888-8C54774E550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6B6C070D-A4B9-43AE-994A-2A99D09A718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Confounders and honest interpretation</a:t>
            </a:r>
          </a:p>
        </p:txBody>
      </p:sp>
      <p:sp>
        <p:nvSpPr>
          <p:cNvPr id="3" name="">
            <a:extLst xmlns:a="http://schemas.openxmlformats.org/drawingml/2006/main">
              <a:ext uri="{FF2B5EF4-FFF2-40B4-BE49-F238E27FC236}">
                <a16:creationId xmlns:a16="http://schemas.microsoft.com/office/drawing/2014/main" id="{530AF793-2925-4226-8898-F070680B7E4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EBC62DC3-140B-4F18-B067-52FC0507AA4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weakens a before-and-after comparison?</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A written metric definition</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Different task complexity across samples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Reporting exclusions</a:t>
            </a:r>
          </a:p>
        </p:txBody>
      </p:sp>
      <p:sp>
        <p:nvSpPr>
          <p:cNvPr id="5" name="">
            <a:extLst xmlns:a="http://schemas.openxmlformats.org/drawingml/2006/main">
              <a:ext uri="{FF2B5EF4-FFF2-40B4-BE49-F238E27FC236}">
                <a16:creationId xmlns:a16="http://schemas.microsoft.com/office/drawing/2014/main" id="{146C2F95-BAE8-4858-9473-AE5F1C0D2720}"/>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102141422"/>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AD7C09E-6D1D-4BF5-B570-AEC1064E7EF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52FC2578-047F-4353-AE44-B8CE0F4B46C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second reading after adoption</a:t>
            </a:r>
          </a:p>
        </p:txBody>
      </p:sp>
      <p:sp>
        <p:nvSpPr>
          <p:cNvPr id="3" name="">
            <a:extLst xmlns:a="http://schemas.openxmlformats.org/drawingml/2006/main">
              <a:ext uri="{FF2B5EF4-FFF2-40B4-BE49-F238E27FC236}">
                <a16:creationId xmlns:a16="http://schemas.microsoft.com/office/drawing/2014/main" id="{A0E7B3A3-8B0D-483A-ACFB-60881610C6A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15994998-7681-41D5-96E0-16E8802290B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Sense occurs again after Land and an adoption period. The second reading asks whether the Frame Card outcome appears in the operator’s workflow. Distinguish available software, attempted use, reviewed decisions, and sustained use. Count eligible work rather than all work if the tool serves only one category. Examine overrides and abandonment alongside speed. The original prediction remains the comparison point unless a documented change occurred before the new test.</a:t>
            </a:r>
          </a:p>
        </p:txBody>
      </p:sp>
      <p:sp>
        <p:nvSpPr>
          <p:cNvPr id="5" name="">
            <a:extLst xmlns:a="http://schemas.openxmlformats.org/drawingml/2006/main">
              <a:ext uri="{FF2B5EF4-FFF2-40B4-BE49-F238E27FC236}">
                <a16:creationId xmlns:a16="http://schemas.microsoft.com/office/drawing/2014/main" id="{284AC815-AF8B-4A37-9B84-17417739056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481560628"/>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C790CBA-56A8-448D-9DB0-86EB722427B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D6E729DD-38C6-44DA-B055-E1EC05E151D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second reading after adoption</a:t>
            </a:r>
          </a:p>
        </p:txBody>
      </p:sp>
      <p:sp>
        <p:nvSpPr>
          <p:cNvPr id="3" name="">
            <a:extLst xmlns:a="http://schemas.openxmlformats.org/drawingml/2006/main">
              <a:ext uri="{FF2B5EF4-FFF2-40B4-BE49-F238E27FC236}">
                <a16:creationId xmlns:a16="http://schemas.microsoft.com/office/drawing/2014/main" id="{19F3F51F-9DDC-46A1-BCE3-E33BF37F99B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64FD547C-7DD6-46A0-A691-D92E1FA8516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Two weeks later, forty of one hundred eligible tickets use assistance. Completed assisted reviews remain faster, but adoption is below the pre-agreed 70 percent exercise threshold. The tool is available without achieving the full adoption target.</a:t>
            </a:r>
          </a:p>
        </p:txBody>
      </p:sp>
      <p:sp>
        <p:nvSpPr>
          <p:cNvPr id="5" name="">
            <a:extLst xmlns:a="http://schemas.openxmlformats.org/drawingml/2006/main">
              <a:ext uri="{FF2B5EF4-FFF2-40B4-BE49-F238E27FC236}">
                <a16:creationId xmlns:a16="http://schemas.microsoft.com/office/drawing/2014/main" id="{88C8E296-3401-4C72-997D-7F9CEE86DE9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674405987"/>
      </p:ext>
    </p:extLst>
  </p:cSld>
</p:sld>
</file>

<file path=ppt/slides/slide9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D3F027-C5D0-4C81-AB28-6CB95C924B3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CD483AEC-E0B0-4459-9D73-7825E1FE1FC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second reading after adoption</a:t>
            </a:r>
          </a:p>
        </p:txBody>
      </p:sp>
      <p:sp>
        <p:nvSpPr>
          <p:cNvPr id="3" name="">
            <a:extLst xmlns:a="http://schemas.openxmlformats.org/drawingml/2006/main">
              <a:ext uri="{FF2B5EF4-FFF2-40B4-BE49-F238E27FC236}">
                <a16:creationId xmlns:a16="http://schemas.microsoft.com/office/drawing/2014/main" id="{04D9B181-18F2-4A88-9C4C-2D5A1E33DC7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2ABAEB23-52EC-4D33-8000-2A97B3AB8FC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Write the second delta entry and recommend the next gate decision.</a:t>
            </a:r>
          </a:p>
        </p:txBody>
      </p:sp>
      <p:sp>
        <p:nvSpPr>
          <p:cNvPr id="5" name="">
            <a:extLst xmlns:a="http://schemas.openxmlformats.org/drawingml/2006/main">
              <a:ext uri="{FF2B5EF4-FFF2-40B4-BE49-F238E27FC236}">
                <a16:creationId xmlns:a16="http://schemas.microsoft.com/office/drawing/2014/main" id="{7375FEEB-E5E2-4F3C-B87B-F93F69F71F10}"/>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653171749"/>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CC11CD-9996-4B85-90FE-2D62CCFFA90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C7AE8243-3FAE-478E-B0EB-D3E208022F4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second reading after adoption</a:t>
            </a:r>
          </a:p>
        </p:txBody>
      </p:sp>
      <p:sp>
        <p:nvSpPr>
          <p:cNvPr id="3" name="">
            <a:extLst xmlns:a="http://schemas.openxmlformats.org/drawingml/2006/main">
              <a:ext uri="{FF2B5EF4-FFF2-40B4-BE49-F238E27FC236}">
                <a16:creationId xmlns:a16="http://schemas.microsoft.com/office/drawing/2014/main" id="{A514C2FA-EF23-498A-9F90-2F013417084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CD971E92-9580-482B-9A69-8589D123495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Observed adoption is forty percent, using eligible tickets as the denominator. Investigate friction and incentives with agents before scaling. Iterate on workflow fit while preserving quality checks. Do not erase the seventy percent threshold or report only the successful assisted subset. The second reading prevents a technically successful slice from becoming an unsupported outcome claim.</a:t>
            </a:r>
          </a:p>
        </p:txBody>
      </p:sp>
      <p:sp>
        <p:nvSpPr>
          <p:cNvPr id="5" name="">
            <a:extLst xmlns:a="http://schemas.openxmlformats.org/drawingml/2006/main">
              <a:ext uri="{FF2B5EF4-FFF2-40B4-BE49-F238E27FC236}">
                <a16:creationId xmlns:a16="http://schemas.microsoft.com/office/drawing/2014/main" id="{BD0538D6-EDB0-4FA1-9F34-CF57729755C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1165538334"/>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EF30BE-A6DD-4AE9-9B3F-DD11570D48C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Sense and decide</a:t>
            </a:r>
          </a:p>
        </p:txBody>
      </p:sp>
      <p:sp>
        <p:nvSpPr>
          <p:cNvPr id="2" name="">
            <a:extLst xmlns:a="http://schemas.openxmlformats.org/drawingml/2006/main">
              <a:ext uri="{FF2B5EF4-FFF2-40B4-BE49-F238E27FC236}">
                <a16:creationId xmlns:a16="http://schemas.microsoft.com/office/drawing/2014/main" id="{12B8F388-E927-4D48-879C-F7A97135FF7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second reading after adoption</a:t>
            </a:r>
          </a:p>
        </p:txBody>
      </p:sp>
      <p:sp>
        <p:nvSpPr>
          <p:cNvPr id="3" name="">
            <a:extLst xmlns:a="http://schemas.openxmlformats.org/drawingml/2006/main">
              <a:ext uri="{FF2B5EF4-FFF2-40B4-BE49-F238E27FC236}">
                <a16:creationId xmlns:a16="http://schemas.microsoft.com/office/drawing/2014/main" id="{CDD1C7AD-3EA8-44BA-A2A4-ED7C584F0E4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BC8E1796-57E4-4217-86A3-ADB5B1D684C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does the second Sense reading evaluate?</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Only whether the code compiles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Only prototype accuracy</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Outcome and adoption after landing</a:t>
            </a:r>
          </a:p>
        </p:txBody>
      </p:sp>
      <p:sp>
        <p:nvSpPr>
          <p:cNvPr id="5" name="">
            <a:extLst xmlns:a="http://schemas.openxmlformats.org/drawingml/2006/main">
              <a:ext uri="{FF2B5EF4-FFF2-40B4-BE49-F238E27FC236}">
                <a16:creationId xmlns:a16="http://schemas.microsoft.com/office/drawing/2014/main" id="{B5B5E6A0-FA89-4AAC-86C7-968D25C5015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478433023"/>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C0BEBD-5CEB-4CD6-8D6E-47D7943A630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41FC52EA-7C27-4A97-80C2-73D0DAE7FBC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six landing checks</a:t>
            </a:r>
          </a:p>
        </p:txBody>
      </p:sp>
      <p:sp>
        <p:nvSpPr>
          <p:cNvPr id="3" name="">
            <a:extLst xmlns:a="http://schemas.openxmlformats.org/drawingml/2006/main">
              <a:ext uri="{FF2B5EF4-FFF2-40B4-BE49-F238E27FC236}">
                <a16:creationId xmlns:a16="http://schemas.microsoft.com/office/drawing/2014/main" id="{9E46CDBF-4100-41C9-9825-959579D10FE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230B7FEB-BA05-4F8F-BAF3-2807906EAE9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landing checklist covers reliability, observability, security, integration, usability, and adoption. Attach evidence to each item and name unresolved conditions. A passing health endpoint is one availability signal, not the whole reliability argument. A bearer token in a local lab is one boundary, not enterprise security approval. Keep the outcome measurement scheduled in Sense so the checklist does not quietly substitute technical readiness for realized value.</a:t>
            </a:r>
          </a:p>
        </p:txBody>
      </p:sp>
      <p:sp>
        <p:nvSpPr>
          <p:cNvPr id="5" name="">
            <a:extLst xmlns:a="http://schemas.openxmlformats.org/drawingml/2006/main">
              <a:ext uri="{FF2B5EF4-FFF2-40B4-BE49-F238E27FC236}">
                <a16:creationId xmlns:a16="http://schemas.microsoft.com/office/drawing/2014/main" id="{D8BEDF87-ACF7-46ED-BBE2-70D772D8B89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431415305"/>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3723A0-6948-4270-993A-94E968EA4A1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CB801A57-C260-47CB-B1D3-A3518ADE6D6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six landing checks</a:t>
            </a:r>
          </a:p>
        </p:txBody>
      </p:sp>
      <p:sp>
        <p:nvSpPr>
          <p:cNvPr id="3" name="">
            <a:extLst xmlns:a="http://schemas.openxmlformats.org/drawingml/2006/main">
              <a:ext uri="{FF2B5EF4-FFF2-40B4-BE49-F238E27FC236}">
                <a16:creationId xmlns:a16="http://schemas.microsoft.com/office/drawing/2014/main" id="{7C27C51A-6B3E-42FB-B938-B08C99F381D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832D0E78-0D03-49CD-BDBB-92D3AAECA79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prototype validates inputs and logs decisions. It still lacks enterprise authentication, production persistence design, restore testing, retention policy, and customer-environment validation. These gaps matter even though local tests pass.</a:t>
            </a:r>
          </a:p>
        </p:txBody>
      </p:sp>
      <p:sp>
        <p:nvSpPr>
          <p:cNvPr id="5" name="">
            <a:extLst xmlns:a="http://schemas.openxmlformats.org/drawingml/2006/main">
              <a:ext uri="{FF2B5EF4-FFF2-40B4-BE49-F238E27FC236}">
                <a16:creationId xmlns:a16="http://schemas.microsoft.com/office/drawing/2014/main" id="{2E05E57C-B4DE-4F85-B13B-71377702899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089776761"/>
      </p:ext>
    </p:extLst>
  </p:cSld>
</p:sld>
</file>

<file path=ppt/slides/slide10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8C755B-7C92-4F02-834B-54A8EDCF00E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B8165DCA-7019-4B3C-9528-8C8C4D73F1F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six landing checks</a:t>
            </a:r>
          </a:p>
        </p:txBody>
      </p:sp>
      <p:sp>
        <p:nvSpPr>
          <p:cNvPr id="3" name="">
            <a:extLst xmlns:a="http://schemas.openxmlformats.org/drawingml/2006/main">
              <a:ext uri="{FF2B5EF4-FFF2-40B4-BE49-F238E27FC236}">
                <a16:creationId xmlns:a16="http://schemas.microsoft.com/office/drawing/2014/main" id="{682CEDBD-0236-4E32-8623-4646976577D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80AD9666-F9F5-40C7-8F53-89597316A32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Complete the checklist with evidence, status, owner, and next action for each item.</a:t>
            </a:r>
          </a:p>
        </p:txBody>
      </p:sp>
      <p:sp>
        <p:nvSpPr>
          <p:cNvPr id="5" name="">
            <a:extLst xmlns:a="http://schemas.openxmlformats.org/drawingml/2006/main">
              <a:ext uri="{FF2B5EF4-FFF2-40B4-BE49-F238E27FC236}">
                <a16:creationId xmlns:a16="http://schemas.microsoft.com/office/drawing/2014/main" id="{28DBEDEA-ED30-43DF-B7FA-B089C0126BF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880332841"/>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BACC3A-46F6-4627-BDC5-EC61DBE1A91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BBABB305-5531-4D72-B182-2CD9AD8F966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six landing checks</a:t>
            </a:r>
          </a:p>
        </p:txBody>
      </p:sp>
      <p:sp>
        <p:nvSpPr>
          <p:cNvPr id="3" name="">
            <a:extLst xmlns:a="http://schemas.openxmlformats.org/drawingml/2006/main">
              <a:ext uri="{FF2B5EF4-FFF2-40B4-BE49-F238E27FC236}">
                <a16:creationId xmlns:a16="http://schemas.microsoft.com/office/drawing/2014/main" id="{4850E0FB-BFFE-4C55-B50D-E2FCE295655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9E649D43-4877-4734-8AF8-94452DF21D7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Local validation supports the course scope. Production security remains unapproved, restoration remains untested, and adoption remains a hypothesis. Maya owns usability and adoption. Luis owns integration and support design. Priya owns production access review. The landing decision is limited to the simulated environment until those conditions are resolved.</a:t>
            </a:r>
          </a:p>
        </p:txBody>
      </p:sp>
      <p:sp>
        <p:nvSpPr>
          <p:cNvPr id="5" name="">
            <a:extLst xmlns:a="http://schemas.openxmlformats.org/drawingml/2006/main">
              <a:ext uri="{FF2B5EF4-FFF2-40B4-BE49-F238E27FC236}">
                <a16:creationId xmlns:a16="http://schemas.microsoft.com/office/drawing/2014/main" id="{24A3B8F4-6BCD-4875-B637-039C9E7F8D0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543811929"/>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976BFF-3E45-48B3-A377-14763DD1E25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FF8D4F82-B512-41B3-9ABA-79E82800928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six landing checks</a:t>
            </a:r>
          </a:p>
        </p:txBody>
      </p:sp>
      <p:sp>
        <p:nvSpPr>
          <p:cNvPr id="3" name="">
            <a:extLst xmlns:a="http://schemas.openxmlformats.org/drawingml/2006/main">
              <a:ext uri="{FF2B5EF4-FFF2-40B4-BE49-F238E27FC236}">
                <a16:creationId xmlns:a16="http://schemas.microsoft.com/office/drawing/2014/main" id="{AF11AFD5-7D3D-4EC6-A7D9-47480083AA5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D1D378A0-3772-4894-85E8-003BA615DCF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Does the lab token establish enterprise security readiness?</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No, its scope is local training</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Yes, because authentication exists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Yes, if the demo is fast</a:t>
            </a:r>
          </a:p>
        </p:txBody>
      </p:sp>
      <p:sp>
        <p:nvSpPr>
          <p:cNvPr id="5" name="">
            <a:extLst xmlns:a="http://schemas.openxmlformats.org/drawingml/2006/main">
              <a:ext uri="{FF2B5EF4-FFF2-40B4-BE49-F238E27FC236}">
                <a16:creationId xmlns:a16="http://schemas.microsoft.com/office/drawing/2014/main" id="{38384296-8E2C-4D4B-85F0-3ACA93ECA5C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003831373"/>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CF9F98-341A-4706-8DD7-5635FD8CA9E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6A6204F7-5D86-448E-BD73-26053D9EE0B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named operating owner</a:t>
            </a:r>
          </a:p>
        </p:txBody>
      </p:sp>
      <p:sp>
        <p:nvSpPr>
          <p:cNvPr id="3" name="">
            <a:extLst xmlns:a="http://schemas.openxmlformats.org/drawingml/2006/main">
              <a:ext uri="{FF2B5EF4-FFF2-40B4-BE49-F238E27FC236}">
                <a16:creationId xmlns:a16="http://schemas.microsoft.com/office/drawing/2014/main" id="{0A9C4BE7-05C7-4423-A7A8-CEF57D6EADB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BBAB1DB1-BB11-46C1-8922-B06FD56772A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Landing requires someone on site who operates the system. Name the owner and clarify routine responsibilities, escalation, exceptions, and the authority to disable the workflow. Ownership is more than listing a person in a document. The person needs context, access, capability, and time. Keep your accountability through adoption while transferring practical capability rather than preserving dependence on you.</a:t>
            </a:r>
          </a:p>
        </p:txBody>
      </p:sp>
      <p:sp>
        <p:nvSpPr>
          <p:cNvPr id="5" name="">
            <a:extLst xmlns:a="http://schemas.openxmlformats.org/drawingml/2006/main">
              <a:ext uri="{FF2B5EF4-FFF2-40B4-BE49-F238E27FC236}">
                <a16:creationId xmlns:a16="http://schemas.microsoft.com/office/drawing/2014/main" id="{A5886194-E325-409F-A5F8-213404DCE14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103673901"/>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7D050D-0391-4903-AD1F-33B8F80FF39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38865514-8863-4BCC-A0CB-2AB04956D86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named operating owner</a:t>
            </a:r>
          </a:p>
        </p:txBody>
      </p:sp>
      <p:sp>
        <p:nvSpPr>
          <p:cNvPr id="3" name="">
            <a:extLst xmlns:a="http://schemas.openxmlformats.org/drawingml/2006/main">
              <a:ext uri="{FF2B5EF4-FFF2-40B4-BE49-F238E27FC236}">
                <a16:creationId xmlns:a16="http://schemas.microsoft.com/office/drawing/2014/main" id="{07A82CEE-FBC6-4BE0-87A2-0F08E65203B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F05E314C-6535-4380-AA6D-DD327B8F1C4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Maya owns the queue, but Luis alone can restore the service. If Luis is unavailable, agents need a manual fallback and an escalation contact. A nominal owner without a recovery path cannot operate independently.</a:t>
            </a:r>
          </a:p>
        </p:txBody>
      </p:sp>
      <p:sp>
        <p:nvSpPr>
          <p:cNvPr id="5" name="">
            <a:extLst xmlns:a="http://schemas.openxmlformats.org/drawingml/2006/main">
              <a:ext uri="{FF2B5EF4-FFF2-40B4-BE49-F238E27FC236}">
                <a16:creationId xmlns:a16="http://schemas.microsoft.com/office/drawing/2014/main" id="{55FCC1C0-4368-4457-987F-C530D119974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543765549"/>
      </p:ext>
    </p:extLst>
  </p:cSld>
</p:sld>
</file>

<file path=ppt/slides/slide10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FC8355D-6FA3-4BDD-87B9-232664D6870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6A416D83-E13B-4F43-8B28-87E0F206C9A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named operating owner</a:t>
            </a:r>
          </a:p>
        </p:txBody>
      </p:sp>
      <p:sp>
        <p:nvSpPr>
          <p:cNvPr id="3" name="">
            <a:extLst xmlns:a="http://schemas.openxmlformats.org/drawingml/2006/main">
              <a:ext uri="{FF2B5EF4-FFF2-40B4-BE49-F238E27FC236}">
                <a16:creationId xmlns:a16="http://schemas.microsoft.com/office/drawing/2014/main" id="{2640EAD8-5A5A-4EEB-A5A2-AAB9CF07233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EB93B1D3-C16A-4E31-8D4A-564BCCFAFD4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Write an ownership table and a one-page runbook with a manual fallback.</a:t>
            </a:r>
          </a:p>
        </p:txBody>
      </p:sp>
      <p:sp>
        <p:nvSpPr>
          <p:cNvPr id="5" name="">
            <a:extLst xmlns:a="http://schemas.openxmlformats.org/drawingml/2006/main">
              <a:ext uri="{FF2B5EF4-FFF2-40B4-BE49-F238E27FC236}">
                <a16:creationId xmlns:a16="http://schemas.microsoft.com/office/drawing/2014/main" id="{9E9623B2-1C3B-442F-B1CD-B02707EEE49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53330885"/>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060DE4-010B-4742-B80E-4356BBA8E0A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3E3910CB-5F48-4551-AE5E-86BD9F01D03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named operating owner</a:t>
            </a:r>
          </a:p>
        </p:txBody>
      </p:sp>
      <p:sp>
        <p:nvSpPr>
          <p:cNvPr id="3" name="">
            <a:extLst xmlns:a="http://schemas.openxmlformats.org/drawingml/2006/main">
              <a:ext uri="{FF2B5EF4-FFF2-40B4-BE49-F238E27FC236}">
                <a16:creationId xmlns:a16="http://schemas.microsoft.com/office/drawing/2014/main" id="{8937F8E5-BBFB-4CDE-8DA1-156420A7EFF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F3FC8B0A-AC42-49B7-92EB-A7EC8F20334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runbook describes availability checks, failed-request symptoms, the routing-rule version, manual category lookup, escalation to Luis, and the conditions for disabling assistance. Maya can make the disable decision within the agreed workflow authority. Priya controls data-access changes. A support rotation covers absence rather than making the original engineer the only responder.</a:t>
            </a:r>
          </a:p>
        </p:txBody>
      </p:sp>
      <p:sp>
        <p:nvSpPr>
          <p:cNvPr id="5" name="">
            <a:extLst xmlns:a="http://schemas.openxmlformats.org/drawingml/2006/main">
              <a:ext uri="{FF2B5EF4-FFF2-40B4-BE49-F238E27FC236}">
                <a16:creationId xmlns:a16="http://schemas.microsoft.com/office/drawing/2014/main" id="{48A4A6B8-CE73-4D20-8633-C925543D1DE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1972498092"/>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5DC669-7F51-473C-BBA7-67DA5F59C53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14C38578-B777-48E4-9D9F-7882A3E077F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named operating owner</a:t>
            </a:r>
          </a:p>
        </p:txBody>
      </p:sp>
      <p:sp>
        <p:nvSpPr>
          <p:cNvPr id="3" name="">
            <a:extLst xmlns:a="http://schemas.openxmlformats.org/drawingml/2006/main">
              <a:ext uri="{FF2B5EF4-FFF2-40B4-BE49-F238E27FC236}">
                <a16:creationId xmlns:a16="http://schemas.microsoft.com/office/drawing/2014/main" id="{B64DE972-298F-4F80-886E-EADA3364101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E0AB18A5-291D-44C0-9F39-ADB0314DDF9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makes ownership operational?</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A name on a slide</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Authority, capability, access, and recovery instructions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The engineer always being online</a:t>
            </a:r>
          </a:p>
        </p:txBody>
      </p:sp>
      <p:sp>
        <p:nvSpPr>
          <p:cNvPr id="5" name="">
            <a:extLst xmlns:a="http://schemas.openxmlformats.org/drawingml/2006/main">
              <a:ext uri="{FF2B5EF4-FFF2-40B4-BE49-F238E27FC236}">
                <a16:creationId xmlns:a16="http://schemas.microsoft.com/office/drawing/2014/main" id="{C2B927CE-2EEA-48A6-8B4E-112E8597A41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51794675"/>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1992AF-5D51-4182-B067-11377D55119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49761D78-9516-49C1-8D64-75BBBC4503A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Adoption as a workflow change</a:t>
            </a:r>
          </a:p>
        </p:txBody>
      </p:sp>
      <p:sp>
        <p:nvSpPr>
          <p:cNvPr id="3" name="">
            <a:extLst xmlns:a="http://schemas.openxmlformats.org/drawingml/2006/main">
              <a:ext uri="{FF2B5EF4-FFF2-40B4-BE49-F238E27FC236}">
                <a16:creationId xmlns:a16="http://schemas.microsoft.com/office/drawing/2014/main" id="{366AD51E-FEC7-4FA0-967A-CE64791818E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9FC6DF89-422A-4978-97EB-7AA363A11D3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Adoption depends on the complete task, incentives, confidence, and support. Training alone will not fix an extra queue, unclear responsibility, or fear of punitive measurement. Observe the task again after rollout and ask where the new system adds effort. Provide a visible override and a safe fallback. Plan a defined adoption period with checkpoints and a denominator that reflects eligible work.</a:t>
            </a:r>
          </a:p>
        </p:txBody>
      </p:sp>
      <p:sp>
        <p:nvSpPr>
          <p:cNvPr id="5" name="">
            <a:extLst xmlns:a="http://schemas.openxmlformats.org/drawingml/2006/main">
              <a:ext uri="{FF2B5EF4-FFF2-40B4-BE49-F238E27FC236}">
                <a16:creationId xmlns:a16="http://schemas.microsoft.com/office/drawing/2014/main" id="{CB1301C4-F71A-418F-8C3E-4A07AB0A7D0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056565896"/>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576E77-4508-40DF-89AA-F04BABAE7E3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758AB15C-628B-4E98-923B-917BAC1FCEC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Adoption as a workflow change</a:t>
            </a:r>
          </a:p>
        </p:txBody>
      </p:sp>
      <p:sp>
        <p:nvSpPr>
          <p:cNvPr id="3" name="">
            <a:extLst xmlns:a="http://schemas.openxmlformats.org/drawingml/2006/main">
              <a:ext uri="{FF2B5EF4-FFF2-40B4-BE49-F238E27FC236}">
                <a16:creationId xmlns:a16="http://schemas.microsoft.com/office/drawing/2014/main" id="{4459184E-DFFB-4D0E-B16F-7D826B2AB9C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AB9DEBD2-2012-46DC-8AF0-B4682D40A90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Agents abandon the tool because they must copy the result back into the main queue. The suggestion is accurate, but the complete task takes longer. Maya also discovers agents think overrides will count against them.</a:t>
            </a:r>
          </a:p>
        </p:txBody>
      </p:sp>
      <p:sp>
        <p:nvSpPr>
          <p:cNvPr id="5" name="">
            <a:extLst xmlns:a="http://schemas.openxmlformats.org/drawingml/2006/main">
              <a:ext uri="{FF2B5EF4-FFF2-40B4-BE49-F238E27FC236}">
                <a16:creationId xmlns:a16="http://schemas.microsoft.com/office/drawing/2014/main" id="{F19A6B35-8E60-45F1-B0D0-9AB250DB153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130919652"/>
      </p:ext>
    </p:extLst>
  </p:cSld>
</p:sld>
</file>

<file path=ppt/slides/slide11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75B96A-CE68-465A-9B49-3493635F1B0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53A5FCAE-50B1-4CEE-9CB0-73B05C4D025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Adoption as a workflow change</a:t>
            </a:r>
          </a:p>
        </p:txBody>
      </p:sp>
      <p:sp>
        <p:nvSpPr>
          <p:cNvPr id="3" name="">
            <a:extLst xmlns:a="http://schemas.openxmlformats.org/drawingml/2006/main">
              <a:ext uri="{FF2B5EF4-FFF2-40B4-BE49-F238E27FC236}">
                <a16:creationId xmlns:a16="http://schemas.microsoft.com/office/drawing/2014/main" id="{1C2A6C47-A634-48AC-99CE-51FD06192CD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5E62B85B-B52E-478E-9A2C-DC35AF88D76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Propose two workflow changes and a small test for each.</a:t>
            </a:r>
          </a:p>
        </p:txBody>
      </p:sp>
      <p:sp>
        <p:nvSpPr>
          <p:cNvPr id="5" name="">
            <a:extLst xmlns:a="http://schemas.openxmlformats.org/drawingml/2006/main">
              <a:ext uri="{FF2B5EF4-FFF2-40B4-BE49-F238E27FC236}">
                <a16:creationId xmlns:a16="http://schemas.microsoft.com/office/drawing/2014/main" id="{50908137-1933-4BD0-B4F6-7DBC7C911A8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239721703"/>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8F67CD-0DAA-427D-876A-B39B1B697F2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409EA634-8FF1-49B6-8D13-6A27A09A385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Adoption as a workflow change</a:t>
            </a:r>
          </a:p>
        </p:txBody>
      </p:sp>
      <p:sp>
        <p:nvSpPr>
          <p:cNvPr id="3" name="">
            <a:extLst xmlns:a="http://schemas.openxmlformats.org/drawingml/2006/main">
              <a:ext uri="{FF2B5EF4-FFF2-40B4-BE49-F238E27FC236}">
                <a16:creationId xmlns:a16="http://schemas.microsoft.com/office/drawing/2014/main" id="{F59ACE20-7326-4A41-852B-581B6900855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B118BF44-50ED-4584-A3A7-78DB78E49B0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Test placing suggestions within the existing review step rather than a separate queue. Clarify that overrides are learning evidence during the pilot and observe whether behavior changes. Measure the complete task time and eligible-ticket adoption. Do not infer trust from positive survey comments alone when actual use remains low.</a:t>
            </a:r>
          </a:p>
        </p:txBody>
      </p:sp>
      <p:sp>
        <p:nvSpPr>
          <p:cNvPr id="5" name="">
            <a:extLst xmlns:a="http://schemas.openxmlformats.org/drawingml/2006/main">
              <a:ext uri="{FF2B5EF4-FFF2-40B4-BE49-F238E27FC236}">
                <a16:creationId xmlns:a16="http://schemas.microsoft.com/office/drawing/2014/main" id="{DDADE0C8-8EA6-4F1C-9669-78899F7F9B4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1820482882"/>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4CB504-14FA-4CD7-8CF7-6759D3BBEF7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6CB0C7B5-9A7A-49D4-9B16-D3F6E611214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Adoption as a workflow change</a:t>
            </a:r>
          </a:p>
        </p:txBody>
      </p:sp>
      <p:sp>
        <p:nvSpPr>
          <p:cNvPr id="3" name="">
            <a:extLst xmlns:a="http://schemas.openxmlformats.org/drawingml/2006/main">
              <a:ext uri="{FF2B5EF4-FFF2-40B4-BE49-F238E27FC236}">
                <a16:creationId xmlns:a16="http://schemas.microsoft.com/office/drawing/2014/main" id="{75FF63D7-3ED0-434D-A760-D217E070CB2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560F1A31-0BB5-4991-B077-A3E25D60047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Which signal most directly shows workflow adoption?</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Attendance at a training session</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A favorable sponsor quote</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Sustained use in eligible tasks</a:t>
            </a:r>
          </a:p>
        </p:txBody>
      </p:sp>
      <p:sp>
        <p:nvSpPr>
          <p:cNvPr id="5" name="">
            <a:extLst xmlns:a="http://schemas.openxmlformats.org/drawingml/2006/main">
              <a:ext uri="{FF2B5EF4-FFF2-40B4-BE49-F238E27FC236}">
                <a16:creationId xmlns:a16="http://schemas.microsoft.com/office/drawing/2014/main" id="{CF9A05FD-0517-4764-ADC6-F881FC7E68D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516954224"/>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043179-F515-48CA-A625-0E209A0B1EA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A6DA40D4-1B54-4AB1-99B8-31728809B3D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Recovery and a bounded rollout</a:t>
            </a:r>
          </a:p>
        </p:txBody>
      </p:sp>
      <p:sp>
        <p:nvSpPr>
          <p:cNvPr id="3" name="">
            <a:extLst xmlns:a="http://schemas.openxmlformats.org/drawingml/2006/main">
              <a:ext uri="{FF2B5EF4-FFF2-40B4-BE49-F238E27FC236}">
                <a16:creationId xmlns:a16="http://schemas.microsoft.com/office/drawing/2014/main" id="{CCCBC003-D68F-4D5F-961A-CC27E42679BC}"/>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4682235E-FEE5-40E3-83F9-20A2CBD6F43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Pace rollout by consequence and reversibility. Start with a permitted boundary, observe exceptions, and retain a known manual path. Define triggers for disable, rollback, and escalation before the incident. A backup is useful only if restoration works. For production, evaluate restoration, retention, monitoring, identity, and operating support in the actual environment. The course prototype intentionally demonstrates the questions without claiming all those controls are complete.</a:t>
            </a:r>
          </a:p>
        </p:txBody>
      </p:sp>
      <p:sp>
        <p:nvSpPr>
          <p:cNvPr id="5" name="">
            <a:extLst xmlns:a="http://schemas.openxmlformats.org/drawingml/2006/main">
              <a:ext uri="{FF2B5EF4-FFF2-40B4-BE49-F238E27FC236}">
                <a16:creationId xmlns:a16="http://schemas.microsoft.com/office/drawing/2014/main" id="{7DE12577-F808-42A0-BB87-D0F4685DAEC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483143508"/>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2FBECB-D061-44E2-8594-2954E2A369E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E0D45EAC-E8AC-4753-BFA9-1B0F2464652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Recovery and a bounded rollout</a:t>
            </a:r>
          </a:p>
        </p:txBody>
      </p:sp>
      <p:sp>
        <p:nvSpPr>
          <p:cNvPr id="3" name="">
            <a:extLst xmlns:a="http://schemas.openxmlformats.org/drawingml/2006/main">
              <a:ext uri="{FF2B5EF4-FFF2-40B4-BE49-F238E27FC236}">
                <a16:creationId xmlns:a16="http://schemas.microsoft.com/office/drawing/2014/main" id="{DFFE39D6-B4EF-46D1-AB8B-C46DDC3D3D4C}"/>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E737D865-068E-4607-9A0F-D9FAFCDC7E4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API becomes unavailable during a shift. Agents can still use the category sheet. Maya disables assistance, Luis diagnoses the service, and the event enters the learning log. The team can continue operating while the feature recovers.</a:t>
            </a:r>
          </a:p>
        </p:txBody>
      </p:sp>
      <p:sp>
        <p:nvSpPr>
          <p:cNvPr id="5" name="">
            <a:extLst xmlns:a="http://schemas.openxmlformats.org/drawingml/2006/main">
              <a:ext uri="{FF2B5EF4-FFF2-40B4-BE49-F238E27FC236}">
                <a16:creationId xmlns:a16="http://schemas.microsoft.com/office/drawing/2014/main" id="{9EE3DD24-611E-4FB6-874E-3D18388325E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968270951"/>
      </p:ext>
    </p:extLst>
  </p:cSld>
</p:sld>
</file>

<file path=ppt/slides/slide11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2A72AA-40BF-4D44-998F-7ADBFFF6277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023AAB64-612C-4E0D-87E7-5B89768CC18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Recovery and a bounded rollout</a:t>
            </a:r>
          </a:p>
        </p:txBody>
      </p:sp>
      <p:sp>
        <p:nvSpPr>
          <p:cNvPr id="3" name="">
            <a:extLst xmlns:a="http://schemas.openxmlformats.org/drawingml/2006/main">
              <a:ext uri="{FF2B5EF4-FFF2-40B4-BE49-F238E27FC236}">
                <a16:creationId xmlns:a16="http://schemas.microsoft.com/office/drawing/2014/main" id="{B74A77E0-6352-42F8-BEFC-EACBE504E06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50DF0DED-A903-40A0-8B4D-6099984574A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Write a recovery trigger, immediate action, responsible owner, and evidence required to resume.</a:t>
            </a:r>
          </a:p>
        </p:txBody>
      </p:sp>
      <p:sp>
        <p:nvSpPr>
          <p:cNvPr id="5" name="">
            <a:extLst xmlns:a="http://schemas.openxmlformats.org/drawingml/2006/main">
              <a:ext uri="{FF2B5EF4-FFF2-40B4-BE49-F238E27FC236}">
                <a16:creationId xmlns:a16="http://schemas.microsoft.com/office/drawing/2014/main" id="{D6472154-6D91-4065-B8B1-647EDB0BD3B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2143447851"/>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D9086C-8BF8-4FD6-9496-BB4811650E3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05A18B42-5747-418E-8E32-695ADD8A642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Recovery and a bounded rollout</a:t>
            </a:r>
          </a:p>
        </p:txBody>
      </p:sp>
      <p:sp>
        <p:nvSpPr>
          <p:cNvPr id="3" name="">
            <a:extLst xmlns:a="http://schemas.openxmlformats.org/drawingml/2006/main">
              <a:ext uri="{FF2B5EF4-FFF2-40B4-BE49-F238E27FC236}">
                <a16:creationId xmlns:a16="http://schemas.microsoft.com/office/drawing/2014/main" id="{1AFEA053-FF22-419B-91A7-A678805EACB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9366E1EE-BFB5-41F8-89F1-FF6578246BC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Trigger: repeated failed requests or an unauthorized action. Immediate action: disable assistance and use manual review. Owner: Maya for workflow continuity and Luis for technical recovery. Resume only after the relevant fault is corrected, boundary tests pass, and the owner confirms readiness. A production recovery drill would need the real environment and approved operating procedures.</a:t>
            </a:r>
          </a:p>
        </p:txBody>
      </p:sp>
      <p:sp>
        <p:nvSpPr>
          <p:cNvPr id="5" name="">
            <a:extLst xmlns:a="http://schemas.openxmlformats.org/drawingml/2006/main">
              <a:ext uri="{FF2B5EF4-FFF2-40B4-BE49-F238E27FC236}">
                <a16:creationId xmlns:a16="http://schemas.microsoft.com/office/drawing/2014/main" id="{8CFE3345-936C-45E0-8EF5-E012753D7C2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2144736489"/>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B2EB1F-101E-4CD1-8F29-31C41C3EF0B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Land and support adoption</a:t>
            </a:r>
          </a:p>
        </p:txBody>
      </p:sp>
      <p:sp>
        <p:nvSpPr>
          <p:cNvPr id="2" name="">
            <a:extLst xmlns:a="http://schemas.openxmlformats.org/drawingml/2006/main">
              <a:ext uri="{FF2B5EF4-FFF2-40B4-BE49-F238E27FC236}">
                <a16:creationId xmlns:a16="http://schemas.microsoft.com/office/drawing/2014/main" id="{8BA08E36-9961-4E81-9E0A-6373A034485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Recovery and a bounded rollout</a:t>
            </a:r>
          </a:p>
        </p:txBody>
      </p:sp>
      <p:sp>
        <p:nvSpPr>
          <p:cNvPr id="3" name="">
            <a:extLst xmlns:a="http://schemas.openxmlformats.org/drawingml/2006/main">
              <a:ext uri="{FF2B5EF4-FFF2-40B4-BE49-F238E27FC236}">
                <a16:creationId xmlns:a16="http://schemas.microsoft.com/office/drawing/2014/main" id="{F3F03E22-2EE5-4451-8675-2F950015FBC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AA92B895-2B47-4B72-B28F-BEB11BC24F5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should be defined before rollout?</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Disable triggers and a manual fallback</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A guaranteed zero-failure promise</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An assumption that the owner is always available</a:t>
            </a:r>
          </a:p>
        </p:txBody>
      </p:sp>
      <p:sp>
        <p:nvSpPr>
          <p:cNvPr id="5" name="">
            <a:extLst xmlns:a="http://schemas.openxmlformats.org/drawingml/2006/main">
              <a:ext uri="{FF2B5EF4-FFF2-40B4-BE49-F238E27FC236}">
                <a16:creationId xmlns:a16="http://schemas.microsoft.com/office/drawing/2014/main" id="{1EAB57F7-4901-4518-875B-5263B2E0DE5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159881609"/>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AF5AFB-4AFD-44D8-8474-E6AC0903D03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32317D08-753E-4699-8E37-B75828C2BE4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pattern behind the solution</a:t>
            </a:r>
          </a:p>
        </p:txBody>
      </p:sp>
      <p:sp>
        <p:nvSpPr>
          <p:cNvPr id="3" name="">
            <a:extLst xmlns:a="http://schemas.openxmlformats.org/drawingml/2006/main">
              <a:ext uri="{FF2B5EF4-FFF2-40B4-BE49-F238E27FC236}">
                <a16:creationId xmlns:a16="http://schemas.microsoft.com/office/drawing/2014/main" id="{DF094326-3853-4183-951B-E5C4BA7BBE7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F28B5232-5D29-40C1-903F-983A096F626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Distill separates the transferable principle from the local implementation. Ask which conditions made the intervention useful and which conditions limited it. A reusable pattern names those conditions, the mechanism, and the evidence boundary. Copying the entire previous architecture creates an imperial playbook. A principle becomes more useful when another site can test it without inheriting assumptions that belonged only to the original environment.</a:t>
            </a:r>
          </a:p>
        </p:txBody>
      </p:sp>
      <p:sp>
        <p:nvSpPr>
          <p:cNvPr id="5" name="">
            <a:extLst xmlns:a="http://schemas.openxmlformats.org/drawingml/2006/main">
              <a:ext uri="{FF2B5EF4-FFF2-40B4-BE49-F238E27FC236}">
                <a16:creationId xmlns:a16="http://schemas.microsoft.com/office/drawing/2014/main" id="{11B4B6EF-1FA2-45C9-BD7A-859B27CA3E6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603065393"/>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757F47-3431-4902-B0BE-FA019FCCEDA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A93B7653-6C08-40EC-8535-C7F9605D08E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pattern behind the solution</a:t>
            </a:r>
          </a:p>
        </p:txBody>
      </p:sp>
      <p:sp>
        <p:nvSpPr>
          <p:cNvPr id="3" name="">
            <a:extLst xmlns:a="http://schemas.openxmlformats.org/drawingml/2006/main">
              <a:ext uri="{FF2B5EF4-FFF2-40B4-BE49-F238E27FC236}">
                <a16:creationId xmlns:a16="http://schemas.microsoft.com/office/drawing/2014/main" id="{163A8A6B-E6B4-4D20-B281-7C86DE8D4DC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500FEDDB-4AE2-45F0-9086-220D44A3198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Northstar benefited from reviewable category suggestions. A warehouse needs exception handling, not support queues. The reusable idea is embedding a reviewable suggestion in the existing decision step, while the category rule remains local.</a:t>
            </a:r>
          </a:p>
        </p:txBody>
      </p:sp>
      <p:sp>
        <p:nvSpPr>
          <p:cNvPr id="5" name="">
            <a:extLst xmlns:a="http://schemas.openxmlformats.org/drawingml/2006/main">
              <a:ext uri="{FF2B5EF4-FFF2-40B4-BE49-F238E27FC236}">
                <a16:creationId xmlns:a16="http://schemas.microsoft.com/office/drawing/2014/main" id="{7A9F0D54-F793-45DC-86E4-55710543FDB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877504273"/>
      </p:ext>
    </p:extLst>
  </p:cSld>
</p:sld>
</file>

<file path=ppt/slides/slide12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1BE28D-590B-4F23-B8F0-17D774540D5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EEE1D61B-EC59-4636-A6FC-065126BDE81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pattern behind the solution</a:t>
            </a:r>
          </a:p>
        </p:txBody>
      </p:sp>
      <p:sp>
        <p:nvSpPr>
          <p:cNvPr id="3" name="">
            <a:extLst xmlns:a="http://schemas.openxmlformats.org/drawingml/2006/main">
              <a:ext uri="{FF2B5EF4-FFF2-40B4-BE49-F238E27FC236}">
                <a16:creationId xmlns:a16="http://schemas.microsoft.com/office/drawing/2014/main" id="{BF9D57A0-0F28-4FC4-967F-19C9D5862BC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115A67CB-8960-477A-8DB3-BC99DD84207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Write one conditional pattern and name two conditions that require retesting elsewhere.</a:t>
            </a:r>
          </a:p>
        </p:txBody>
      </p:sp>
      <p:sp>
        <p:nvSpPr>
          <p:cNvPr id="5" name="">
            <a:extLst xmlns:a="http://schemas.openxmlformats.org/drawingml/2006/main">
              <a:ext uri="{FF2B5EF4-FFF2-40B4-BE49-F238E27FC236}">
                <a16:creationId xmlns:a16="http://schemas.microsoft.com/office/drawing/2014/main" id="{569D6E2F-824E-4AAF-BAB7-AE9D0D94711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788891980"/>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79FC6C-4593-4F30-9207-7D0C256C15E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9036E194-4039-4A31-A070-4544C340C03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pattern behind the solution</a:t>
            </a:r>
          </a:p>
        </p:txBody>
      </p:sp>
      <p:sp>
        <p:nvSpPr>
          <p:cNvPr id="3" name="">
            <a:extLst xmlns:a="http://schemas.openxmlformats.org/drawingml/2006/main">
              <a:ext uri="{FF2B5EF4-FFF2-40B4-BE49-F238E27FC236}">
                <a16:creationId xmlns:a16="http://schemas.microsoft.com/office/drawing/2014/main" id="{C3FB2FF2-AA04-41DC-8658-92DD69FE310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E7432AD2-DBE5-4B0F-9D4E-E85A19742B3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When repetitive classification consumes effort and operators retain decision authority, a suggestion embedded in the existing review step may reduce lookup work. Retest category stability and operator incentives at the new site. The course evidence supports this as a hypothesis for transfer, not a universal rule about AI deployment.</a:t>
            </a:r>
          </a:p>
        </p:txBody>
      </p:sp>
      <p:sp>
        <p:nvSpPr>
          <p:cNvPr id="5" name="">
            <a:extLst xmlns:a="http://schemas.openxmlformats.org/drawingml/2006/main">
              <a:ext uri="{FF2B5EF4-FFF2-40B4-BE49-F238E27FC236}">
                <a16:creationId xmlns:a16="http://schemas.microsoft.com/office/drawing/2014/main" id="{E2B802F9-CD02-4F0D-93AA-EBAADBBA025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776615765"/>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6FEEA5-FFE9-4BF2-AEEE-0FE87741DEB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F15031EC-A7B6-4652-BD34-5809A014A41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pattern behind the solution</a:t>
            </a:r>
          </a:p>
        </p:txBody>
      </p:sp>
      <p:sp>
        <p:nvSpPr>
          <p:cNvPr id="3" name="">
            <a:extLst xmlns:a="http://schemas.openxmlformats.org/drawingml/2006/main">
              <a:ext uri="{FF2B5EF4-FFF2-40B4-BE49-F238E27FC236}">
                <a16:creationId xmlns:a16="http://schemas.microsoft.com/office/drawing/2014/main" id="{CF56A3F5-7863-45E4-9B4C-CF558461A03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62B6C45F-5935-47C4-B03D-E8AE98DED29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should transfer first?</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Every service from the old architecture</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The principle and its conditions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The old customer’s permissions</a:t>
            </a:r>
          </a:p>
        </p:txBody>
      </p:sp>
      <p:sp>
        <p:nvSpPr>
          <p:cNvPr id="5" name="">
            <a:extLst xmlns:a="http://schemas.openxmlformats.org/drawingml/2006/main">
              <a:ext uri="{FF2B5EF4-FFF2-40B4-BE49-F238E27FC236}">
                <a16:creationId xmlns:a16="http://schemas.microsoft.com/office/drawing/2014/main" id="{E1FB60DD-7EB5-4970-83F2-A325AFEE3AC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567180338"/>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C70CA6E-B8AD-4270-9BDE-FF27938CEED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4DD3E91A-8AD0-4CF5-8DD5-4877B1F618C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reusable technical primitive</a:t>
            </a:r>
          </a:p>
        </p:txBody>
      </p:sp>
      <p:sp>
        <p:nvSpPr>
          <p:cNvPr id="3" name="">
            <a:extLst xmlns:a="http://schemas.openxmlformats.org/drawingml/2006/main">
              <a:ext uri="{FF2B5EF4-FFF2-40B4-BE49-F238E27FC236}">
                <a16:creationId xmlns:a16="http://schemas.microsoft.com/office/drawing/2014/main" id="{C833F30E-D06E-4C92-97E2-84336F8B849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78A66197-7E0E-49B8-8C60-04B63938E41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 primitive is a small reusable technical contribution with a clear contract. Separate stable behavior from customer-specific configuration. Input validation, correlation identifiers, and idempotent decision recording can generalize more easily than Northstar’s exact routing categories. Document inputs, outputs, failure behavior, tests, and assumptions. Reuse needs a maintainer and a version policy. A copied file without ownership may multiply defects rather than reduce future work.</a:t>
            </a:r>
          </a:p>
        </p:txBody>
      </p:sp>
      <p:sp>
        <p:nvSpPr>
          <p:cNvPr id="5" name="">
            <a:extLst xmlns:a="http://schemas.openxmlformats.org/drawingml/2006/main">
              <a:ext uri="{FF2B5EF4-FFF2-40B4-BE49-F238E27FC236}">
                <a16:creationId xmlns:a16="http://schemas.microsoft.com/office/drawing/2014/main" id="{B86B3518-0A89-4AC8-8330-F7C774BF522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859325755"/>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C58DB2-8013-40C7-8CC3-820BDBBAF6D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E0F77215-5B7A-460A-BE03-6DC25CABF50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reusable technical primitive</a:t>
            </a:r>
          </a:p>
        </p:txBody>
      </p:sp>
      <p:sp>
        <p:nvSpPr>
          <p:cNvPr id="3" name="">
            <a:extLst xmlns:a="http://schemas.openxmlformats.org/drawingml/2006/main">
              <a:ext uri="{FF2B5EF4-FFF2-40B4-BE49-F238E27FC236}">
                <a16:creationId xmlns:a16="http://schemas.microsoft.com/office/drawing/2014/main" id="{990C0ED9-214F-437C-B614-E5C1B4AC042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66D8B590-8C50-41DE-A0B3-0F8DABB50A7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lab routing function contains category keywords. Its event-recording contract is more general: one suggestion identifier can receive only one saved decision. You can reuse that contract without adopting the same categories.</a:t>
            </a:r>
          </a:p>
        </p:txBody>
      </p:sp>
      <p:sp>
        <p:nvSpPr>
          <p:cNvPr id="5" name="">
            <a:extLst xmlns:a="http://schemas.openxmlformats.org/drawingml/2006/main">
              <a:ext uri="{FF2B5EF4-FFF2-40B4-BE49-F238E27FC236}">
                <a16:creationId xmlns:a16="http://schemas.microsoft.com/office/drawing/2014/main" id="{75111463-677E-4841-9F6E-8DB95F0389A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789685560"/>
      </p:ext>
    </p:extLst>
  </p:cSld>
</p:sld>
</file>

<file path=ppt/slides/slide12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8EFB83-BBA3-42B6-AD3A-2AED83AF6FA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5D236B8A-5003-47C4-94B1-68FD281ECCD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reusable technical primitive</a:t>
            </a:r>
          </a:p>
        </p:txBody>
      </p:sp>
      <p:sp>
        <p:nvSpPr>
          <p:cNvPr id="3" name="">
            <a:extLst xmlns:a="http://schemas.openxmlformats.org/drawingml/2006/main">
              <a:ext uri="{FF2B5EF4-FFF2-40B4-BE49-F238E27FC236}">
                <a16:creationId xmlns:a16="http://schemas.microsoft.com/office/drawing/2014/main" id="{1F216C3B-9002-4F4C-9BD7-BEFE332517C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62680A42-8CC5-4325-ABB1-0C522BE6895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Extract a primitive proposal with interface, tests, owner, and local configuration.</a:t>
            </a:r>
          </a:p>
        </p:txBody>
      </p:sp>
      <p:sp>
        <p:nvSpPr>
          <p:cNvPr id="5" name="">
            <a:extLst xmlns:a="http://schemas.openxmlformats.org/drawingml/2006/main">
              <a:ext uri="{FF2B5EF4-FFF2-40B4-BE49-F238E27FC236}">
                <a16:creationId xmlns:a16="http://schemas.microsoft.com/office/drawing/2014/main" id="{CDFCD39E-538B-4043-B185-3EE9AA49B33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998280300"/>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0CC7D0-98B7-45A6-ABE0-5F6CA6CDC90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A35F389C-2486-4C16-B51B-E44D47BA5A6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reusable technical primitive</a:t>
            </a:r>
          </a:p>
        </p:txBody>
      </p:sp>
      <p:sp>
        <p:nvSpPr>
          <p:cNvPr id="3" name="">
            <a:extLst xmlns:a="http://schemas.openxmlformats.org/drawingml/2006/main">
              <a:ext uri="{FF2B5EF4-FFF2-40B4-BE49-F238E27FC236}">
                <a16:creationId xmlns:a16="http://schemas.microsoft.com/office/drawing/2014/main" id="{6FE580C7-7551-41C9-AA68-38FDF801885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C88AD61B-5BB0-4246-83E1-F8D5BEAC6AA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Primitive: decision recording. Input: an existing suggestion identifier and an allowed chosen queue. Output: an auditable decision identifier. Failures: unknown suggestion, duplicate decision, or invalid queue. Tests cover each condition. Queue names remain configuration. Name a maintainer and record a version change when contract behavior changes.</a:t>
            </a:r>
          </a:p>
        </p:txBody>
      </p:sp>
      <p:sp>
        <p:nvSpPr>
          <p:cNvPr id="5" name="">
            <a:extLst xmlns:a="http://schemas.openxmlformats.org/drawingml/2006/main">
              <a:ext uri="{FF2B5EF4-FFF2-40B4-BE49-F238E27FC236}">
                <a16:creationId xmlns:a16="http://schemas.microsoft.com/office/drawing/2014/main" id="{0FD6FFE6-8453-4E5B-89AC-39DC671FFDD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671567839"/>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E50E2B2-C086-43E4-BDE0-D4AA4668222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764E12B8-44A1-4959-A2FB-9769DBD2924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reusable technical primitive</a:t>
            </a:r>
          </a:p>
        </p:txBody>
      </p:sp>
      <p:sp>
        <p:nvSpPr>
          <p:cNvPr id="3" name="">
            <a:extLst xmlns:a="http://schemas.openxmlformats.org/drawingml/2006/main">
              <a:ext uri="{FF2B5EF4-FFF2-40B4-BE49-F238E27FC236}">
                <a16:creationId xmlns:a16="http://schemas.microsoft.com/office/drawing/2014/main" id="{047F8A2B-920E-4332-A88C-B0B063D1071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40DF3B85-80CE-48F0-A20D-1BCFFDCC1F7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Which item is most reusable across domains?</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Northstar’s sponsor name</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A fixed access-ticket keyword list</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A tested decision-recording contract</a:t>
            </a:r>
          </a:p>
        </p:txBody>
      </p:sp>
      <p:sp>
        <p:nvSpPr>
          <p:cNvPr id="5" name="">
            <a:extLst xmlns:a="http://schemas.openxmlformats.org/drawingml/2006/main">
              <a:ext uri="{FF2B5EF4-FFF2-40B4-BE49-F238E27FC236}">
                <a16:creationId xmlns:a16="http://schemas.microsoft.com/office/drawing/2014/main" id="{8C54E87B-5B0B-4F3B-8637-78AD91386C1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24039600"/>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857922-F201-4B63-96A0-352253F6204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01B0543E-562B-44C2-86DA-3B6FBA73F6C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product signal with evidence</a:t>
            </a:r>
          </a:p>
        </p:txBody>
      </p:sp>
      <p:sp>
        <p:nvSpPr>
          <p:cNvPr id="3" name="">
            <a:extLst xmlns:a="http://schemas.openxmlformats.org/drawingml/2006/main">
              <a:ext uri="{FF2B5EF4-FFF2-40B4-BE49-F238E27FC236}">
                <a16:creationId xmlns:a16="http://schemas.microsoft.com/office/drawing/2014/main" id="{7BCA2244-25BD-468C-A04D-D4BFB3789D4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B17E8581-7A21-4B62-A0E6-C12613A6AE1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 product signal connects a field observation to a product decision. Record the affected workflow, frequency within the observed scope, current workaround, consequence, and evidence. Separate a local request from a repeated pattern across sites. Propose a product hypothesis and the next validation action. Avoid presenting the loudest stakeholder’s preference as market demand. Preserve disagreement and missing information so the product team can judge transferability.</a:t>
            </a:r>
          </a:p>
        </p:txBody>
      </p:sp>
      <p:sp>
        <p:nvSpPr>
          <p:cNvPr id="5" name="">
            <a:extLst xmlns:a="http://schemas.openxmlformats.org/drawingml/2006/main">
              <a:ext uri="{FF2B5EF4-FFF2-40B4-BE49-F238E27FC236}">
                <a16:creationId xmlns:a16="http://schemas.microsoft.com/office/drawing/2014/main" id="{2DA72DAA-CFB1-4EB3-96A1-4AE9BD26FEF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450963185"/>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2C9297-A04D-4202-95B7-B6C734761A1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03820887-32D8-4C84-A62E-ABF5B06C04A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product signal with evidence</a:t>
            </a:r>
          </a:p>
        </p:txBody>
      </p:sp>
      <p:sp>
        <p:nvSpPr>
          <p:cNvPr id="3" name="">
            <a:extLst xmlns:a="http://schemas.openxmlformats.org/drawingml/2006/main">
              <a:ext uri="{FF2B5EF4-FFF2-40B4-BE49-F238E27FC236}">
                <a16:creationId xmlns:a16="http://schemas.microsoft.com/office/drawing/2014/main" id="{8EE3696E-6D24-424E-A34E-548770A1B68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23455C25-3A8F-4376-9BF7-D8855A5287F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Agents abandon suggestions because copying back to the queue adds work. The product signal is a need for in-workflow review integration. One site provides evidence of friction, but not yet a general market priority.</a:t>
            </a:r>
          </a:p>
        </p:txBody>
      </p:sp>
      <p:sp>
        <p:nvSpPr>
          <p:cNvPr id="5" name="">
            <a:extLst xmlns:a="http://schemas.openxmlformats.org/drawingml/2006/main">
              <a:ext uri="{FF2B5EF4-FFF2-40B4-BE49-F238E27FC236}">
                <a16:creationId xmlns:a16="http://schemas.microsoft.com/office/drawing/2014/main" id="{E9A1FF00-6144-4B7D-9300-971306DB732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062950230"/>
      </p:ext>
    </p:extLst>
  </p:cSld>
</p:sld>
</file>

<file path=ppt/slides/slide13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B24BE7-3557-43C6-B3EC-6B361189766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BC42C723-8612-4BFB-9534-EBDF1C69DFE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product signal with evidence</a:t>
            </a:r>
          </a:p>
        </p:txBody>
      </p:sp>
      <p:sp>
        <p:nvSpPr>
          <p:cNvPr id="3" name="">
            <a:extLst xmlns:a="http://schemas.openxmlformats.org/drawingml/2006/main">
              <a:ext uri="{FF2B5EF4-FFF2-40B4-BE49-F238E27FC236}">
                <a16:creationId xmlns:a16="http://schemas.microsoft.com/office/drawing/2014/main" id="{0F101078-E242-4F90-8D95-1052DC8FDB8C}"/>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641B62AF-D564-4C5A-A8AC-217462ACE47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Write a product-signal memo with observed evidence, hypothesis, and validation request.</a:t>
            </a:r>
          </a:p>
        </p:txBody>
      </p:sp>
      <p:sp>
        <p:nvSpPr>
          <p:cNvPr id="5" name="">
            <a:extLst xmlns:a="http://schemas.openxmlformats.org/drawingml/2006/main">
              <a:ext uri="{FF2B5EF4-FFF2-40B4-BE49-F238E27FC236}">
                <a16:creationId xmlns:a16="http://schemas.microsoft.com/office/drawing/2014/main" id="{4B000F1F-3B16-4635-AC28-E861B92ACA5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571998433"/>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4CEA51B-EE75-476D-9030-910EA89F891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704B6201-B22F-478F-9315-C15A08355A5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product signal with evidence</a:t>
            </a:r>
          </a:p>
        </p:txBody>
      </p:sp>
      <p:sp>
        <p:nvSpPr>
          <p:cNvPr id="3" name="">
            <a:extLst xmlns:a="http://schemas.openxmlformats.org/drawingml/2006/main">
              <a:ext uri="{FF2B5EF4-FFF2-40B4-BE49-F238E27FC236}">
                <a16:creationId xmlns:a16="http://schemas.microsoft.com/office/drawing/2014/main" id="{4997983E-575E-4935-9F4F-D44D01495E4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D293FD97-DDF0-4DEE-AE19-D7B817E6843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Observed: forty percent of eligible tasks use assistance in the fictional follow-up; agents report duplicate entry. Hypothesis: an integrated review surface will increase adoption. Validation: observe the current task and test the integrated version on a bounded sample. Unknown: whether the same friction recurs at other customers. No market-size claim follows from this case.</a:t>
            </a:r>
          </a:p>
        </p:txBody>
      </p:sp>
      <p:sp>
        <p:nvSpPr>
          <p:cNvPr id="5" name="">
            <a:extLst xmlns:a="http://schemas.openxmlformats.org/drawingml/2006/main">
              <a:ext uri="{FF2B5EF4-FFF2-40B4-BE49-F238E27FC236}">
                <a16:creationId xmlns:a16="http://schemas.microsoft.com/office/drawing/2014/main" id="{A4303A94-8503-40FA-B317-2527C554BBD0}"/>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1428658916"/>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D837FC-22A0-45AC-B4D3-FD47E8F712A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2C501BF8-3E83-46E6-9628-5ECDADF8C11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product signal with evidence</a:t>
            </a:r>
          </a:p>
        </p:txBody>
      </p:sp>
      <p:sp>
        <p:nvSpPr>
          <p:cNvPr id="3" name="">
            <a:extLst xmlns:a="http://schemas.openxmlformats.org/drawingml/2006/main">
              <a:ext uri="{FF2B5EF4-FFF2-40B4-BE49-F238E27FC236}">
                <a16:creationId xmlns:a16="http://schemas.microsoft.com/office/drawing/2014/main" id="{6E4F41A5-6447-41DD-B6F7-B9A2D980580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686585FB-EEB8-4DA8-98CF-BAD72D645A4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distinguishes a product signal from a feature demand?</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Evidence about workflow and consequences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Executive seniority</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A longer feature list</a:t>
            </a:r>
          </a:p>
        </p:txBody>
      </p:sp>
      <p:sp>
        <p:nvSpPr>
          <p:cNvPr id="5" name="">
            <a:extLst xmlns:a="http://schemas.openxmlformats.org/drawingml/2006/main">
              <a:ext uri="{FF2B5EF4-FFF2-40B4-BE49-F238E27FC236}">
                <a16:creationId xmlns:a16="http://schemas.microsoft.com/office/drawing/2014/main" id="{4FA65D7C-9CEE-4FC8-A0AD-426FE7683EF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556758184"/>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39DFE8-D59E-406D-9D8D-595E45BF3A5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9807E476-6022-4740-A3DF-2ABE7AFAD13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Capability after you leave</a:t>
            </a:r>
          </a:p>
        </p:txBody>
      </p:sp>
      <p:sp>
        <p:nvSpPr>
          <p:cNvPr id="3" name="">
            <a:extLst xmlns:a="http://schemas.openxmlformats.org/drawingml/2006/main">
              <a:ext uri="{FF2B5EF4-FFF2-40B4-BE49-F238E27FC236}">
                <a16:creationId xmlns:a16="http://schemas.microsoft.com/office/drawing/2014/main" id="{861435CB-F812-420A-B5F2-031DE83F138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AC49D80A-DF38-43AE-AF02-2593FED5FB7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distill pack contains a pattern, primitive, playbook, product signal, site capability, and model update. Site capability requires operators who can execute and adapt the workflow without the original engineer. Test handover through a teach-back or recovery exercise. Documentation helps but does not prove capability. Keep a feedback system so new exceptions lead to updates after the engagement ends.</a:t>
            </a:r>
          </a:p>
        </p:txBody>
      </p:sp>
      <p:sp>
        <p:nvSpPr>
          <p:cNvPr id="5" name="">
            <a:extLst xmlns:a="http://schemas.openxmlformats.org/drawingml/2006/main">
              <a:ext uri="{FF2B5EF4-FFF2-40B4-BE49-F238E27FC236}">
                <a16:creationId xmlns:a16="http://schemas.microsoft.com/office/drawing/2014/main" id="{74C5E153-64DC-456C-A5A9-2B11061377D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05363723"/>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422ACE-C895-40AF-9E1B-0B5DE868C12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24005009-5E53-4452-AE35-0F2968BE600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Capability after you leave</a:t>
            </a:r>
          </a:p>
        </p:txBody>
      </p:sp>
      <p:sp>
        <p:nvSpPr>
          <p:cNvPr id="3" name="">
            <a:extLst xmlns:a="http://schemas.openxmlformats.org/drawingml/2006/main">
              <a:ext uri="{FF2B5EF4-FFF2-40B4-BE49-F238E27FC236}">
                <a16:creationId xmlns:a16="http://schemas.microsoft.com/office/drawing/2014/main" id="{696F5E1B-FE31-4468-9FDD-A2402163856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D03C1B34-E198-4745-9D21-067A3E3E1BC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Maya explains how to disable assistance, restore manual triage, inspect errors, and request a rule change. Luis can recover the service from the runbook. Their demonstration is stronger evidence than receiving a handover deck.</a:t>
            </a:r>
          </a:p>
        </p:txBody>
      </p:sp>
      <p:sp>
        <p:nvSpPr>
          <p:cNvPr id="5" name="">
            <a:extLst xmlns:a="http://schemas.openxmlformats.org/drawingml/2006/main">
              <a:ext uri="{FF2B5EF4-FFF2-40B4-BE49-F238E27FC236}">
                <a16:creationId xmlns:a16="http://schemas.microsoft.com/office/drawing/2014/main" id="{10559532-3AA5-4885-97BB-6013B084740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287436599"/>
      </p:ext>
    </p:extLst>
  </p:cSld>
</p:sld>
</file>

<file path=ppt/slides/slide13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4177FA6-0498-4D7F-90F8-1AC43F47DB3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6E717571-F336-4EAB-8C95-7FAED19E205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Capability after you leave</a:t>
            </a:r>
          </a:p>
        </p:txBody>
      </p:sp>
      <p:sp>
        <p:nvSpPr>
          <p:cNvPr id="3" name="">
            <a:extLst xmlns:a="http://schemas.openxmlformats.org/drawingml/2006/main">
              <a:ext uri="{FF2B5EF4-FFF2-40B4-BE49-F238E27FC236}">
                <a16:creationId xmlns:a16="http://schemas.microsoft.com/office/drawing/2014/main" id="{DC4EDB1E-837F-4029-A2A9-71992EBCE1B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F3134A12-CA07-4998-86C0-2CAAD5065F0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Complete the six-part distill pack and design a handover test.</a:t>
            </a:r>
          </a:p>
        </p:txBody>
      </p:sp>
      <p:sp>
        <p:nvSpPr>
          <p:cNvPr id="5" name="">
            <a:extLst xmlns:a="http://schemas.openxmlformats.org/drawingml/2006/main">
              <a:ext uri="{FF2B5EF4-FFF2-40B4-BE49-F238E27FC236}">
                <a16:creationId xmlns:a16="http://schemas.microsoft.com/office/drawing/2014/main" id="{DCC9A369-45B8-4232-9FED-4A6290499F4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391043364"/>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1A5046-1C54-4AAB-A4B4-22C74FB8A99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2169D7B6-E344-461C-A170-36DA4DDF3EF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Capability after you leave</a:t>
            </a:r>
          </a:p>
        </p:txBody>
      </p:sp>
      <p:sp>
        <p:nvSpPr>
          <p:cNvPr id="3" name="">
            <a:extLst xmlns:a="http://schemas.openxmlformats.org/drawingml/2006/main">
              <a:ext uri="{FF2B5EF4-FFF2-40B4-BE49-F238E27FC236}">
                <a16:creationId xmlns:a16="http://schemas.microsoft.com/office/drawing/2014/main" id="{0DCE6824-82BA-4763-BE11-51EED268202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10E37564-1170-43F9-870E-0D0558AAC85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Ask the operator to respond to one unavailable-service scenario without contacting you. Ask the maintainer to explain a rejected-input trace. Record what they can do, what remains unclear, and who will maintain the playbook. Model update: accurate suggestions need integration and trusted override handling to become useful. The next loop starts from that revised frame.</a:t>
            </a:r>
          </a:p>
        </p:txBody>
      </p:sp>
      <p:sp>
        <p:nvSpPr>
          <p:cNvPr id="5" name="">
            <a:extLst xmlns:a="http://schemas.openxmlformats.org/drawingml/2006/main">
              <a:ext uri="{FF2B5EF4-FFF2-40B4-BE49-F238E27FC236}">
                <a16:creationId xmlns:a16="http://schemas.microsoft.com/office/drawing/2014/main" id="{C9B89D96-795E-4762-BEE0-B277A45CBDB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543014011"/>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58E73E-6CB1-4D2C-BA6E-09204180FEB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Distill and compound</a:t>
            </a:r>
          </a:p>
        </p:txBody>
      </p:sp>
      <p:sp>
        <p:nvSpPr>
          <p:cNvPr id="2" name="">
            <a:extLst xmlns:a="http://schemas.openxmlformats.org/drawingml/2006/main">
              <a:ext uri="{FF2B5EF4-FFF2-40B4-BE49-F238E27FC236}">
                <a16:creationId xmlns:a16="http://schemas.microsoft.com/office/drawing/2014/main" id="{3F3FBC0F-8965-45E8-8F2E-BEAECE5A824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Capability after you leave</a:t>
            </a:r>
          </a:p>
        </p:txBody>
      </p:sp>
      <p:sp>
        <p:nvSpPr>
          <p:cNvPr id="3" name="">
            <a:extLst xmlns:a="http://schemas.openxmlformats.org/drawingml/2006/main">
              <a:ext uri="{FF2B5EF4-FFF2-40B4-BE49-F238E27FC236}">
                <a16:creationId xmlns:a16="http://schemas.microsoft.com/office/drawing/2014/main" id="{3B0D26A1-C2FF-4AB3-AA71-053A220832B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1E80E47C-A573-4CAA-96DE-00BFC541A50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Which evidence best supports successful handover?</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A long documentation folder</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The original engineer remains the only responder</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Operators complete a recovery exercise independently</a:t>
            </a:r>
          </a:p>
        </p:txBody>
      </p:sp>
      <p:sp>
        <p:nvSpPr>
          <p:cNvPr id="5" name="">
            <a:extLst xmlns:a="http://schemas.openxmlformats.org/drawingml/2006/main">
              <a:ext uri="{FF2B5EF4-FFF2-40B4-BE49-F238E27FC236}">
                <a16:creationId xmlns:a16="http://schemas.microsoft.com/office/drawing/2014/main" id="{39EA90D5-C5C5-4A12-9411-DB864403DD99}"/>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703918125"/>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96F5BC-3511-4088-8420-FCBEBB176F5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609B6139-C39E-472B-92F0-C2C343CDE99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constraint changes mid-project</a:t>
            </a:r>
          </a:p>
        </p:txBody>
      </p:sp>
      <p:sp>
        <p:nvSpPr>
          <p:cNvPr id="3" name="">
            <a:extLst xmlns:a="http://schemas.openxmlformats.org/drawingml/2006/main">
              <a:ext uri="{FF2B5EF4-FFF2-40B4-BE49-F238E27FC236}">
                <a16:creationId xmlns:a16="http://schemas.microsoft.com/office/drawing/2014/main" id="{F0FAE9F5-6B94-497F-B913-9AD2476AA09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071177F7-DE57-461D-BD8A-0CC468C10B61}"/>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Constraint injection tests whether the delivery plan can adapt. Revisit the frame, uncertainty, authority, and smallest useful action when conditions change. A new restriction does not justify bypassing controls. Choose a permitted fallback and state which claims it can still test. Record the change, its effect on evidence, and the next gate. A synthetic fallback can test workflow design but cannot prove a production integration now unavailable.</a:t>
            </a:r>
          </a:p>
        </p:txBody>
      </p:sp>
      <p:sp>
        <p:nvSpPr>
          <p:cNvPr id="5" name="">
            <a:extLst xmlns:a="http://schemas.openxmlformats.org/drawingml/2006/main">
              <a:ext uri="{FF2B5EF4-FFF2-40B4-BE49-F238E27FC236}">
                <a16:creationId xmlns:a16="http://schemas.microsoft.com/office/drawing/2014/main" id="{5933B75A-2312-4564-8D23-ABD396B87E1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236200984"/>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B5BFAE3-D610-4867-AB16-76E9A5A5279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05DD8F7B-69F4-435F-977C-5086B256F30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constraint changes mid-project</a:t>
            </a:r>
          </a:p>
        </p:txBody>
      </p:sp>
      <p:sp>
        <p:nvSpPr>
          <p:cNvPr id="3" name="">
            <a:extLst xmlns:a="http://schemas.openxmlformats.org/drawingml/2006/main">
              <a:ext uri="{FF2B5EF4-FFF2-40B4-BE49-F238E27FC236}">
                <a16:creationId xmlns:a16="http://schemas.microsoft.com/office/drawing/2014/main" id="{2E0FD76B-08D4-4EE8-AD47-F642905A4F3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949EA658-7610-47C7-8603-D7BB1120901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Priya prohibits external model calls. Luis reports the customer API will be unavailable this week. The sponsor still wants progress. The rule-based synthetic prototype can continue testing review behavior.</a:t>
            </a:r>
          </a:p>
        </p:txBody>
      </p:sp>
      <p:sp>
        <p:nvSpPr>
          <p:cNvPr id="5" name="">
            <a:extLst xmlns:a="http://schemas.openxmlformats.org/drawingml/2006/main">
              <a:ext uri="{FF2B5EF4-FFF2-40B4-BE49-F238E27FC236}">
                <a16:creationId xmlns:a16="http://schemas.microsoft.com/office/drawing/2014/main" id="{578C2246-1DA1-45C6-A9FD-69F4E17D021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70779511"/>
      </p:ext>
    </p:extLst>
  </p:cSld>
</p:sld>
</file>

<file path=ppt/slides/slide14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69117A-52AB-4B3B-ADFC-2BDA624E65B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53A23A8F-75FD-4A69-AC41-864E8A45F316}"/>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constraint changes mid-project</a:t>
            </a:r>
          </a:p>
        </p:txBody>
      </p:sp>
      <p:sp>
        <p:nvSpPr>
          <p:cNvPr id="3" name="">
            <a:extLst xmlns:a="http://schemas.openxmlformats.org/drawingml/2006/main">
              <a:ext uri="{FF2B5EF4-FFF2-40B4-BE49-F238E27FC236}">
                <a16:creationId xmlns:a16="http://schemas.microsoft.com/office/drawing/2014/main" id="{BE308A78-0CBF-4694-879D-3C460F736CB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D79DD8FE-7E42-44E2-9367-D6D009E970E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Revise the plan while preserving a useful experiment and an honest evidence boundary.</a:t>
            </a:r>
          </a:p>
        </p:txBody>
      </p:sp>
      <p:sp>
        <p:nvSpPr>
          <p:cNvPr id="5" name="">
            <a:extLst xmlns:a="http://schemas.openxmlformats.org/drawingml/2006/main">
              <a:ext uri="{FF2B5EF4-FFF2-40B4-BE49-F238E27FC236}">
                <a16:creationId xmlns:a16="http://schemas.microsoft.com/office/drawing/2014/main" id="{1D774EB6-D8F0-4F87-A762-52FCBAD2927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272239190"/>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4907CC-811F-45D8-BA69-14015D65098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1F08E6B7-E8FD-4175-AEE4-D3A76BD55FF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constraint changes mid-project</a:t>
            </a:r>
          </a:p>
        </p:txBody>
      </p:sp>
      <p:sp>
        <p:nvSpPr>
          <p:cNvPr id="3" name="">
            <a:extLst xmlns:a="http://schemas.openxmlformats.org/drawingml/2006/main">
              <a:ext uri="{FF2B5EF4-FFF2-40B4-BE49-F238E27FC236}">
                <a16:creationId xmlns:a16="http://schemas.microsoft.com/office/drawing/2014/main" id="{F050EA87-1C8E-4E74-89EB-760EEA37BA5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C8AA6256-5727-4904-A53F-9B71A069CF7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Use the local dataset and rules. Test usability, category logic, validation, and logging. Mark production integration and model benefit untested. Keep a future integration gate with Luis and Priya. This fallback creates progress without pretending it exercised the blocked customer systems.</a:t>
            </a:r>
          </a:p>
        </p:txBody>
      </p:sp>
      <p:sp>
        <p:nvSpPr>
          <p:cNvPr id="5" name="">
            <a:extLst xmlns:a="http://schemas.openxmlformats.org/drawingml/2006/main">
              <a:ext uri="{FF2B5EF4-FFF2-40B4-BE49-F238E27FC236}">
                <a16:creationId xmlns:a16="http://schemas.microsoft.com/office/drawing/2014/main" id="{D44370A0-D237-495D-8F7A-06E1B271CCB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949478828"/>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A492B2-6503-4FB5-832F-BA124BEDCB3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2EC793FF-F07F-4985-A43C-537076ECC47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constraint changes mid-project</a:t>
            </a:r>
          </a:p>
        </p:txBody>
      </p:sp>
      <p:sp>
        <p:nvSpPr>
          <p:cNvPr id="3" name="">
            <a:extLst xmlns:a="http://schemas.openxmlformats.org/drawingml/2006/main">
              <a:ext uri="{FF2B5EF4-FFF2-40B4-BE49-F238E27FC236}">
                <a16:creationId xmlns:a16="http://schemas.microsoft.com/office/drawing/2014/main" id="{8A282A39-E416-49C1-B770-1F747A8FEFE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15B14BA0-2D59-42C9-99F9-CF7123E676A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can a synthetic fallback prove?</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Selected behavior within the simulation</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Customer API readiness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Production access approval</a:t>
            </a:r>
          </a:p>
        </p:txBody>
      </p:sp>
      <p:sp>
        <p:nvSpPr>
          <p:cNvPr id="5" name="">
            <a:extLst xmlns:a="http://schemas.openxmlformats.org/drawingml/2006/main">
              <a:ext uri="{FF2B5EF4-FFF2-40B4-BE49-F238E27FC236}">
                <a16:creationId xmlns:a16="http://schemas.microsoft.com/office/drawing/2014/main" id="{9C4BEE8A-7326-408A-83AF-43D37011CB89}"/>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089957918"/>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BBDBFD8-3E55-4F0B-BC09-864932E6B9B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CD8816D9-DD98-4C23-A048-A300B8AC86C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One decision for three audiences</a:t>
            </a:r>
          </a:p>
        </p:txBody>
      </p:sp>
      <p:sp>
        <p:nvSpPr>
          <p:cNvPr id="3" name="">
            <a:extLst xmlns:a="http://schemas.openxmlformats.org/drawingml/2006/main">
              <a:ext uri="{FF2B5EF4-FFF2-40B4-BE49-F238E27FC236}">
                <a16:creationId xmlns:a16="http://schemas.microsoft.com/office/drawing/2014/main" id="{160958C9-E4DD-4871-9282-9DAC7B4E164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994848F5-7178-4C40-B01B-727E6F59BC4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Translation preserves truth while changing the level of detail. Operators need task consequences and recovery. Engineers need contracts, failure modes, and dependencies. Executives need the decision, evidence, risk, and next commitment. Every version should keep the same authority boundary and uncertainty. Compress the messy context into one page. If one audience hears a stronger promise than another, the translation has changed the decision rather than clarified it.</a:t>
            </a:r>
          </a:p>
        </p:txBody>
      </p:sp>
      <p:sp>
        <p:nvSpPr>
          <p:cNvPr id="5" name="">
            <a:extLst xmlns:a="http://schemas.openxmlformats.org/drawingml/2006/main">
              <a:ext uri="{FF2B5EF4-FFF2-40B4-BE49-F238E27FC236}">
                <a16:creationId xmlns:a16="http://schemas.microsoft.com/office/drawing/2014/main" id="{8F327EE6-C043-4445-B352-6EBFEAB1D01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207352839"/>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6D314B8-B7AF-4176-9D03-F28F496E898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F541F21C-AC1D-40E1-ADB2-8A5C56E4923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One decision for three audiences</a:t>
            </a:r>
          </a:p>
        </p:txBody>
      </p:sp>
      <p:sp>
        <p:nvSpPr>
          <p:cNvPr id="3" name="">
            <a:extLst xmlns:a="http://schemas.openxmlformats.org/drawingml/2006/main">
              <a:ext uri="{FF2B5EF4-FFF2-40B4-BE49-F238E27FC236}">
                <a16:creationId xmlns:a16="http://schemas.microsoft.com/office/drawing/2014/main" id="{065DBFF5-657F-4357-B989-8C39A498DB9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772E6003-C76C-4C02-9571-A1AF27047C6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system generates reviewable routing suggestions using synthetic data. It has not been approved for production. That limit must appear in the executive summary as clearly as in the engineering note.</a:t>
            </a:r>
          </a:p>
        </p:txBody>
      </p:sp>
      <p:sp>
        <p:nvSpPr>
          <p:cNvPr id="5" name="">
            <a:extLst xmlns:a="http://schemas.openxmlformats.org/drawingml/2006/main">
              <a:ext uri="{FF2B5EF4-FFF2-40B4-BE49-F238E27FC236}">
                <a16:creationId xmlns:a16="http://schemas.microsoft.com/office/drawing/2014/main" id="{E4F1FB21-CBCC-4394-B8F4-3199B2BAA31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53334116"/>
      </p:ext>
    </p:extLst>
  </p:cSld>
</p:sld>
</file>

<file path=ppt/slides/slide14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A33934-E2FB-446F-9D00-202AB30349A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E700205F-B181-4CAB-AEBF-F67BAAF6444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One decision for three audiences</a:t>
            </a:r>
          </a:p>
        </p:txBody>
      </p:sp>
      <p:sp>
        <p:nvSpPr>
          <p:cNvPr id="3" name="">
            <a:extLst xmlns:a="http://schemas.openxmlformats.org/drawingml/2006/main">
              <a:ext uri="{FF2B5EF4-FFF2-40B4-BE49-F238E27FC236}">
                <a16:creationId xmlns:a16="http://schemas.microsoft.com/office/drawing/2014/main" id="{D1706504-E009-47BE-AA77-65084D7A3BB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B89D8FC5-5EC9-40CE-99F9-9EB9700724D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Write a three-sentence explanation for an operator, engineer, and executive.</a:t>
            </a:r>
          </a:p>
        </p:txBody>
      </p:sp>
      <p:sp>
        <p:nvSpPr>
          <p:cNvPr id="5" name="">
            <a:extLst xmlns:a="http://schemas.openxmlformats.org/drawingml/2006/main">
              <a:ext uri="{FF2B5EF4-FFF2-40B4-BE49-F238E27FC236}">
                <a16:creationId xmlns:a16="http://schemas.microsoft.com/office/drawing/2014/main" id="{09BB9313-5A38-409F-876D-5B9728DF42F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281319356"/>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81BC05-6168-4392-91A9-6D77696B12E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2C3A0344-47DC-46CC-8846-D8817B4D8E7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One decision for three audiences</a:t>
            </a:r>
          </a:p>
        </p:txBody>
      </p:sp>
      <p:sp>
        <p:nvSpPr>
          <p:cNvPr id="3" name="">
            <a:extLst xmlns:a="http://schemas.openxmlformats.org/drawingml/2006/main">
              <a:ext uri="{FF2B5EF4-FFF2-40B4-BE49-F238E27FC236}">
                <a16:creationId xmlns:a16="http://schemas.microsoft.com/office/drawing/2014/main" id="{7391C82C-848B-498A-A851-FBD1E0AA0AE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74DCCC9C-6306-4F57-8A6A-7D028CCA9AE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Operator: review the queue suggestion, override when needed, and save your choice; use manual triage if unavailable. Engineer: the local API validates input, keeps review separate, and records correlated events; production controls remain pending. Executive: the synthetic test supports a bounded pilot hypothesis; authorize the next access review rather than claiming customer savings.</a:t>
            </a:r>
          </a:p>
        </p:txBody>
      </p:sp>
      <p:sp>
        <p:nvSpPr>
          <p:cNvPr id="5" name="">
            <a:extLst xmlns:a="http://schemas.openxmlformats.org/drawingml/2006/main">
              <a:ext uri="{FF2B5EF4-FFF2-40B4-BE49-F238E27FC236}">
                <a16:creationId xmlns:a16="http://schemas.microsoft.com/office/drawing/2014/main" id="{50EE19A8-9039-4D6C-8FF5-0D8026915EA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552879217"/>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C61E8F-1030-40F6-9C5C-74A08FF31AF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4F8AB57D-4894-41F1-9701-867B2173CDC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One decision for three audiences</a:t>
            </a:r>
          </a:p>
        </p:txBody>
      </p:sp>
      <p:sp>
        <p:nvSpPr>
          <p:cNvPr id="3" name="">
            <a:extLst xmlns:a="http://schemas.openxmlformats.org/drawingml/2006/main">
              <a:ext uri="{FF2B5EF4-FFF2-40B4-BE49-F238E27FC236}">
                <a16:creationId xmlns:a16="http://schemas.microsoft.com/office/drawing/2014/main" id="{65BC7DB2-620E-4E92-87AD-61670DA6768C}"/>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F98E4AA3-1E59-4884-BCDA-1EB49181EAF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must remain constant across audiences?</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Every technical detail</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The facts, limits, and decision</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The same word count</a:t>
            </a:r>
          </a:p>
        </p:txBody>
      </p:sp>
      <p:sp>
        <p:nvSpPr>
          <p:cNvPr id="5" name="">
            <a:extLst xmlns:a="http://schemas.openxmlformats.org/drawingml/2006/main">
              <a:ext uri="{FF2B5EF4-FFF2-40B4-BE49-F238E27FC236}">
                <a16:creationId xmlns:a16="http://schemas.microsoft.com/office/drawing/2014/main" id="{1FEBB26A-D4C1-409C-AD79-14E33C4B679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650896685"/>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D4370A-9CA8-49DC-BFEB-6BE939668B1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60C094EA-044C-460A-8D24-A97AFEB7484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Failure-mode diagnosis</a:t>
            </a:r>
          </a:p>
        </p:txBody>
      </p:sp>
      <p:sp>
        <p:nvSpPr>
          <p:cNvPr id="3" name="">
            <a:extLst xmlns:a="http://schemas.openxmlformats.org/drawingml/2006/main">
              <a:ext uri="{FF2B5EF4-FFF2-40B4-BE49-F238E27FC236}">
                <a16:creationId xmlns:a16="http://schemas.microsoft.com/office/drawing/2014/main" id="{7D5B31F5-4406-4021-8FCA-A7C74CC3E85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AD52F9C1-A3F5-4F06-80A8-575D676B6B6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Diagnose behavior before attaching a label. The framework names eleven failures, including parachuting, going native, silent assumptions, moving goalposts, fragile prototypes, bespoke loops, and hero dependency. Use the symptom to select a counter and an observable test. External review helps preserve critical distance after immersion. Do not classify disagreement as going native simply because a colleague challenges your proposed solution.</a:t>
            </a:r>
          </a:p>
        </p:txBody>
      </p:sp>
      <p:sp>
        <p:nvSpPr>
          <p:cNvPr id="5" name="">
            <a:extLst xmlns:a="http://schemas.openxmlformats.org/drawingml/2006/main">
              <a:ext uri="{FF2B5EF4-FFF2-40B4-BE49-F238E27FC236}">
                <a16:creationId xmlns:a16="http://schemas.microsoft.com/office/drawing/2014/main" id="{F376F32D-7E6B-4B55-A868-F686EEA0545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86297134"/>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FE00C60-2523-40E2-B050-B95B52D07D1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EA8FFD27-325D-42C3-943F-18339522EFA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Failure-mode diagnosis</a:t>
            </a:r>
          </a:p>
        </p:txBody>
      </p:sp>
      <p:sp>
        <p:nvSpPr>
          <p:cNvPr id="3" name="">
            <a:extLst xmlns:a="http://schemas.openxmlformats.org/drawingml/2006/main">
              <a:ext uri="{FF2B5EF4-FFF2-40B4-BE49-F238E27FC236}">
                <a16:creationId xmlns:a16="http://schemas.microsoft.com/office/drawing/2014/main" id="{70FA9C4E-FBCB-497C-86A4-B544A7E93C4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ECDC65D0-073E-4C56-BDB6-D8D937DEA68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team removes the quality threshold after errors appear. A prototype runs without an owner. Every rule change depends on the original engineer. Each symptom maps to a different failure mode.</a:t>
            </a:r>
          </a:p>
        </p:txBody>
      </p:sp>
      <p:sp>
        <p:nvSpPr>
          <p:cNvPr id="5" name="">
            <a:extLst xmlns:a="http://schemas.openxmlformats.org/drawingml/2006/main">
              <a:ext uri="{FF2B5EF4-FFF2-40B4-BE49-F238E27FC236}">
                <a16:creationId xmlns:a16="http://schemas.microsoft.com/office/drawing/2014/main" id="{9ADDBC2E-38CC-4843-AAD2-9CEF5B9DD95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0344814"/>
      </p:ext>
    </p:extLst>
  </p:cSld>
</p:sld>
</file>

<file path=ppt/slides/slide15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11D76D-489B-48A8-A012-DB1D504204A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B159B236-31E0-49E5-9A50-812E7CD5506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Failure-mode diagnosis</a:t>
            </a:r>
          </a:p>
        </p:txBody>
      </p:sp>
      <p:sp>
        <p:nvSpPr>
          <p:cNvPr id="3" name="">
            <a:extLst xmlns:a="http://schemas.openxmlformats.org/drawingml/2006/main">
              <a:ext uri="{FF2B5EF4-FFF2-40B4-BE49-F238E27FC236}">
                <a16:creationId xmlns:a16="http://schemas.microsoft.com/office/drawing/2014/main" id="{4E9CF6D6-434C-44D0-8818-968AE03B3BF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CB9D79E4-B4DE-4301-B523-D36951781DC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Name each failure, its counter, and evidence that the counter worked.</a:t>
            </a:r>
          </a:p>
        </p:txBody>
      </p:sp>
      <p:sp>
        <p:nvSpPr>
          <p:cNvPr id="5" name="">
            <a:extLst xmlns:a="http://schemas.openxmlformats.org/drawingml/2006/main">
              <a:ext uri="{FF2B5EF4-FFF2-40B4-BE49-F238E27FC236}">
                <a16:creationId xmlns:a16="http://schemas.microsoft.com/office/drawing/2014/main" id="{169904D5-0A24-4EC4-ABE4-DD79B901A08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2122679005"/>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4D5FF6-7402-4397-BA9C-7216C226070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CB0F629C-3AD7-42F9-B2DE-7DB7D640ACF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Failure-mode diagnosis</a:t>
            </a:r>
          </a:p>
        </p:txBody>
      </p:sp>
      <p:sp>
        <p:nvSpPr>
          <p:cNvPr id="3" name="">
            <a:extLst xmlns:a="http://schemas.openxmlformats.org/drawingml/2006/main">
              <a:ext uri="{FF2B5EF4-FFF2-40B4-BE49-F238E27FC236}">
                <a16:creationId xmlns:a16="http://schemas.microsoft.com/office/drawing/2014/main" id="{15D72E5A-EB06-46E9-9A64-91DDAF86148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C122A7A1-50DF-4277-8911-D60D58A5DAD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Moving goalposts: restore the timestamped threshold and publish the complete result. Fragile prototype: hold landing until an owner and support conditions exist. Hero dependency: teach the maintainer and test an independent rule update. The correction needs behavior evidence, not merely a newly written policy.</a:t>
            </a:r>
          </a:p>
        </p:txBody>
      </p:sp>
      <p:sp>
        <p:nvSpPr>
          <p:cNvPr id="5" name="">
            <a:extLst xmlns:a="http://schemas.openxmlformats.org/drawingml/2006/main">
              <a:ext uri="{FF2B5EF4-FFF2-40B4-BE49-F238E27FC236}">
                <a16:creationId xmlns:a16="http://schemas.microsoft.com/office/drawing/2014/main" id="{79A3B626-EC24-407D-B761-56BF6E8D59C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231475431"/>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F63211-DFDE-4AD2-96B2-39025EE5EB6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899CD83A-D487-4C6F-AE1A-B25349A5EF5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Failure-mode diagnosis</a:t>
            </a:r>
          </a:p>
        </p:txBody>
      </p:sp>
      <p:sp>
        <p:nvSpPr>
          <p:cNvPr id="3" name="">
            <a:extLst xmlns:a="http://schemas.openxmlformats.org/drawingml/2006/main">
              <a:ext uri="{FF2B5EF4-FFF2-40B4-BE49-F238E27FC236}">
                <a16:creationId xmlns:a16="http://schemas.microsoft.com/office/drawing/2014/main" id="{2667C5A9-4DB7-474F-B8A6-F237D858805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7B7B6789-1432-4965-8DF3-C8A6B38DA94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Which symptom indicates moving goalposts?</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Writing a prediction before acting</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Rejecting malformed input</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Changing success criteria after seeing results</a:t>
            </a:r>
          </a:p>
        </p:txBody>
      </p:sp>
      <p:sp>
        <p:nvSpPr>
          <p:cNvPr id="5" name="">
            <a:extLst xmlns:a="http://schemas.openxmlformats.org/drawingml/2006/main">
              <a:ext uri="{FF2B5EF4-FFF2-40B4-BE49-F238E27FC236}">
                <a16:creationId xmlns:a16="http://schemas.microsoft.com/office/drawing/2014/main" id="{9C1AB1F7-A133-4B18-BF81-D7C46FB6C0D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117699097"/>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55B9DF3-EDF0-4615-9278-090AA881291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7A91510D-DEC4-465D-8951-B87F6092DCC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Practice and the growth ladder</a:t>
            </a:r>
          </a:p>
        </p:txBody>
      </p:sp>
      <p:sp>
        <p:nvSpPr>
          <p:cNvPr id="3" name="">
            <a:extLst xmlns:a="http://schemas.openxmlformats.org/drawingml/2006/main">
              <a:ext uri="{FF2B5EF4-FFF2-40B4-BE49-F238E27FC236}">
                <a16:creationId xmlns:a16="http://schemas.microsoft.com/office/drawing/2014/main" id="{CBC90CC6-9972-434D-888E-AA3FB4CA2A7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52E3391B-3709-4EAF-8F07-2F6738B73F6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ladder progresses through apprentice, builder, deployment owner, multiplier, and system designer. Its exit tests concern observable work in context. Course completion does not automatically satisfy those tests. Use the daily, weekly, monthly, and quarterly cadence as a development aid. Select a manageable practice commitment, collect evidence, and seek feedback. Real workplace practice should respect data access, customer confidentiality, operating authority, and applicable procedures.</a:t>
            </a:r>
          </a:p>
        </p:txBody>
      </p:sp>
      <p:sp>
        <p:nvSpPr>
          <p:cNvPr id="5" name="">
            <a:extLst xmlns:a="http://schemas.openxmlformats.org/drawingml/2006/main">
              <a:ext uri="{FF2B5EF4-FFF2-40B4-BE49-F238E27FC236}">
                <a16:creationId xmlns:a16="http://schemas.microsoft.com/office/drawing/2014/main" id="{47D2F765-752F-49D8-9AAB-B7AD2E80308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111092763"/>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128C3A-5665-48F6-8C92-272C9BADCF7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6DCE70C9-8A9F-43A8-B65B-007C2743922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Practice and the growth ladder</a:t>
            </a:r>
          </a:p>
        </p:txBody>
      </p:sp>
      <p:sp>
        <p:nvSpPr>
          <p:cNvPr id="3" name="">
            <a:extLst xmlns:a="http://schemas.openxmlformats.org/drawingml/2006/main">
              <a:ext uri="{FF2B5EF4-FFF2-40B4-BE49-F238E27FC236}">
                <a16:creationId xmlns:a16="http://schemas.microsoft.com/office/drawing/2014/main" id="{E1CC1F2E-CEB0-43CE-B97D-BF6E2454E4B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Northstar case</a:t>
            </a:r>
          </a:p>
        </p:txBody>
      </p:sp>
      <p:sp>
        <p:nvSpPr>
          <p:cNvPr id="4" name="">
            <a:extLst xmlns:a="http://schemas.openxmlformats.org/drawingml/2006/main">
              <a:ext uri="{FF2B5EF4-FFF2-40B4-BE49-F238E27FC236}">
                <a16:creationId xmlns:a16="http://schemas.microsoft.com/office/drawing/2014/main" id="{4FE115F6-3A24-45B9-AAFE-A52ADF30AC8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 learner finishes the prototype and calls themselves a deployment owner. They have not worked with real users or performed an outcome reading after production adoption. Their portfolio demonstrates simulated practice, with field evidence still pending.</a:t>
            </a:r>
          </a:p>
        </p:txBody>
      </p:sp>
      <p:sp>
        <p:nvSpPr>
          <p:cNvPr id="5" name="">
            <a:extLst xmlns:a="http://schemas.openxmlformats.org/drawingml/2006/main">
              <a:ext uri="{FF2B5EF4-FFF2-40B4-BE49-F238E27FC236}">
                <a16:creationId xmlns:a16="http://schemas.microsoft.com/office/drawing/2014/main" id="{EF5CB293-2E3D-494E-8029-8D43FB025BF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557039549"/>
      </p:ext>
    </p:extLst>
  </p:cSld>
</p:sld>
</file>

<file path=ppt/slides/slide15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BF54F39-27CE-492E-BEE6-DB966D54EFA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B26E2382-B286-483C-85AE-93D8B8E07D2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Practice and the growth ladder</a:t>
            </a:r>
          </a:p>
        </p:txBody>
      </p:sp>
      <p:sp>
        <p:nvSpPr>
          <p:cNvPr id="3" name="">
            <a:extLst xmlns:a="http://schemas.openxmlformats.org/drawingml/2006/main">
              <a:ext uri="{FF2B5EF4-FFF2-40B4-BE49-F238E27FC236}">
                <a16:creationId xmlns:a16="http://schemas.microsoft.com/office/drawing/2014/main" id="{32B5C63D-18EA-4E8C-AB6D-ABE367C4F4B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1AFF58DA-F076-40E7-81A3-B5D053F0DD5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Write a 30-day practice plan with one user observation, one prediction, and one review of evidence.</a:t>
            </a:r>
          </a:p>
        </p:txBody>
      </p:sp>
      <p:sp>
        <p:nvSpPr>
          <p:cNvPr id="5" name="">
            <a:extLst xmlns:a="http://schemas.openxmlformats.org/drawingml/2006/main">
              <a:ext uri="{FF2B5EF4-FFF2-40B4-BE49-F238E27FC236}">
                <a16:creationId xmlns:a16="http://schemas.microsoft.com/office/drawing/2014/main" id="{D41DC612-975C-4619-82DC-A52E861B7DD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43435603"/>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969E249-4C09-47BF-9210-ACBC7BE7D2A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D12D5648-4D03-4670-89C4-D1EB60EB8F9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Practice and the growth ladder</a:t>
            </a:r>
          </a:p>
        </p:txBody>
      </p:sp>
      <p:sp>
        <p:nvSpPr>
          <p:cNvPr id="3" name="">
            <a:extLst xmlns:a="http://schemas.openxmlformats.org/drawingml/2006/main">
              <a:ext uri="{FF2B5EF4-FFF2-40B4-BE49-F238E27FC236}">
                <a16:creationId xmlns:a16="http://schemas.microsoft.com/office/drawing/2014/main" id="{B4A4AEE0-243E-44A0-8437-28BCFA173F2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03B663A0-38AE-417F-A020-04F0D53DE88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Week one: observe a permitted workflow and map the actual decision. Week two: co-author a small frame with its owner. Week three: run an authorized bounded experiment with a written prediction. Week four: compare results and identify one reusable lesson. If workplace access is unavailable, use a second simulation and label it accordingly.</a:t>
            </a:r>
          </a:p>
        </p:txBody>
      </p:sp>
      <p:sp>
        <p:nvSpPr>
          <p:cNvPr id="5" name="">
            <a:extLst xmlns:a="http://schemas.openxmlformats.org/drawingml/2006/main">
              <a:ext uri="{FF2B5EF4-FFF2-40B4-BE49-F238E27FC236}">
                <a16:creationId xmlns:a16="http://schemas.microsoft.com/office/drawing/2014/main" id="{BD830727-F5FA-45D1-9263-37501A4AEDB9}"/>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305320844"/>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6AA67E-8C82-4D75-AAB7-C053826CE86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Judgment under pressure</a:t>
            </a:r>
          </a:p>
        </p:txBody>
      </p:sp>
      <p:sp>
        <p:nvSpPr>
          <p:cNvPr id="2" name="">
            <a:extLst xmlns:a="http://schemas.openxmlformats.org/drawingml/2006/main">
              <a:ext uri="{FF2B5EF4-FFF2-40B4-BE49-F238E27FC236}">
                <a16:creationId xmlns:a16="http://schemas.microsoft.com/office/drawing/2014/main" id="{23687376-9CA7-4015-9B6E-DC38E09357B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Practice and the growth ladder</a:t>
            </a:r>
          </a:p>
        </p:txBody>
      </p:sp>
      <p:sp>
        <p:nvSpPr>
          <p:cNvPr id="3" name="">
            <a:extLst xmlns:a="http://schemas.openxmlformats.org/drawingml/2006/main">
              <a:ext uri="{FF2B5EF4-FFF2-40B4-BE49-F238E27FC236}">
                <a16:creationId xmlns:a16="http://schemas.microsoft.com/office/drawing/2014/main" id="{07013741-5D88-4C2C-B4EA-DCD0D78AA45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F25AB924-E347-4018-8316-BDEC199C102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Does course completion establish the deployment-owner stage?</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No, the stage requires field evidence</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Yes, after watching videos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Yes, if the self-rating is high</a:t>
            </a:r>
          </a:p>
        </p:txBody>
      </p:sp>
      <p:sp>
        <p:nvSpPr>
          <p:cNvPr id="5" name="">
            <a:extLst xmlns:a="http://schemas.openxmlformats.org/drawingml/2006/main">
              <a:ext uri="{FF2B5EF4-FFF2-40B4-BE49-F238E27FC236}">
                <a16:creationId xmlns:a16="http://schemas.microsoft.com/office/drawing/2014/main" id="{A0760AF1-1B4A-4F11-BB84-F3104DD749B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2063889346"/>
      </p:ext>
    </p:extLst>
  </p:cSld>
</p:sld>
</file>

<file path=ppt/slides/slide1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FC3B64B-6634-47F9-BCC1-1CCC4B46F8F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10A1EE21-55FB-443A-98DE-12145452B13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fresh ambiguous engagement</a:t>
            </a:r>
          </a:p>
        </p:txBody>
      </p:sp>
      <p:sp>
        <p:nvSpPr>
          <p:cNvPr id="3" name="">
            <a:extLst xmlns:a="http://schemas.openxmlformats.org/drawingml/2006/main">
              <a:ext uri="{FF2B5EF4-FFF2-40B4-BE49-F238E27FC236}">
                <a16:creationId xmlns:a16="http://schemas.microsoft.com/office/drawing/2014/main" id="{7B4D701C-6EA2-4C49-B4E6-C2C7432F01B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504FC7F1-5BF5-42C4-BDA6-09468500E75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capstone transfers the loop to Harbor Maintenance. A sponsor asks for an AI assistant to route maintenance requests. The workflow includes urgent conditions, missing asset identifiers, duplicate requests, and a supervisor who owns priority decisions. Keep safety procedures authoritative and do not automate operational control. Your first task is discovery and framing. The capstone uses synthetic records and evaluates how well you preserve evidence and authority while building a usable path.</a:t>
            </a:r>
          </a:p>
        </p:txBody>
      </p:sp>
      <p:sp>
        <p:nvSpPr>
          <p:cNvPr id="5" name="">
            <a:extLst xmlns:a="http://schemas.openxmlformats.org/drawingml/2006/main">
              <a:ext uri="{FF2B5EF4-FFF2-40B4-BE49-F238E27FC236}">
                <a16:creationId xmlns:a16="http://schemas.microsoft.com/office/drawing/2014/main" id="{58FF1D7D-4ACD-49B3-8BB0-9A254C19F87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896346927"/>
      </p:ext>
    </p:extLst>
  </p:cSld>
</p:sld>
</file>

<file path=ppt/slides/slide1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8E74A9-8EA8-4C42-B272-5ED2A7B9A7E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BFB8E082-C27C-4BAF-B181-9C688BFC55B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fresh ambiguous engagement</a:t>
            </a:r>
          </a:p>
        </p:txBody>
      </p:sp>
      <p:sp>
        <p:nvSpPr>
          <p:cNvPr id="3" name="">
            <a:extLst xmlns:a="http://schemas.openxmlformats.org/drawingml/2006/main">
              <a:ext uri="{FF2B5EF4-FFF2-40B4-BE49-F238E27FC236}">
                <a16:creationId xmlns:a16="http://schemas.microsoft.com/office/drawing/2014/main" id="{01D2ECCD-A8EE-443C-851B-8787BE872B1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Harbor case</a:t>
            </a:r>
          </a:p>
        </p:txBody>
      </p:sp>
      <p:sp>
        <p:nvSpPr>
          <p:cNvPr id="4" name="">
            <a:extLst xmlns:a="http://schemas.openxmlformats.org/drawingml/2006/main">
              <a:ext uri="{FF2B5EF4-FFF2-40B4-BE49-F238E27FC236}">
                <a16:creationId xmlns:a16="http://schemas.microsoft.com/office/drawing/2014/main" id="{EF910590-E0FB-4CFC-A82A-E6752A3056F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sponsor wants automated closure. The supervisor needs faster review and refuses automatic priority changes. Historical records include duplicates and missing asset IDs. These differences must appear in your Site Map.</a:t>
            </a:r>
          </a:p>
        </p:txBody>
      </p:sp>
      <p:sp>
        <p:nvSpPr>
          <p:cNvPr id="5" name="">
            <a:extLst xmlns:a="http://schemas.openxmlformats.org/drawingml/2006/main">
              <a:ext uri="{FF2B5EF4-FFF2-40B4-BE49-F238E27FC236}">
                <a16:creationId xmlns:a16="http://schemas.microsoft.com/office/drawing/2014/main" id="{49319D80-3613-42CD-8C41-98830DB4686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573508944"/>
      </p:ext>
    </p:extLst>
  </p:cSld>
</p:sld>
</file>

<file path=ppt/slides/slide16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FE6A304-D13B-48F0-94D0-B25B0F964D4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B39EBBD6-7D93-4DD2-BE42-5C8036D038A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fresh ambiguous engagement</a:t>
            </a:r>
          </a:p>
        </p:txBody>
      </p:sp>
      <p:sp>
        <p:nvSpPr>
          <p:cNvPr id="3" name="">
            <a:extLst xmlns:a="http://schemas.openxmlformats.org/drawingml/2006/main">
              <a:ext uri="{FF2B5EF4-FFF2-40B4-BE49-F238E27FC236}">
                <a16:creationId xmlns:a16="http://schemas.microsoft.com/office/drawing/2014/main" id="{4C7D54B9-EBCF-4A3C-B812-4C350FC5645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70F42344-A363-4D6A-9B64-3FA7340DECE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Use the capstone brief and staged evidence pack. Submit a Site Map and Frame Card before opening later results.</a:t>
            </a:r>
          </a:p>
        </p:txBody>
      </p:sp>
      <p:sp>
        <p:nvSpPr>
          <p:cNvPr id="5" name="">
            <a:extLst xmlns:a="http://schemas.openxmlformats.org/drawingml/2006/main">
              <a:ext uri="{FF2B5EF4-FFF2-40B4-BE49-F238E27FC236}">
                <a16:creationId xmlns:a16="http://schemas.microsoft.com/office/drawing/2014/main" id="{3B53A257-3849-4A3E-B895-4ACB38BE402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090822179"/>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1284A9-1AFC-443F-A27F-C23826952FF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1B3568A6-7519-4264-A582-946E79B6A81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fresh ambiguous engagement</a:t>
            </a:r>
          </a:p>
        </p:txBody>
      </p:sp>
      <p:sp>
        <p:nvSpPr>
          <p:cNvPr id="3" name="">
            <a:extLst xmlns:a="http://schemas.openxmlformats.org/drawingml/2006/main">
              <a:ext uri="{FF2B5EF4-FFF2-40B4-BE49-F238E27FC236}">
                <a16:creationId xmlns:a16="http://schemas.microsoft.com/office/drawing/2014/main" id="{E174C416-70F8-4A96-939D-EDF48592C19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D69FB46F-B5AC-4D34-99C8-D2832F1EDAD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 defensible frame targets supervisor review time while preserving authorized priority and closure decisions. Missing identifiers require a clarification path. Duplicate detection supports the reviewer but does not silently delete a request. Any urgent safety text routes to human assessment under existing procedures. Record these as design boundaries before implementation.</a:t>
            </a:r>
          </a:p>
        </p:txBody>
      </p:sp>
      <p:sp>
        <p:nvSpPr>
          <p:cNvPr id="5" name="">
            <a:extLst xmlns:a="http://schemas.openxmlformats.org/drawingml/2006/main">
              <a:ext uri="{FF2B5EF4-FFF2-40B4-BE49-F238E27FC236}">
                <a16:creationId xmlns:a16="http://schemas.microsoft.com/office/drawing/2014/main" id="{A388BB2C-D500-4238-B1AD-C675AE1126D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458976240"/>
      </p:ext>
    </p:extLst>
  </p:cSld>
</p:sld>
</file>

<file path=ppt/slides/slide1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3A9437A-7716-4834-8F81-DF98D3F04EF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8B7B4380-BB6D-4486-99CB-73F75819E65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fresh ambiguous engagement</a:t>
            </a:r>
          </a:p>
        </p:txBody>
      </p:sp>
      <p:sp>
        <p:nvSpPr>
          <p:cNvPr id="3" name="">
            <a:extLst xmlns:a="http://schemas.openxmlformats.org/drawingml/2006/main">
              <a:ext uri="{FF2B5EF4-FFF2-40B4-BE49-F238E27FC236}">
                <a16:creationId xmlns:a16="http://schemas.microsoft.com/office/drawing/2014/main" id="{ED88D118-9110-4D2F-9848-158179FD6B0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F0C9BDCB-5AC1-46D5-8179-3F9C6878005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Who retains maintenance priority authority?</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The ticket text</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The authorized supervisor</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The fastest routing rule</a:t>
            </a:r>
          </a:p>
        </p:txBody>
      </p:sp>
      <p:sp>
        <p:nvSpPr>
          <p:cNvPr id="5" name="">
            <a:extLst xmlns:a="http://schemas.openxmlformats.org/drawingml/2006/main">
              <a:ext uri="{FF2B5EF4-FFF2-40B4-BE49-F238E27FC236}">
                <a16:creationId xmlns:a16="http://schemas.microsoft.com/office/drawing/2014/main" id="{1540A695-F543-4173-A07D-C2E3F602992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157444156"/>
      </p:ext>
    </p:extLst>
  </p:cSld>
</p:sld>
</file>

<file path=ppt/slides/slide1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00FA7D-60EC-4249-AD66-2E94A6AC281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962E5280-F738-4D6E-B80D-4E32C6F5537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Build, predict, and inject a constraint</a:t>
            </a:r>
          </a:p>
        </p:txBody>
      </p:sp>
      <p:sp>
        <p:nvSpPr>
          <p:cNvPr id="3" name="">
            <a:extLst xmlns:a="http://schemas.openxmlformats.org/drawingml/2006/main">
              <a:ext uri="{FF2B5EF4-FFF2-40B4-BE49-F238E27FC236}">
                <a16:creationId xmlns:a16="http://schemas.microsoft.com/office/drawing/2014/main" id="{356093FF-69FA-4C6B-AA1D-249194B42F7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040FE96C-155D-404D-8585-A600B6CC893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Adapt the lab contract to maintenance requests while preserving validation, human review, and auditable decisions. State the key uncertainty and prediction first. Implement only the smallest complete path that addresses it. Then apply the constraint card: an integration is unavailable and external model calls are prohibited. Demonstrate the permitted fallback and explain which evidence remains unavailable. Your implementation may use rules or an approved optional model, but the comparison must justify any added complexity.</a:t>
            </a:r>
          </a:p>
        </p:txBody>
      </p:sp>
      <p:sp>
        <p:nvSpPr>
          <p:cNvPr id="5" name="">
            <a:extLst xmlns:a="http://schemas.openxmlformats.org/drawingml/2006/main">
              <a:ext uri="{FF2B5EF4-FFF2-40B4-BE49-F238E27FC236}">
                <a16:creationId xmlns:a16="http://schemas.microsoft.com/office/drawing/2014/main" id="{F7E2E587-71E5-4E93-9162-7677179E571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870172256"/>
      </p:ext>
    </p:extLst>
  </p:cSld>
</p:sld>
</file>

<file path=ppt/slides/slide1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F373F1-8E4A-466E-8EDD-2368AA35FAF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4E423164-B7FE-423B-8601-F5B867088F8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Build, predict, and inject a constraint</a:t>
            </a:r>
          </a:p>
        </p:txBody>
      </p:sp>
      <p:sp>
        <p:nvSpPr>
          <p:cNvPr id="3" name="">
            <a:extLst xmlns:a="http://schemas.openxmlformats.org/drawingml/2006/main">
              <a:ext uri="{FF2B5EF4-FFF2-40B4-BE49-F238E27FC236}">
                <a16:creationId xmlns:a16="http://schemas.microsoft.com/office/drawing/2014/main" id="{D97FEE29-6E54-4666-B393-E5747CB0482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Harbor case</a:t>
            </a:r>
          </a:p>
        </p:txBody>
      </p:sp>
      <p:sp>
        <p:nvSpPr>
          <p:cNvPr id="4" name="">
            <a:extLst xmlns:a="http://schemas.openxmlformats.org/drawingml/2006/main">
              <a:ext uri="{FF2B5EF4-FFF2-40B4-BE49-F238E27FC236}">
                <a16:creationId xmlns:a16="http://schemas.microsoft.com/office/drawing/2014/main" id="{4C8FE1DA-81F5-4C9D-B64B-06309ABB8A3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integration fails just before the review. A local fixture preserves the input contract. It demonstrates review behavior but cannot establish live integration reliability. Your decision record should say both.</a:t>
            </a:r>
          </a:p>
        </p:txBody>
      </p:sp>
      <p:sp>
        <p:nvSpPr>
          <p:cNvPr id="5" name="">
            <a:extLst xmlns:a="http://schemas.openxmlformats.org/drawingml/2006/main">
              <a:ext uri="{FF2B5EF4-FFF2-40B4-BE49-F238E27FC236}">
                <a16:creationId xmlns:a16="http://schemas.microsoft.com/office/drawing/2014/main" id="{AE2F5E4C-4AE1-46A4-BE65-8DD31E75B98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29152600"/>
      </p:ext>
    </p:extLst>
  </p:cSld>
</p:sld>
</file>

<file path=ppt/slides/slide16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09FC6E-2BAD-49B6-BBC4-49CC35E6E58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6A729BBB-B755-4A2D-A53A-7F5B551E393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Build, predict, and inject a constraint</a:t>
            </a:r>
          </a:p>
        </p:txBody>
      </p:sp>
      <p:sp>
        <p:nvSpPr>
          <p:cNvPr id="3" name="">
            <a:extLst xmlns:a="http://schemas.openxmlformats.org/drawingml/2006/main">
              <a:ext uri="{FF2B5EF4-FFF2-40B4-BE49-F238E27FC236}">
                <a16:creationId xmlns:a16="http://schemas.microsoft.com/office/drawing/2014/main" id="{B97EC4B9-5053-4A90-BE70-884C4D7764D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9FBA728E-B338-4EA3-9D54-B8299C9E47E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Submit working code, test evidence, a timestamped prediction, and a revised decision after the constraint.</a:t>
            </a:r>
          </a:p>
        </p:txBody>
      </p:sp>
      <p:sp>
        <p:nvSpPr>
          <p:cNvPr id="5" name="">
            <a:extLst xmlns:a="http://schemas.openxmlformats.org/drawingml/2006/main">
              <a:ext uri="{FF2B5EF4-FFF2-40B4-BE49-F238E27FC236}">
                <a16:creationId xmlns:a16="http://schemas.microsoft.com/office/drawing/2014/main" id="{5DF3F299-FF14-45BB-BC09-81D843357CF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557754983"/>
      </p:ext>
    </p:extLst>
  </p:cSld>
</p:sld>
</file>

<file path=ppt/slides/slide1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E239C00-8F6A-4A91-A60F-852B8A42AA8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4DF85450-400A-43FE-9773-0B10088634F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Build, predict, and inject a constraint</a:t>
            </a:r>
          </a:p>
        </p:txBody>
      </p:sp>
      <p:sp>
        <p:nvSpPr>
          <p:cNvPr id="3" name="">
            <a:extLst xmlns:a="http://schemas.openxmlformats.org/drawingml/2006/main">
              <a:ext uri="{FF2B5EF4-FFF2-40B4-BE49-F238E27FC236}">
                <a16:creationId xmlns:a16="http://schemas.microsoft.com/office/drawing/2014/main" id="{A19596EA-A04F-4E19-A356-880C9558EDB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5F0313DA-48D3-467E-917F-7CDAFE0BE71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fallback uses synthetic fixtures, validates asset identifiers, flags urgent text for the supervisor, and saves reviewed decisions. Prediction and evidence remain separate. The record names live integration as untested and preserves the original safety boundary. A good submission explains why these controls address the case rather than merely listing features.</a:t>
            </a:r>
          </a:p>
        </p:txBody>
      </p:sp>
      <p:sp>
        <p:nvSpPr>
          <p:cNvPr id="5" name="">
            <a:extLst xmlns:a="http://schemas.openxmlformats.org/drawingml/2006/main">
              <a:ext uri="{FF2B5EF4-FFF2-40B4-BE49-F238E27FC236}">
                <a16:creationId xmlns:a16="http://schemas.microsoft.com/office/drawing/2014/main" id="{FA8DCF13-5455-4272-87D2-3BEEED3ADE3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1908916820"/>
      </p:ext>
    </p:extLst>
  </p:cSld>
</p:sld>
</file>

<file path=ppt/slides/slide1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19C565-A2AC-4F0B-83C7-43EE839A28F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904EA9B2-1CBF-4AFB-B75A-A5DA38A316C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Build, predict, and inject a constraint</a:t>
            </a:r>
          </a:p>
        </p:txBody>
      </p:sp>
      <p:sp>
        <p:nvSpPr>
          <p:cNvPr id="3" name="">
            <a:extLst xmlns:a="http://schemas.openxmlformats.org/drawingml/2006/main">
              <a:ext uri="{FF2B5EF4-FFF2-40B4-BE49-F238E27FC236}">
                <a16:creationId xmlns:a16="http://schemas.microsoft.com/office/drawing/2014/main" id="{EBDE11B8-4F71-4041-95B9-1ACE531AF73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B0B6CDAB-A132-48EA-A006-68CB0E94669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must the fallback report preserve?</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The claim that integration passed</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Only the favorable screenshots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The distinction between tested and untested behavior</a:t>
            </a:r>
          </a:p>
        </p:txBody>
      </p:sp>
      <p:sp>
        <p:nvSpPr>
          <p:cNvPr id="5" name="">
            <a:extLst xmlns:a="http://schemas.openxmlformats.org/drawingml/2006/main">
              <a:ext uri="{FF2B5EF4-FFF2-40B4-BE49-F238E27FC236}">
                <a16:creationId xmlns:a16="http://schemas.microsoft.com/office/drawing/2014/main" id="{E89B1805-E9A3-4874-B153-09ECA96A6D7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843558529"/>
      </p:ext>
    </p:extLst>
  </p:cSld>
</p:sld>
</file>

<file path=ppt/slides/slide1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0E54BE-2F1C-4D80-AD2F-326B31DC446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D252DA3A-37CC-4267-9BF7-D8D1A6F3347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portfolio and scoring rubric</a:t>
            </a:r>
          </a:p>
        </p:txBody>
      </p:sp>
      <p:sp>
        <p:nvSpPr>
          <p:cNvPr id="3" name="">
            <a:extLst xmlns:a="http://schemas.openxmlformats.org/drawingml/2006/main">
              <a:ext uri="{FF2B5EF4-FFF2-40B4-BE49-F238E27FC236}">
                <a16:creationId xmlns:a16="http://schemas.microsoft.com/office/drawing/2014/main" id="{726C41D7-6CD1-4F5D-92F9-8522D7DC595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41498C97-7648-48B5-A8EA-B38A847C620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Submit a coherent portfolio rather than disconnected templates. The Site Map should support the Frame Card, the prediction should match its outcome, the build should test the critical uncertainty, and the delta log should compare against the prediction. Include the landing checklist, ownership plan, second reading, distill pack, and one-page decision memo. Score seven dimensions using observable criteria. A high aggregate score cannot compensate for an unauthorized action or fabricated evidence.</a:t>
            </a:r>
          </a:p>
        </p:txBody>
      </p:sp>
      <p:sp>
        <p:nvSpPr>
          <p:cNvPr id="5" name="">
            <a:extLst xmlns:a="http://schemas.openxmlformats.org/drawingml/2006/main">
              <a:ext uri="{FF2B5EF4-FFF2-40B4-BE49-F238E27FC236}">
                <a16:creationId xmlns:a16="http://schemas.microsoft.com/office/drawing/2014/main" id="{2DDA9A3E-7348-407D-AC42-6773B00FA41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786635109"/>
      </p:ext>
    </p:extLst>
  </p:cSld>
</p:sld>
</file>

<file path=ppt/slides/slide1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02743D-81BF-4D8A-8C10-CBAAEDDF8F3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4BC2BA0C-A495-4E46-B5E6-77A7AD65698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portfolio and scoring rubric</a:t>
            </a:r>
          </a:p>
        </p:txBody>
      </p:sp>
      <p:sp>
        <p:nvSpPr>
          <p:cNvPr id="3" name="">
            <a:extLst xmlns:a="http://schemas.openxmlformats.org/drawingml/2006/main">
              <a:ext uri="{FF2B5EF4-FFF2-40B4-BE49-F238E27FC236}">
                <a16:creationId xmlns:a16="http://schemas.microsoft.com/office/drawing/2014/main" id="{2B16F5BD-9848-45C2-8FC0-4543F9A790E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Harbor case</a:t>
            </a:r>
          </a:p>
        </p:txBody>
      </p:sp>
      <p:sp>
        <p:nvSpPr>
          <p:cNvPr id="4" name="">
            <a:extLst xmlns:a="http://schemas.openxmlformats.org/drawingml/2006/main">
              <a:ext uri="{FF2B5EF4-FFF2-40B4-BE49-F238E27FC236}">
                <a16:creationId xmlns:a16="http://schemas.microsoft.com/office/drawing/2014/main" id="{AC28C36B-9204-47DF-B7CF-CBAA8A17D09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One submission has beautiful slides but no written prediction. Another has a modest prototype and clear evidence connecting every decision. Presentation quality supports readability, while the rubric evaluates delivery reasoning and behavior.</a:t>
            </a:r>
          </a:p>
        </p:txBody>
      </p:sp>
      <p:sp>
        <p:nvSpPr>
          <p:cNvPr id="5" name="">
            <a:extLst xmlns:a="http://schemas.openxmlformats.org/drawingml/2006/main">
              <a:ext uri="{FF2B5EF4-FFF2-40B4-BE49-F238E27FC236}">
                <a16:creationId xmlns:a16="http://schemas.microsoft.com/office/drawing/2014/main" id="{316815DD-18AC-4C6D-879A-559B5AB1691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157147919"/>
      </p:ext>
    </p:extLst>
  </p:cSld>
</p:sld>
</file>

<file path=ppt/slides/slide17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5969D4-2EC0-45B5-8F3B-87A0D3179B2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0022D153-6AD8-4645-919F-6A2643E10BD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portfolio and scoring rubric</a:t>
            </a:r>
          </a:p>
        </p:txBody>
      </p:sp>
      <p:sp>
        <p:nvSpPr>
          <p:cNvPr id="3" name="">
            <a:extLst xmlns:a="http://schemas.openxmlformats.org/drawingml/2006/main">
              <a:ext uri="{FF2B5EF4-FFF2-40B4-BE49-F238E27FC236}">
                <a16:creationId xmlns:a16="http://schemas.microsoft.com/office/drawing/2014/main" id="{E77B5543-527C-4619-B750-E7227471615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EC5E17E6-9F7A-48FD-842E-E2988012F7C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Score your portfolio using the rubric, then check every safety and evidence gate separately.</a:t>
            </a:r>
          </a:p>
        </p:txBody>
      </p:sp>
      <p:sp>
        <p:nvSpPr>
          <p:cNvPr id="5" name="">
            <a:extLst xmlns:a="http://schemas.openxmlformats.org/drawingml/2006/main">
              <a:ext uri="{FF2B5EF4-FFF2-40B4-BE49-F238E27FC236}">
                <a16:creationId xmlns:a16="http://schemas.microsoft.com/office/drawing/2014/main" id="{D4DFAB38-2406-4E5A-921A-D563CB188DE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1034832302"/>
      </p:ext>
    </p:extLst>
  </p:cSld>
</p:sld>
</file>

<file path=ppt/slides/slide1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C4D1B5-5699-47E6-B501-E76B0957BEA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38868FDF-73BA-4F72-870C-AC2F6E12DDF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portfolio and scoring rubric</a:t>
            </a:r>
          </a:p>
        </p:txBody>
      </p:sp>
      <p:sp>
        <p:nvSpPr>
          <p:cNvPr id="3" name="">
            <a:extLst xmlns:a="http://schemas.openxmlformats.org/drawingml/2006/main">
              <a:ext uri="{FF2B5EF4-FFF2-40B4-BE49-F238E27FC236}">
                <a16:creationId xmlns:a16="http://schemas.microsoft.com/office/drawing/2014/main" id="{AAD747D8-CA16-4B16-A9CF-53513E16D8E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9427C698-3173-4CFF-AFB5-7FD3D10D04A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Use zero for absent evidence, one for description, two for partial demonstration, three for a coherent supported result, and four for strong demonstration with limitations and transfer. The proposed pass threshold is seventy percent plus all mandatory gates. This is an educational scoring design, not an accredited competency standard.</a:t>
            </a:r>
          </a:p>
        </p:txBody>
      </p:sp>
      <p:sp>
        <p:nvSpPr>
          <p:cNvPr id="5" name="">
            <a:extLst xmlns:a="http://schemas.openxmlformats.org/drawingml/2006/main">
              <a:ext uri="{FF2B5EF4-FFF2-40B4-BE49-F238E27FC236}">
                <a16:creationId xmlns:a16="http://schemas.microsoft.com/office/drawing/2014/main" id="{E870790C-5813-4513-A976-FAAB002D316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783209903"/>
      </p:ext>
    </p:extLst>
  </p:cSld>
</p:sld>
</file>

<file path=ppt/slides/slide1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9211D1-8D05-45B0-9349-033155A8317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63A514CB-5857-47E0-8E1F-7EDC75E262A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The portfolio and scoring rubric</a:t>
            </a:r>
          </a:p>
        </p:txBody>
      </p:sp>
      <p:sp>
        <p:nvSpPr>
          <p:cNvPr id="3" name="">
            <a:extLst xmlns:a="http://schemas.openxmlformats.org/drawingml/2006/main">
              <a:ext uri="{FF2B5EF4-FFF2-40B4-BE49-F238E27FC236}">
                <a16:creationId xmlns:a16="http://schemas.microsoft.com/office/drawing/2014/main" id="{6AEAB423-D76E-4ABA-B902-26C7B7FDF93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A408E74C-9441-413B-8CF3-CF48099B0DE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Can a high score offset invented evidence?</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No, evidence integrity is a mandatory gate</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Yes, if the prototype works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Yes, if the slides are polished</a:t>
            </a:r>
          </a:p>
        </p:txBody>
      </p:sp>
      <p:sp>
        <p:nvSpPr>
          <p:cNvPr id="5" name="">
            <a:extLst xmlns:a="http://schemas.openxmlformats.org/drawingml/2006/main">
              <a:ext uri="{FF2B5EF4-FFF2-40B4-BE49-F238E27FC236}">
                <a16:creationId xmlns:a16="http://schemas.microsoft.com/office/drawing/2014/main" id="{8E19A758-2048-42F2-8EE3-EE89431B8F0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516210322"/>
      </p:ext>
    </p:extLst>
  </p:cSld>
</p:sld>
</file>

<file path=ppt/slides/slide1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BCFE05-F683-496D-B12E-E800E34E56A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950FFE95-CD19-4660-A955-53F8BE0C8AF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field extension and the next loop</a:t>
            </a:r>
          </a:p>
        </p:txBody>
      </p:sp>
      <p:sp>
        <p:nvSpPr>
          <p:cNvPr id="3" name="">
            <a:extLst xmlns:a="http://schemas.openxmlformats.org/drawingml/2006/main">
              <a:ext uri="{FF2B5EF4-FFF2-40B4-BE49-F238E27FC236}">
                <a16:creationId xmlns:a16="http://schemas.microsoft.com/office/drawing/2014/main" id="{F721075E-D230-4099-B78F-32C968BDB78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The method</a:t>
            </a:r>
          </a:p>
        </p:txBody>
      </p:sp>
      <p:sp>
        <p:nvSpPr>
          <p:cNvPr id="4" name="">
            <a:extLst xmlns:a="http://schemas.openxmlformats.org/drawingml/2006/main">
              <a:ext uri="{FF2B5EF4-FFF2-40B4-BE49-F238E27FC236}">
                <a16:creationId xmlns:a16="http://schemas.microsoft.com/office/drawing/2014/main" id="{1E89D1E0-DF47-4CA5-A0C8-A3AAC8AEA13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The final lesson turns simulated practice into a bounded development plan. Identify a real workflow you may observe, the owner who can agree the frame, and the permissions needed for any experiment. Preserve confidentiality and authoritative operating procedures. Translate the loop into the domain while keeping the evidence discipline. The source’s O&amp;G examples are draft translations, so do not infer WITSML compliance, safety approval, or real operational performance from this course.</a:t>
            </a:r>
          </a:p>
        </p:txBody>
      </p:sp>
      <p:sp>
        <p:nvSpPr>
          <p:cNvPr id="5" name="">
            <a:extLst xmlns:a="http://schemas.openxmlformats.org/drawingml/2006/main">
              <a:ext uri="{FF2B5EF4-FFF2-40B4-BE49-F238E27FC236}">
                <a16:creationId xmlns:a16="http://schemas.microsoft.com/office/drawing/2014/main" id="{DE2E310D-6B98-4D1F-8A0B-1EE568A1202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618440744"/>
      </p:ext>
    </p:extLst>
  </p:cSld>
</p:sld>
</file>

<file path=ppt/slides/slide1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5F0674-2BF6-41E4-82BA-F88CF30FE05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68198CE9-541B-4DDC-B958-E96AC3B93CE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field extension and the next loop</a:t>
            </a:r>
          </a:p>
        </p:txBody>
      </p:sp>
      <p:sp>
        <p:nvSpPr>
          <p:cNvPr id="3" name="">
            <a:extLst xmlns:a="http://schemas.openxmlformats.org/drawingml/2006/main">
              <a:ext uri="{FF2B5EF4-FFF2-40B4-BE49-F238E27FC236}">
                <a16:creationId xmlns:a16="http://schemas.microsoft.com/office/drawing/2014/main" id="{760AAD11-E3BD-49AA-9EF9-8CA443C90FF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Harbor case</a:t>
            </a:r>
          </a:p>
        </p:txBody>
      </p:sp>
      <p:sp>
        <p:nvSpPr>
          <p:cNvPr id="4" name="">
            <a:extLst xmlns:a="http://schemas.openxmlformats.org/drawingml/2006/main">
              <a:ext uri="{FF2B5EF4-FFF2-40B4-BE49-F238E27FC236}">
                <a16:creationId xmlns:a16="http://schemas.microsoft.com/office/drawing/2014/main" id="{0EA527E3-C136-43C3-90A8-4A4F92B012B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In remote operations, a data-quality review may be a suitable first workflow. An agent that changes drilling parameters creates a different authority and consequence boundary. The same loop can guide investigation without granting the same action rights.</a:t>
            </a:r>
          </a:p>
        </p:txBody>
      </p:sp>
      <p:sp>
        <p:nvSpPr>
          <p:cNvPr id="5" name="">
            <a:extLst xmlns:a="http://schemas.openxmlformats.org/drawingml/2006/main">
              <a:ext uri="{FF2B5EF4-FFF2-40B4-BE49-F238E27FC236}">
                <a16:creationId xmlns:a16="http://schemas.microsoft.com/office/drawing/2014/main" id="{6D416552-BCD6-479E-A0F6-3D3528D8D8A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51358566"/>
      </p:ext>
    </p:extLst>
  </p:cSld>
</p:sld>
</file>

<file path=ppt/slides/slide17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9E870C-4170-4EED-AB52-AA19F878EBB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9E083515-755C-4267-BB7B-2FCAAF228076}"/>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field extension and the next loop</a:t>
            </a:r>
          </a:p>
        </p:txBody>
      </p:sp>
      <p:sp>
        <p:nvSpPr>
          <p:cNvPr id="3" name="">
            <a:extLst xmlns:a="http://schemas.openxmlformats.org/drawingml/2006/main">
              <a:ext uri="{FF2B5EF4-FFF2-40B4-BE49-F238E27FC236}">
                <a16:creationId xmlns:a16="http://schemas.microsoft.com/office/drawing/2014/main" id="{08746497-A815-49B5-8B31-4D4AD8F6CBE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Your practice</a:t>
            </a:r>
          </a:p>
        </p:txBody>
      </p:sp>
      <p:sp>
        <p:nvSpPr>
          <p:cNvPr id="4" name="">
            <a:extLst xmlns:a="http://schemas.openxmlformats.org/drawingml/2006/main">
              <a:ext uri="{FF2B5EF4-FFF2-40B4-BE49-F238E27FC236}">
                <a16:creationId xmlns:a16="http://schemas.microsoft.com/office/drawing/2014/main" id="{872A1F5E-0783-4E95-B9FD-AE0AB910706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Write your next-loop proposal with owner, permitted observation, smallest action, metric, and stop condition.</a:t>
            </a:r>
          </a:p>
        </p:txBody>
      </p:sp>
      <p:sp>
        <p:nvSpPr>
          <p:cNvPr id="5" name="">
            <a:extLst xmlns:a="http://schemas.openxmlformats.org/drawingml/2006/main">
              <a:ext uri="{FF2B5EF4-FFF2-40B4-BE49-F238E27FC236}">
                <a16:creationId xmlns:a16="http://schemas.microsoft.com/office/drawing/2014/main" id="{81D960FF-ADCB-468C-A985-7406BE4CF77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Pause here. Submit your response before opening the solution.</a:t>
            </a:r>
          </a:p>
        </p:txBody>
      </p:sp>
    </p:spTree>
    <p:extLst>
      <p:ext uri="{BB962C8B-B14F-4D97-AF65-F5344CB8AC3E}">
        <p14:creationId xmlns:p14="http://schemas.microsoft.com/office/powerpoint/2010/main" val="243456207"/>
      </p:ext>
    </p:extLst>
  </p:cSld>
</p:sld>
</file>

<file path=ppt/slides/slide1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9269E6-6F0F-4CC9-8E64-77A6F0A60A1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29059F85-4F4E-4F08-98B0-BFF119A45AE6}"/>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field extension and the next loop</a:t>
            </a:r>
          </a:p>
        </p:txBody>
      </p:sp>
      <p:sp>
        <p:nvSpPr>
          <p:cNvPr id="3" name="">
            <a:extLst xmlns:a="http://schemas.openxmlformats.org/drawingml/2006/main">
              <a:ext uri="{FF2B5EF4-FFF2-40B4-BE49-F238E27FC236}">
                <a16:creationId xmlns:a16="http://schemas.microsoft.com/office/drawing/2014/main" id="{E55C676A-0D54-4571-9EA3-3D4D117B4EBC}"/>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Worked response</a:t>
            </a:r>
          </a:p>
        </p:txBody>
      </p:sp>
      <p:sp>
        <p:nvSpPr>
          <p:cNvPr id="4" name="">
            <a:extLst xmlns:a="http://schemas.openxmlformats.org/drawingml/2006/main">
              <a:ext uri="{FF2B5EF4-FFF2-40B4-BE49-F238E27FC236}">
                <a16:creationId xmlns:a16="http://schemas.microsoft.com/office/drawing/2014/main" id="{FBB57418-CC3F-4DA7-88D1-002879E38A94}"/>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Propose observing one approved data-review task and testing a reviewable exception summary with synthetic or explicitly permitted data. Retain human judgment and authoritative procedures. Name the operational owner and define success before acting. Treat real deployment evidence as the next learning objective, not something this simulated portfolio already established.</a:t>
            </a:r>
          </a:p>
        </p:txBody>
      </p:sp>
      <p:sp>
        <p:nvSpPr>
          <p:cNvPr id="5" name="">
            <a:extLst xmlns:a="http://schemas.openxmlformats.org/drawingml/2006/main">
              <a:ext uri="{FF2B5EF4-FFF2-40B4-BE49-F238E27FC236}">
                <a16:creationId xmlns:a16="http://schemas.microsoft.com/office/drawing/2014/main" id="{3F27A5E2-FB7A-48FF-BE2B-587BA2363ED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One defensible response. Alternatives need supporting evidence.</a:t>
            </a:r>
          </a:p>
        </p:txBody>
      </p:sp>
    </p:spTree>
    <p:extLst>
      <p:ext uri="{BB962C8B-B14F-4D97-AF65-F5344CB8AC3E}">
        <p14:creationId xmlns:p14="http://schemas.microsoft.com/office/powerpoint/2010/main" val="2090176501"/>
      </p:ext>
    </p:extLst>
  </p:cSld>
</p:sld>
</file>

<file path=ppt/slides/slide1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E0EC1B-9327-4456-8F69-85D1AA96C71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Capstone engagement</a:t>
            </a:r>
          </a:p>
        </p:txBody>
      </p:sp>
      <p:sp>
        <p:nvSpPr>
          <p:cNvPr id="2" name="">
            <a:extLst xmlns:a="http://schemas.openxmlformats.org/drawingml/2006/main">
              <a:ext uri="{FF2B5EF4-FFF2-40B4-BE49-F238E27FC236}">
                <a16:creationId xmlns:a16="http://schemas.microsoft.com/office/drawing/2014/main" id="{6685D3C2-A933-42E2-BFFC-45EB5CB2118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 field extension and the next loop</a:t>
            </a:r>
          </a:p>
        </p:txBody>
      </p:sp>
      <p:sp>
        <p:nvSpPr>
          <p:cNvPr id="3" name="">
            <a:extLst xmlns:a="http://schemas.openxmlformats.org/drawingml/2006/main">
              <a:ext uri="{FF2B5EF4-FFF2-40B4-BE49-F238E27FC236}">
                <a16:creationId xmlns:a16="http://schemas.microsoft.com/office/drawing/2014/main" id="{A3AEE5FD-DF00-410F-99A0-982D8E07BC8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Knowledge check</a:t>
            </a:r>
          </a:p>
        </p:txBody>
      </p:sp>
      <p:sp>
        <p:nvSpPr>
          <p:cNvPr id="4" name="">
            <a:extLst xmlns:a="http://schemas.openxmlformats.org/drawingml/2006/main">
              <a:ext uri="{FF2B5EF4-FFF2-40B4-BE49-F238E27FC236}">
                <a16:creationId xmlns:a16="http://schemas.microsoft.com/office/drawing/2014/main" id="{D85E6D1D-5B5D-428A-B3D3-ACB68813922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What does domain translation change?</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It grants automatic operating permission</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Vocabulary and context, while permissions still need verification</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It proves standards compliance</a:t>
            </a:r>
          </a:p>
        </p:txBody>
      </p:sp>
      <p:sp>
        <p:nvSpPr>
          <p:cNvPr id="5" name="">
            <a:extLst xmlns:a="http://schemas.openxmlformats.org/drawingml/2006/main">
              <a:ext uri="{FF2B5EF4-FFF2-40B4-BE49-F238E27FC236}">
                <a16:creationId xmlns:a16="http://schemas.microsoft.com/office/drawing/2014/main" id="{42F1B232-FF2F-44A7-9188-A75EEB1D570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Educational simulation. All case numbers are fictional.</a:t>
            </a:r>
          </a:p>
        </p:txBody>
      </p:sp>
    </p:spTree>
    <p:extLst>
      <p:ext uri="{BB962C8B-B14F-4D97-AF65-F5344CB8AC3E}">
        <p14:creationId xmlns:p14="http://schemas.microsoft.com/office/powerpoint/2010/main" val="16631475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2026-10-04T15:24:12.9670000Z</dcterms:created>
  <dcterms:modified xsi:type="dcterms:W3CDTF">2026-10-04T15:24:12.9670000Z</dcterms:modified>
</coreProperties>
</file>